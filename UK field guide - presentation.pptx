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95" r:id="rId4"/>
    <p:sldMasterId id="2147483696" r:id="rId5"/>
    <p:sldMasterId id="2147483697" r:id="rId6"/>
    <p:sldMasterId id="214748369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11" Type="http://schemas.openxmlformats.org/officeDocument/2006/relationships/slide" Target="slides/slide3.xml"/><Relationship Id="rId22" Type="http://schemas.openxmlformats.org/officeDocument/2006/relationships/slide" Target="slides/slide14.xml"/><Relationship Id="rId10" Type="http://schemas.openxmlformats.org/officeDocument/2006/relationships/slide" Target="slides/slide2.xml"/><Relationship Id="rId21" Type="http://schemas.openxmlformats.org/officeDocument/2006/relationships/slide" Target="slides/slide13.xml"/><Relationship Id="rId13" Type="http://schemas.openxmlformats.org/officeDocument/2006/relationships/slide" Target="slides/slide5.xml"/><Relationship Id="rId12" Type="http://schemas.openxmlformats.org/officeDocument/2006/relationships/slide" Target="slides/slide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5" Type="http://schemas.openxmlformats.org/officeDocument/2006/relationships/slideMaster" Target="slideMasters/slideMaster2.xml"/><Relationship Id="rId19" Type="http://schemas.openxmlformats.org/officeDocument/2006/relationships/slide" Target="slides/slide11.xml"/><Relationship Id="rId6" Type="http://schemas.openxmlformats.org/officeDocument/2006/relationships/slideMaster" Target="slideMasters/slideMaster3.xml"/><Relationship Id="rId18" Type="http://schemas.openxmlformats.org/officeDocument/2006/relationships/slide" Target="slides/slide10.xml"/><Relationship Id="rId7" Type="http://schemas.openxmlformats.org/officeDocument/2006/relationships/slideMaster" Target="slideMasters/slideMaster4.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8a403c795_4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f8a403c795_4_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g3f8a403c795_4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f8a403c795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3f8a403c795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f8a403c795_3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g3f8a403c795_3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8ad10530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g3f8ad10530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8a403c795_3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g3f8a403c795_3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f8ad10530e_0_2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9" name="Google Shape;429;g3f8ad10530e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f8a403c795_3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g3f8a403c795_3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f8a403c79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g3f8a403c795_0_45: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a279875f0_1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g3fa279875f0_11_5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f8a403c795_3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g3f8a403c795_3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f8a403c795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g3f8a403c795_0_111: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f8ad10530e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g3f8ad10530e_0_167: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f8ad10530e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g3f8ad10530e_0_173: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f8ad10530e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g3f8ad10530e_0_179: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5" name="Shape 125"/>
        <p:cNvGrpSpPr/>
        <p:nvPr/>
      </p:nvGrpSpPr>
      <p:grpSpPr>
        <a:xfrm>
          <a:off x="0" y="0"/>
          <a:ext cx="0" cy="0"/>
          <a:chOff x="0" y="0"/>
          <a:chExt cx="0" cy="0"/>
        </a:xfrm>
      </p:grpSpPr>
      <p:sp>
        <p:nvSpPr>
          <p:cNvPr id="126" name="Google Shape;126;p25"/>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3" name="Shape 133"/>
        <p:cNvGrpSpPr/>
        <p:nvPr/>
      </p:nvGrpSpPr>
      <p:grpSpPr>
        <a:xfrm>
          <a:off x="0" y="0"/>
          <a:ext cx="0" cy="0"/>
          <a:chOff x="0" y="0"/>
          <a:chExt cx="0" cy="0"/>
        </a:xfrm>
      </p:grpSpPr>
      <p:sp>
        <p:nvSpPr>
          <p:cNvPr id="134" name="Google Shape;134;p27"/>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5" name="Shape 135"/>
        <p:cNvGrpSpPr/>
        <p:nvPr/>
      </p:nvGrpSpPr>
      <p:grpSpPr>
        <a:xfrm>
          <a:off x="0" y="0"/>
          <a:ext cx="0" cy="0"/>
          <a:chOff x="0" y="0"/>
          <a:chExt cx="0" cy="0"/>
        </a:xfrm>
      </p:grpSpPr>
      <p:sp>
        <p:nvSpPr>
          <p:cNvPr id="136" name="Google Shape;136;p28"/>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7" name="Google Shape;137;p28"/>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8" name="Google Shape;138;p28"/>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9" name="Shape 139"/>
        <p:cNvGrpSpPr/>
        <p:nvPr/>
      </p:nvGrpSpPr>
      <p:grpSpPr>
        <a:xfrm>
          <a:off x="0" y="0"/>
          <a:ext cx="0" cy="0"/>
          <a:chOff x="0" y="0"/>
          <a:chExt cx="0" cy="0"/>
        </a:xfrm>
      </p:grpSpPr>
      <p:sp>
        <p:nvSpPr>
          <p:cNvPr id="140" name="Google Shape;140;p29"/>
          <p:cNvSpPr txBox="1"/>
          <p:nvPr>
            <p:ph type="ctrTitle"/>
          </p:nvPr>
        </p:nvSpPr>
        <p:spPr>
          <a:xfrm>
            <a:off x="514364" y="1597819"/>
            <a:ext cx="5829600" cy="11025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1" name="Google Shape;141;p29"/>
          <p:cNvSpPr txBox="1"/>
          <p:nvPr>
            <p:ph idx="1" type="subTitle"/>
          </p:nvPr>
        </p:nvSpPr>
        <p:spPr>
          <a:xfrm>
            <a:off x="1028727" y="2914650"/>
            <a:ext cx="4800600" cy="1314600"/>
          </a:xfrm>
          <a:prstGeom prst="rect">
            <a:avLst/>
          </a:prstGeom>
          <a:noFill/>
          <a:ln>
            <a:noFill/>
          </a:ln>
        </p:spPr>
        <p:txBody>
          <a:bodyPr anchorCtr="0" anchor="t" bIns="34275" lIns="68575" spcFirstLastPara="1" rIns="68575" wrap="square" tIns="34275">
            <a:normAutofit/>
          </a:bodyPr>
          <a:lstStyle>
            <a:lvl1pPr lvl="0" algn="ctr">
              <a:lnSpc>
                <a:spcPct val="100000"/>
              </a:lnSpc>
              <a:spcBef>
                <a:spcPts val="50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142" name="Google Shape;142;p29"/>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3" name="Google Shape;143;p29"/>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4" name="Google Shape;144;p29"/>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5" name="Shape 145"/>
        <p:cNvGrpSpPr/>
        <p:nvPr/>
      </p:nvGrpSpPr>
      <p:grpSpPr>
        <a:xfrm>
          <a:off x="0" y="0"/>
          <a:ext cx="0" cy="0"/>
          <a:chOff x="0" y="0"/>
          <a:chExt cx="0" cy="0"/>
        </a:xfrm>
      </p:grpSpPr>
      <p:sp>
        <p:nvSpPr>
          <p:cNvPr id="146" name="Google Shape;146;p30"/>
          <p:cNvSpPr txBox="1"/>
          <p:nvPr>
            <p:ph type="title"/>
          </p:nvPr>
        </p:nvSpPr>
        <p:spPr>
          <a:xfrm>
            <a:off x="342909" y="205978"/>
            <a:ext cx="61725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7" name="Google Shape;147;p30"/>
          <p:cNvSpPr txBox="1"/>
          <p:nvPr>
            <p:ph idx="1" type="body"/>
          </p:nvPr>
        </p:nvSpPr>
        <p:spPr>
          <a:xfrm>
            <a:off x="342909" y="1200150"/>
            <a:ext cx="6172500" cy="33945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48" name="Google Shape;148;p30"/>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9" name="Google Shape;149;p30"/>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0" name="Google Shape;150;p30"/>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1" name="Shape 151"/>
        <p:cNvGrpSpPr/>
        <p:nvPr/>
      </p:nvGrpSpPr>
      <p:grpSpPr>
        <a:xfrm>
          <a:off x="0" y="0"/>
          <a:ext cx="0" cy="0"/>
          <a:chOff x="0" y="0"/>
          <a:chExt cx="0" cy="0"/>
        </a:xfrm>
      </p:grpSpPr>
      <p:sp>
        <p:nvSpPr>
          <p:cNvPr id="152" name="Google Shape;152;p31"/>
          <p:cNvSpPr txBox="1"/>
          <p:nvPr>
            <p:ph type="title"/>
          </p:nvPr>
        </p:nvSpPr>
        <p:spPr>
          <a:xfrm>
            <a:off x="541749" y="3305175"/>
            <a:ext cx="5829600" cy="10215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3" name="Google Shape;153;p31"/>
          <p:cNvSpPr txBox="1"/>
          <p:nvPr>
            <p:ph idx="1" type="body"/>
          </p:nvPr>
        </p:nvSpPr>
        <p:spPr>
          <a:xfrm>
            <a:off x="541749" y="2180035"/>
            <a:ext cx="5829600" cy="112500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300"/>
              </a:spcBef>
              <a:spcAft>
                <a:spcPts val="0"/>
              </a:spcAft>
              <a:buClr>
                <a:srgbClr val="888888"/>
              </a:buClr>
              <a:buSzPts val="1400"/>
              <a:buNone/>
              <a:defRPr sz="1400">
                <a:solidFill>
                  <a:srgbClr val="888888"/>
                </a:solidFill>
              </a:defRPr>
            </a:lvl2pPr>
            <a:lvl3pPr indent="-228600" lvl="2" marL="1371600" algn="l">
              <a:lnSpc>
                <a:spcPct val="100000"/>
              </a:lnSpc>
              <a:spcBef>
                <a:spcPts val="200"/>
              </a:spcBef>
              <a:spcAft>
                <a:spcPts val="0"/>
              </a:spcAft>
              <a:buClr>
                <a:srgbClr val="888888"/>
              </a:buClr>
              <a:buSzPts val="1200"/>
              <a:buNone/>
              <a:defRPr sz="1200">
                <a:solidFill>
                  <a:srgbClr val="888888"/>
                </a:solidFill>
              </a:defRPr>
            </a:lvl3pPr>
            <a:lvl4pPr indent="-228600" lvl="3" marL="1828800" algn="l">
              <a:lnSpc>
                <a:spcPct val="100000"/>
              </a:lnSpc>
              <a:spcBef>
                <a:spcPts val="200"/>
              </a:spcBef>
              <a:spcAft>
                <a:spcPts val="0"/>
              </a:spcAft>
              <a:buClr>
                <a:srgbClr val="888888"/>
              </a:buClr>
              <a:buSzPts val="1100"/>
              <a:buNone/>
              <a:defRPr sz="1100">
                <a:solidFill>
                  <a:srgbClr val="888888"/>
                </a:solidFill>
              </a:defRPr>
            </a:lvl4pPr>
            <a:lvl5pPr indent="-228600" lvl="4" marL="2286000" algn="l">
              <a:lnSpc>
                <a:spcPct val="100000"/>
              </a:lnSpc>
              <a:spcBef>
                <a:spcPts val="200"/>
              </a:spcBef>
              <a:spcAft>
                <a:spcPts val="0"/>
              </a:spcAft>
              <a:buClr>
                <a:srgbClr val="888888"/>
              </a:buClr>
              <a:buSzPts val="1100"/>
              <a:buNone/>
              <a:defRPr sz="1100">
                <a:solidFill>
                  <a:srgbClr val="888888"/>
                </a:solidFill>
              </a:defRPr>
            </a:lvl5pPr>
            <a:lvl6pPr indent="-228600" lvl="5" marL="2743200" algn="l">
              <a:lnSpc>
                <a:spcPct val="100000"/>
              </a:lnSpc>
              <a:spcBef>
                <a:spcPts val="200"/>
              </a:spcBef>
              <a:spcAft>
                <a:spcPts val="0"/>
              </a:spcAft>
              <a:buClr>
                <a:srgbClr val="888888"/>
              </a:buClr>
              <a:buSzPts val="1100"/>
              <a:buNone/>
              <a:defRPr sz="1100">
                <a:solidFill>
                  <a:srgbClr val="888888"/>
                </a:solidFill>
              </a:defRPr>
            </a:lvl6pPr>
            <a:lvl7pPr indent="-228600" lvl="6" marL="3200400" algn="l">
              <a:lnSpc>
                <a:spcPct val="100000"/>
              </a:lnSpc>
              <a:spcBef>
                <a:spcPts val="200"/>
              </a:spcBef>
              <a:spcAft>
                <a:spcPts val="0"/>
              </a:spcAft>
              <a:buClr>
                <a:srgbClr val="888888"/>
              </a:buClr>
              <a:buSzPts val="1100"/>
              <a:buNone/>
              <a:defRPr sz="1100">
                <a:solidFill>
                  <a:srgbClr val="888888"/>
                </a:solidFill>
              </a:defRPr>
            </a:lvl7pPr>
            <a:lvl8pPr indent="-228600" lvl="7" marL="3657600" algn="l">
              <a:lnSpc>
                <a:spcPct val="100000"/>
              </a:lnSpc>
              <a:spcBef>
                <a:spcPts val="200"/>
              </a:spcBef>
              <a:spcAft>
                <a:spcPts val="0"/>
              </a:spcAft>
              <a:buClr>
                <a:srgbClr val="888888"/>
              </a:buClr>
              <a:buSzPts val="1100"/>
              <a:buNone/>
              <a:defRPr sz="1100">
                <a:solidFill>
                  <a:srgbClr val="888888"/>
                </a:solidFill>
              </a:defRPr>
            </a:lvl8pPr>
            <a:lvl9pPr indent="-228600" lvl="8" marL="4114800" algn="l">
              <a:lnSpc>
                <a:spcPct val="100000"/>
              </a:lnSpc>
              <a:spcBef>
                <a:spcPts val="200"/>
              </a:spcBef>
              <a:spcAft>
                <a:spcPts val="0"/>
              </a:spcAft>
              <a:buClr>
                <a:srgbClr val="888888"/>
              </a:buClr>
              <a:buSzPts val="1100"/>
              <a:buNone/>
              <a:defRPr sz="1100">
                <a:solidFill>
                  <a:srgbClr val="888888"/>
                </a:solidFill>
              </a:defRPr>
            </a:lvl9pPr>
          </a:lstStyle>
          <a:p/>
        </p:txBody>
      </p:sp>
      <p:sp>
        <p:nvSpPr>
          <p:cNvPr id="154" name="Google Shape;154;p31"/>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5" name="Google Shape;155;p31"/>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6" name="Google Shape;156;p31"/>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7" name="Shape 157"/>
        <p:cNvGrpSpPr/>
        <p:nvPr/>
      </p:nvGrpSpPr>
      <p:grpSpPr>
        <a:xfrm>
          <a:off x="0" y="0"/>
          <a:ext cx="0" cy="0"/>
          <a:chOff x="0" y="0"/>
          <a:chExt cx="0" cy="0"/>
        </a:xfrm>
      </p:grpSpPr>
      <p:sp>
        <p:nvSpPr>
          <p:cNvPr id="158" name="Google Shape;158;p32"/>
          <p:cNvSpPr txBox="1"/>
          <p:nvPr>
            <p:ph type="title"/>
          </p:nvPr>
        </p:nvSpPr>
        <p:spPr>
          <a:xfrm>
            <a:off x="342909" y="205978"/>
            <a:ext cx="61725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9" name="Google Shape;159;p32"/>
          <p:cNvSpPr txBox="1"/>
          <p:nvPr>
            <p:ph idx="1" type="body"/>
          </p:nvPr>
        </p:nvSpPr>
        <p:spPr>
          <a:xfrm>
            <a:off x="342909" y="1200150"/>
            <a:ext cx="3029100" cy="3394500"/>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160" name="Google Shape;160;p32"/>
          <p:cNvSpPr txBox="1"/>
          <p:nvPr>
            <p:ph idx="2" type="body"/>
          </p:nvPr>
        </p:nvSpPr>
        <p:spPr>
          <a:xfrm>
            <a:off x="3486243" y="1200150"/>
            <a:ext cx="3029100" cy="3394500"/>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161" name="Google Shape;161;p32"/>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2" name="Google Shape;162;p32"/>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3" name="Google Shape;163;p32"/>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4" name="Shape 164"/>
        <p:cNvGrpSpPr/>
        <p:nvPr/>
      </p:nvGrpSpPr>
      <p:grpSpPr>
        <a:xfrm>
          <a:off x="0" y="0"/>
          <a:ext cx="0" cy="0"/>
          <a:chOff x="0" y="0"/>
          <a:chExt cx="0" cy="0"/>
        </a:xfrm>
      </p:grpSpPr>
      <p:sp>
        <p:nvSpPr>
          <p:cNvPr id="165" name="Google Shape;165;p33"/>
          <p:cNvSpPr txBox="1"/>
          <p:nvPr>
            <p:ph type="title"/>
          </p:nvPr>
        </p:nvSpPr>
        <p:spPr>
          <a:xfrm>
            <a:off x="342909" y="205978"/>
            <a:ext cx="61725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6" name="Google Shape;166;p33"/>
          <p:cNvSpPr txBox="1"/>
          <p:nvPr>
            <p:ph idx="1" type="body"/>
          </p:nvPr>
        </p:nvSpPr>
        <p:spPr>
          <a:xfrm>
            <a:off x="342909" y="1151335"/>
            <a:ext cx="3030300" cy="47970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167" name="Google Shape;167;p33"/>
          <p:cNvSpPr txBox="1"/>
          <p:nvPr>
            <p:ph idx="2" type="body"/>
          </p:nvPr>
        </p:nvSpPr>
        <p:spPr>
          <a:xfrm>
            <a:off x="342909" y="1631156"/>
            <a:ext cx="3030300" cy="2963400"/>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168" name="Google Shape;168;p33"/>
          <p:cNvSpPr txBox="1"/>
          <p:nvPr>
            <p:ph idx="3" type="body"/>
          </p:nvPr>
        </p:nvSpPr>
        <p:spPr>
          <a:xfrm>
            <a:off x="3483862" y="1151335"/>
            <a:ext cx="3031500" cy="47970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169" name="Google Shape;169;p33"/>
          <p:cNvSpPr txBox="1"/>
          <p:nvPr>
            <p:ph idx="4" type="body"/>
          </p:nvPr>
        </p:nvSpPr>
        <p:spPr>
          <a:xfrm>
            <a:off x="3483862" y="1631156"/>
            <a:ext cx="3031500" cy="2963400"/>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170" name="Google Shape;170;p33"/>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1" name="Google Shape;171;p33"/>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2" name="Google Shape;172;p33"/>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3" name="Shape 173"/>
        <p:cNvGrpSpPr/>
        <p:nvPr/>
      </p:nvGrpSpPr>
      <p:grpSpPr>
        <a:xfrm>
          <a:off x="0" y="0"/>
          <a:ext cx="0" cy="0"/>
          <a:chOff x="0" y="0"/>
          <a:chExt cx="0" cy="0"/>
        </a:xfrm>
      </p:grpSpPr>
      <p:sp>
        <p:nvSpPr>
          <p:cNvPr id="174" name="Google Shape;174;p34"/>
          <p:cNvSpPr txBox="1"/>
          <p:nvPr>
            <p:ph type="title"/>
          </p:nvPr>
        </p:nvSpPr>
        <p:spPr>
          <a:xfrm>
            <a:off x="342909" y="205978"/>
            <a:ext cx="61725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5" name="Google Shape;175;p34"/>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6" name="Google Shape;176;p34"/>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7" name="Google Shape;177;p34"/>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8" name="Shape 178"/>
        <p:cNvGrpSpPr/>
        <p:nvPr/>
      </p:nvGrpSpPr>
      <p:grpSpPr>
        <a:xfrm>
          <a:off x="0" y="0"/>
          <a:ext cx="0" cy="0"/>
          <a:chOff x="0" y="0"/>
          <a:chExt cx="0" cy="0"/>
        </a:xfrm>
      </p:grpSpPr>
      <p:sp>
        <p:nvSpPr>
          <p:cNvPr id="179" name="Google Shape;179;p35"/>
          <p:cNvSpPr txBox="1"/>
          <p:nvPr>
            <p:ph type="title"/>
          </p:nvPr>
        </p:nvSpPr>
        <p:spPr>
          <a:xfrm>
            <a:off x="342909" y="204788"/>
            <a:ext cx="2256300" cy="8715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0" name="Google Shape;180;p35"/>
          <p:cNvSpPr txBox="1"/>
          <p:nvPr>
            <p:ph idx="1" type="body"/>
          </p:nvPr>
        </p:nvSpPr>
        <p:spPr>
          <a:xfrm>
            <a:off x="2681359" y="204788"/>
            <a:ext cx="3834000" cy="4389900"/>
          </a:xfrm>
          <a:prstGeom prst="rect">
            <a:avLst/>
          </a:prstGeom>
          <a:noFill/>
          <a:ln>
            <a:noFill/>
          </a:ln>
        </p:spPr>
        <p:txBody>
          <a:bodyPr anchorCtr="0" anchor="t" bIns="34275" lIns="68575" spcFirstLastPara="1" rIns="68575" wrap="square" tIns="34275">
            <a:normAutofit/>
          </a:bodyPr>
          <a:lstStyle>
            <a:lvl1pPr indent="-381000" lvl="0" marL="457200" algn="l">
              <a:lnSpc>
                <a:spcPct val="100000"/>
              </a:lnSpc>
              <a:spcBef>
                <a:spcPts val="500"/>
              </a:spcBef>
              <a:spcAft>
                <a:spcPts val="0"/>
              </a:spcAft>
              <a:buClr>
                <a:schemeClr val="dk1"/>
              </a:buClr>
              <a:buSzPts val="2400"/>
              <a:buChar char="•"/>
              <a:defRPr sz="2400"/>
            </a:lvl1pPr>
            <a:lvl2pPr indent="-361950" lvl="1" marL="914400" algn="l">
              <a:lnSpc>
                <a:spcPct val="100000"/>
              </a:lnSpc>
              <a:spcBef>
                <a:spcPts val="400"/>
              </a:spcBef>
              <a:spcAft>
                <a:spcPts val="0"/>
              </a:spcAft>
              <a:buClr>
                <a:schemeClr val="dk1"/>
              </a:buClr>
              <a:buSzPts val="2100"/>
              <a:buChar char="–"/>
              <a:defRPr sz="2100"/>
            </a:lvl2pPr>
            <a:lvl3pPr indent="-342900" lvl="2" marL="1371600" algn="l">
              <a:lnSpc>
                <a:spcPct val="100000"/>
              </a:lnSpc>
              <a:spcBef>
                <a:spcPts val="40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181" name="Google Shape;181;p35"/>
          <p:cNvSpPr txBox="1"/>
          <p:nvPr>
            <p:ph idx="2" type="body"/>
          </p:nvPr>
        </p:nvSpPr>
        <p:spPr>
          <a:xfrm>
            <a:off x="342909" y="1076325"/>
            <a:ext cx="2256300" cy="35184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182" name="Google Shape;182;p35"/>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3" name="Google Shape;183;p35"/>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4" name="Google Shape;184;p35"/>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5" name="Shape 185"/>
        <p:cNvGrpSpPr/>
        <p:nvPr/>
      </p:nvGrpSpPr>
      <p:grpSpPr>
        <a:xfrm>
          <a:off x="0" y="0"/>
          <a:ext cx="0" cy="0"/>
          <a:chOff x="0" y="0"/>
          <a:chExt cx="0" cy="0"/>
        </a:xfrm>
      </p:grpSpPr>
      <p:sp>
        <p:nvSpPr>
          <p:cNvPr id="186" name="Google Shape;186;p36"/>
          <p:cNvSpPr txBox="1"/>
          <p:nvPr>
            <p:ph type="title"/>
          </p:nvPr>
        </p:nvSpPr>
        <p:spPr>
          <a:xfrm>
            <a:off x="1344252" y="3600450"/>
            <a:ext cx="4114800" cy="4251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7" name="Google Shape;187;p36"/>
          <p:cNvSpPr/>
          <p:nvPr>
            <p:ph idx="2" type="pic"/>
          </p:nvPr>
        </p:nvSpPr>
        <p:spPr>
          <a:xfrm>
            <a:off x="1344252" y="459581"/>
            <a:ext cx="4114800" cy="3086100"/>
          </a:xfrm>
          <a:prstGeom prst="rect">
            <a:avLst/>
          </a:prstGeom>
          <a:noFill/>
          <a:ln>
            <a:noFill/>
          </a:ln>
        </p:spPr>
      </p:sp>
      <p:sp>
        <p:nvSpPr>
          <p:cNvPr id="188" name="Google Shape;188;p36"/>
          <p:cNvSpPr txBox="1"/>
          <p:nvPr>
            <p:ph idx="1" type="body"/>
          </p:nvPr>
        </p:nvSpPr>
        <p:spPr>
          <a:xfrm>
            <a:off x="1344252" y="4025503"/>
            <a:ext cx="4114800" cy="6036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189" name="Google Shape;189;p36"/>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0" name="Google Shape;190;p36"/>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1" name="Google Shape;191;p36"/>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2" name="Shape 192"/>
        <p:cNvGrpSpPr/>
        <p:nvPr/>
      </p:nvGrpSpPr>
      <p:grpSpPr>
        <a:xfrm>
          <a:off x="0" y="0"/>
          <a:ext cx="0" cy="0"/>
          <a:chOff x="0" y="0"/>
          <a:chExt cx="0" cy="0"/>
        </a:xfrm>
      </p:grpSpPr>
      <p:sp>
        <p:nvSpPr>
          <p:cNvPr id="193" name="Google Shape;193;p37"/>
          <p:cNvSpPr txBox="1"/>
          <p:nvPr>
            <p:ph type="title"/>
          </p:nvPr>
        </p:nvSpPr>
        <p:spPr>
          <a:xfrm>
            <a:off x="342909" y="205978"/>
            <a:ext cx="61725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4" name="Google Shape;194;p37"/>
          <p:cNvSpPr txBox="1"/>
          <p:nvPr>
            <p:ph idx="1" type="body"/>
          </p:nvPr>
        </p:nvSpPr>
        <p:spPr>
          <a:xfrm rot="5400000">
            <a:off x="1731774" y="-188850"/>
            <a:ext cx="3394500" cy="61725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95" name="Google Shape;195;p37"/>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6" name="Google Shape;196;p37"/>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7" name="Google Shape;197;p37"/>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8" name="Shape 198"/>
        <p:cNvGrpSpPr/>
        <p:nvPr/>
      </p:nvGrpSpPr>
      <p:grpSpPr>
        <a:xfrm>
          <a:off x="0" y="0"/>
          <a:ext cx="0" cy="0"/>
          <a:chOff x="0" y="0"/>
          <a:chExt cx="0" cy="0"/>
        </a:xfrm>
      </p:grpSpPr>
      <p:sp>
        <p:nvSpPr>
          <p:cNvPr id="199" name="Google Shape;199;p38"/>
          <p:cNvSpPr txBox="1"/>
          <p:nvPr>
            <p:ph type="title"/>
          </p:nvPr>
        </p:nvSpPr>
        <p:spPr>
          <a:xfrm rot="5400000">
            <a:off x="3549324" y="1628729"/>
            <a:ext cx="4388700" cy="15432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0" name="Google Shape;200;p38"/>
          <p:cNvSpPr txBox="1"/>
          <p:nvPr>
            <p:ph idx="1" type="body"/>
          </p:nvPr>
        </p:nvSpPr>
        <p:spPr>
          <a:xfrm rot="5400000">
            <a:off x="406029" y="142828"/>
            <a:ext cx="4388700" cy="45150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201" name="Google Shape;201;p38"/>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2" name="Google Shape;202;p38"/>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3" name="Google Shape;203;p38"/>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10" name="Shape 210"/>
        <p:cNvGrpSpPr/>
        <p:nvPr/>
      </p:nvGrpSpPr>
      <p:grpSpPr>
        <a:xfrm>
          <a:off x="0" y="0"/>
          <a:ext cx="0" cy="0"/>
          <a:chOff x="0" y="0"/>
          <a:chExt cx="0" cy="0"/>
        </a:xfrm>
      </p:grpSpPr>
      <p:sp>
        <p:nvSpPr>
          <p:cNvPr id="211" name="Google Shape;211;p40"/>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2" name="Shape 212"/>
        <p:cNvGrpSpPr/>
        <p:nvPr/>
      </p:nvGrpSpPr>
      <p:grpSpPr>
        <a:xfrm>
          <a:off x="0" y="0"/>
          <a:ext cx="0" cy="0"/>
          <a:chOff x="0" y="0"/>
          <a:chExt cx="0" cy="0"/>
        </a:xfrm>
      </p:grpSpPr>
      <p:sp>
        <p:nvSpPr>
          <p:cNvPr id="213" name="Google Shape;213;p4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4" name="Google Shape;214;p4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5" name="Google Shape;215;p4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6" name="Shape 216"/>
        <p:cNvGrpSpPr/>
        <p:nvPr/>
      </p:nvGrpSpPr>
      <p:grpSpPr>
        <a:xfrm>
          <a:off x="0" y="0"/>
          <a:ext cx="0" cy="0"/>
          <a:chOff x="0" y="0"/>
          <a:chExt cx="0" cy="0"/>
        </a:xfrm>
      </p:grpSpPr>
      <p:sp>
        <p:nvSpPr>
          <p:cNvPr id="217" name="Google Shape;217;p42"/>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8" name="Google Shape;218;p42"/>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lnSpc>
                <a:spcPct val="100000"/>
              </a:lnSpc>
              <a:spcBef>
                <a:spcPts val="50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219" name="Google Shape;219;p4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0" name="Google Shape;220;p4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1" name="Google Shape;221;p4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2" name="Shape 222"/>
        <p:cNvGrpSpPr/>
        <p:nvPr/>
      </p:nvGrpSpPr>
      <p:grpSpPr>
        <a:xfrm>
          <a:off x="0" y="0"/>
          <a:ext cx="0" cy="0"/>
          <a:chOff x="0" y="0"/>
          <a:chExt cx="0" cy="0"/>
        </a:xfrm>
      </p:grpSpPr>
      <p:sp>
        <p:nvSpPr>
          <p:cNvPr id="223" name="Google Shape;223;p4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4" name="Google Shape;224;p4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225" name="Google Shape;225;p4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6" name="Google Shape;226;p4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7" name="Google Shape;227;p4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8" name="Shape 228"/>
        <p:cNvGrpSpPr/>
        <p:nvPr/>
      </p:nvGrpSpPr>
      <p:grpSpPr>
        <a:xfrm>
          <a:off x="0" y="0"/>
          <a:ext cx="0" cy="0"/>
          <a:chOff x="0" y="0"/>
          <a:chExt cx="0" cy="0"/>
        </a:xfrm>
      </p:grpSpPr>
      <p:sp>
        <p:nvSpPr>
          <p:cNvPr id="229" name="Google Shape;229;p44"/>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0" name="Google Shape;230;p44"/>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300"/>
              </a:spcBef>
              <a:spcAft>
                <a:spcPts val="0"/>
              </a:spcAft>
              <a:buClr>
                <a:srgbClr val="888888"/>
              </a:buClr>
              <a:buSzPts val="1400"/>
              <a:buNone/>
              <a:defRPr sz="1400">
                <a:solidFill>
                  <a:srgbClr val="888888"/>
                </a:solidFill>
              </a:defRPr>
            </a:lvl2pPr>
            <a:lvl3pPr indent="-228600" lvl="2" marL="1371600" algn="l">
              <a:lnSpc>
                <a:spcPct val="100000"/>
              </a:lnSpc>
              <a:spcBef>
                <a:spcPts val="200"/>
              </a:spcBef>
              <a:spcAft>
                <a:spcPts val="0"/>
              </a:spcAft>
              <a:buClr>
                <a:srgbClr val="888888"/>
              </a:buClr>
              <a:buSzPts val="1200"/>
              <a:buNone/>
              <a:defRPr sz="1200">
                <a:solidFill>
                  <a:srgbClr val="888888"/>
                </a:solidFill>
              </a:defRPr>
            </a:lvl3pPr>
            <a:lvl4pPr indent="-228600" lvl="3" marL="1828800" algn="l">
              <a:lnSpc>
                <a:spcPct val="100000"/>
              </a:lnSpc>
              <a:spcBef>
                <a:spcPts val="200"/>
              </a:spcBef>
              <a:spcAft>
                <a:spcPts val="0"/>
              </a:spcAft>
              <a:buClr>
                <a:srgbClr val="888888"/>
              </a:buClr>
              <a:buSzPts val="1100"/>
              <a:buNone/>
              <a:defRPr sz="1100">
                <a:solidFill>
                  <a:srgbClr val="888888"/>
                </a:solidFill>
              </a:defRPr>
            </a:lvl4pPr>
            <a:lvl5pPr indent="-228600" lvl="4" marL="2286000" algn="l">
              <a:lnSpc>
                <a:spcPct val="100000"/>
              </a:lnSpc>
              <a:spcBef>
                <a:spcPts val="200"/>
              </a:spcBef>
              <a:spcAft>
                <a:spcPts val="0"/>
              </a:spcAft>
              <a:buClr>
                <a:srgbClr val="888888"/>
              </a:buClr>
              <a:buSzPts val="1100"/>
              <a:buNone/>
              <a:defRPr sz="1100">
                <a:solidFill>
                  <a:srgbClr val="888888"/>
                </a:solidFill>
              </a:defRPr>
            </a:lvl5pPr>
            <a:lvl6pPr indent="-228600" lvl="5" marL="2743200" algn="l">
              <a:lnSpc>
                <a:spcPct val="100000"/>
              </a:lnSpc>
              <a:spcBef>
                <a:spcPts val="200"/>
              </a:spcBef>
              <a:spcAft>
                <a:spcPts val="0"/>
              </a:spcAft>
              <a:buClr>
                <a:srgbClr val="888888"/>
              </a:buClr>
              <a:buSzPts val="1100"/>
              <a:buNone/>
              <a:defRPr sz="1100">
                <a:solidFill>
                  <a:srgbClr val="888888"/>
                </a:solidFill>
              </a:defRPr>
            </a:lvl6pPr>
            <a:lvl7pPr indent="-228600" lvl="6" marL="3200400" algn="l">
              <a:lnSpc>
                <a:spcPct val="100000"/>
              </a:lnSpc>
              <a:spcBef>
                <a:spcPts val="200"/>
              </a:spcBef>
              <a:spcAft>
                <a:spcPts val="0"/>
              </a:spcAft>
              <a:buClr>
                <a:srgbClr val="888888"/>
              </a:buClr>
              <a:buSzPts val="1100"/>
              <a:buNone/>
              <a:defRPr sz="1100">
                <a:solidFill>
                  <a:srgbClr val="888888"/>
                </a:solidFill>
              </a:defRPr>
            </a:lvl7pPr>
            <a:lvl8pPr indent="-228600" lvl="7" marL="3657600" algn="l">
              <a:lnSpc>
                <a:spcPct val="100000"/>
              </a:lnSpc>
              <a:spcBef>
                <a:spcPts val="200"/>
              </a:spcBef>
              <a:spcAft>
                <a:spcPts val="0"/>
              </a:spcAft>
              <a:buClr>
                <a:srgbClr val="888888"/>
              </a:buClr>
              <a:buSzPts val="1100"/>
              <a:buNone/>
              <a:defRPr sz="1100">
                <a:solidFill>
                  <a:srgbClr val="888888"/>
                </a:solidFill>
              </a:defRPr>
            </a:lvl8pPr>
            <a:lvl9pPr indent="-228600" lvl="8" marL="4114800" algn="l">
              <a:lnSpc>
                <a:spcPct val="100000"/>
              </a:lnSpc>
              <a:spcBef>
                <a:spcPts val="200"/>
              </a:spcBef>
              <a:spcAft>
                <a:spcPts val="0"/>
              </a:spcAft>
              <a:buClr>
                <a:srgbClr val="888888"/>
              </a:buClr>
              <a:buSzPts val="1100"/>
              <a:buNone/>
              <a:defRPr sz="1100">
                <a:solidFill>
                  <a:srgbClr val="888888"/>
                </a:solidFill>
              </a:defRPr>
            </a:lvl9pPr>
          </a:lstStyle>
          <a:p/>
        </p:txBody>
      </p:sp>
      <p:sp>
        <p:nvSpPr>
          <p:cNvPr id="231" name="Google Shape;231;p4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2" name="Google Shape;232;p4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3" name="Google Shape;233;p4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4" name="Shape 234"/>
        <p:cNvGrpSpPr/>
        <p:nvPr/>
      </p:nvGrpSpPr>
      <p:grpSpPr>
        <a:xfrm>
          <a:off x="0" y="0"/>
          <a:ext cx="0" cy="0"/>
          <a:chOff x="0" y="0"/>
          <a:chExt cx="0" cy="0"/>
        </a:xfrm>
      </p:grpSpPr>
      <p:sp>
        <p:nvSpPr>
          <p:cNvPr id="235" name="Google Shape;235;p45"/>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6" name="Google Shape;236;p45"/>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237" name="Google Shape;237;p45"/>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238" name="Google Shape;238;p4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9" name="Google Shape;239;p4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0" name="Google Shape;240;p4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41" name="Shape 241"/>
        <p:cNvGrpSpPr/>
        <p:nvPr/>
      </p:nvGrpSpPr>
      <p:grpSpPr>
        <a:xfrm>
          <a:off x="0" y="0"/>
          <a:ext cx="0" cy="0"/>
          <a:chOff x="0" y="0"/>
          <a:chExt cx="0" cy="0"/>
        </a:xfrm>
      </p:grpSpPr>
      <p:sp>
        <p:nvSpPr>
          <p:cNvPr id="242" name="Google Shape;242;p4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3" name="Google Shape;243;p46"/>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244" name="Google Shape;244;p46"/>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245" name="Google Shape;245;p46"/>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246" name="Google Shape;246;p46"/>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247" name="Google Shape;247;p4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8" name="Google Shape;248;p4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9" name="Google Shape;249;p4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0" name="Shape 250"/>
        <p:cNvGrpSpPr/>
        <p:nvPr/>
      </p:nvGrpSpPr>
      <p:grpSpPr>
        <a:xfrm>
          <a:off x="0" y="0"/>
          <a:ext cx="0" cy="0"/>
          <a:chOff x="0" y="0"/>
          <a:chExt cx="0" cy="0"/>
        </a:xfrm>
      </p:grpSpPr>
      <p:sp>
        <p:nvSpPr>
          <p:cNvPr id="251" name="Google Shape;251;p47"/>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2" name="Google Shape;252;p4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3" name="Google Shape;253;p4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4" name="Google Shape;254;p4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55" name="Shape 255"/>
        <p:cNvGrpSpPr/>
        <p:nvPr/>
      </p:nvGrpSpPr>
      <p:grpSpPr>
        <a:xfrm>
          <a:off x="0" y="0"/>
          <a:ext cx="0" cy="0"/>
          <a:chOff x="0" y="0"/>
          <a:chExt cx="0" cy="0"/>
        </a:xfrm>
      </p:grpSpPr>
      <p:sp>
        <p:nvSpPr>
          <p:cNvPr id="256" name="Google Shape;256;p48"/>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7" name="Google Shape;257;p48"/>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lnSpc>
                <a:spcPct val="100000"/>
              </a:lnSpc>
              <a:spcBef>
                <a:spcPts val="500"/>
              </a:spcBef>
              <a:spcAft>
                <a:spcPts val="0"/>
              </a:spcAft>
              <a:buClr>
                <a:schemeClr val="dk1"/>
              </a:buClr>
              <a:buSzPts val="2400"/>
              <a:buChar char="•"/>
              <a:defRPr sz="2400"/>
            </a:lvl1pPr>
            <a:lvl2pPr indent="-361950" lvl="1" marL="914400" algn="l">
              <a:lnSpc>
                <a:spcPct val="100000"/>
              </a:lnSpc>
              <a:spcBef>
                <a:spcPts val="400"/>
              </a:spcBef>
              <a:spcAft>
                <a:spcPts val="0"/>
              </a:spcAft>
              <a:buClr>
                <a:schemeClr val="dk1"/>
              </a:buClr>
              <a:buSzPts val="2100"/>
              <a:buChar char="–"/>
              <a:defRPr sz="2100"/>
            </a:lvl2pPr>
            <a:lvl3pPr indent="-342900" lvl="2" marL="1371600" algn="l">
              <a:lnSpc>
                <a:spcPct val="100000"/>
              </a:lnSpc>
              <a:spcBef>
                <a:spcPts val="40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258" name="Google Shape;258;p48"/>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259" name="Google Shape;259;p4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0" name="Google Shape;260;p4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1" name="Google Shape;261;p4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62" name="Shape 262"/>
        <p:cNvGrpSpPr/>
        <p:nvPr/>
      </p:nvGrpSpPr>
      <p:grpSpPr>
        <a:xfrm>
          <a:off x="0" y="0"/>
          <a:ext cx="0" cy="0"/>
          <a:chOff x="0" y="0"/>
          <a:chExt cx="0" cy="0"/>
        </a:xfrm>
      </p:grpSpPr>
      <p:sp>
        <p:nvSpPr>
          <p:cNvPr id="263" name="Google Shape;263;p49"/>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4" name="Google Shape;264;p49"/>
          <p:cNvSpPr/>
          <p:nvPr>
            <p:ph idx="2" type="pic"/>
          </p:nvPr>
        </p:nvSpPr>
        <p:spPr>
          <a:xfrm>
            <a:off x="1344252" y="459581"/>
            <a:ext cx="4114910" cy="3086100"/>
          </a:xfrm>
          <a:prstGeom prst="rect">
            <a:avLst/>
          </a:prstGeom>
          <a:noFill/>
          <a:ln>
            <a:noFill/>
          </a:ln>
        </p:spPr>
      </p:sp>
      <p:sp>
        <p:nvSpPr>
          <p:cNvPr id="265" name="Google Shape;265;p49"/>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266" name="Google Shape;266;p4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7" name="Google Shape;267;p4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8" name="Google Shape;268;p4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69" name="Shape 269"/>
        <p:cNvGrpSpPr/>
        <p:nvPr/>
      </p:nvGrpSpPr>
      <p:grpSpPr>
        <a:xfrm>
          <a:off x="0" y="0"/>
          <a:ext cx="0" cy="0"/>
          <a:chOff x="0" y="0"/>
          <a:chExt cx="0" cy="0"/>
        </a:xfrm>
      </p:grpSpPr>
      <p:sp>
        <p:nvSpPr>
          <p:cNvPr id="270" name="Google Shape;270;p5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1" name="Google Shape;271;p50"/>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272" name="Google Shape;272;p5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3" name="Google Shape;273;p5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4" name="Google Shape;274;p5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5" name="Shape 275"/>
        <p:cNvGrpSpPr/>
        <p:nvPr/>
      </p:nvGrpSpPr>
      <p:grpSpPr>
        <a:xfrm>
          <a:off x="0" y="0"/>
          <a:ext cx="0" cy="0"/>
          <a:chOff x="0" y="0"/>
          <a:chExt cx="0" cy="0"/>
        </a:xfrm>
      </p:grpSpPr>
      <p:sp>
        <p:nvSpPr>
          <p:cNvPr id="276" name="Google Shape;276;p51"/>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7" name="Google Shape;277;p51"/>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278" name="Google Shape;278;p5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9" name="Google Shape;279;p5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0" name="Google Shape;280;p5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theme" Target="../theme/theme2.xml"/><Relationship Id="rId12" Type="http://schemas.openxmlformats.org/officeDocument/2006/relationships/slideLayout" Target="../slideLayouts/slideLayout35.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theme" Target="../theme/theme5.xml"/><Relationship Id="rId12" Type="http://schemas.openxmlformats.org/officeDocument/2006/relationships/slideLayout" Target="../slideLayouts/slideLayout47.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26"/>
          <p:cNvSpPr txBox="1"/>
          <p:nvPr>
            <p:ph type="title"/>
          </p:nvPr>
        </p:nvSpPr>
        <p:spPr>
          <a:xfrm>
            <a:off x="342909" y="205978"/>
            <a:ext cx="6172500" cy="857400"/>
          </a:xfrm>
          <a:prstGeom prst="rect">
            <a:avLst/>
          </a:prstGeom>
          <a:noFill/>
          <a:ln>
            <a:noFill/>
          </a:ln>
        </p:spPr>
        <p:txBody>
          <a:bodyPr anchorCtr="0" anchor="ctr" bIns="34275" lIns="68575" spcFirstLastPara="1" rIns="68575" wrap="square" tIns="34275">
            <a:normAutofit/>
          </a:bodyPr>
          <a:lstStyle>
            <a:lvl1pPr lvl="0" marR="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29" name="Google Shape;129;p26"/>
          <p:cNvSpPr txBox="1"/>
          <p:nvPr>
            <p:ph idx="1" type="body"/>
          </p:nvPr>
        </p:nvSpPr>
        <p:spPr>
          <a:xfrm>
            <a:off x="342909" y="1200150"/>
            <a:ext cx="6172500" cy="3394500"/>
          </a:xfrm>
          <a:prstGeom prst="rect">
            <a:avLst/>
          </a:prstGeom>
          <a:noFill/>
          <a:ln>
            <a:noFill/>
          </a:ln>
        </p:spPr>
        <p:txBody>
          <a:bodyPr anchorCtr="0" anchor="t" bIns="34275" lIns="68575" spcFirstLastPara="1" rIns="68575" wrap="square" tIns="34275">
            <a:normAutofit/>
          </a:bodyPr>
          <a:lstStyle>
            <a:lvl1pPr indent="-381000" lvl="0" marL="457200" marR="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30" name="Google Shape;130;p26"/>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31" name="Google Shape;131;p26"/>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32" name="Google Shape;132;p26"/>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4" name="Shape 204"/>
        <p:cNvGrpSpPr/>
        <p:nvPr/>
      </p:nvGrpSpPr>
      <p:grpSpPr>
        <a:xfrm>
          <a:off x="0" y="0"/>
          <a:ext cx="0" cy="0"/>
          <a:chOff x="0" y="0"/>
          <a:chExt cx="0" cy="0"/>
        </a:xfrm>
      </p:grpSpPr>
      <p:sp>
        <p:nvSpPr>
          <p:cNvPr id="205" name="Google Shape;205;p3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206" name="Google Shape;206;p39"/>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207" name="Google Shape;207;p3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208" name="Google Shape;208;p3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209" name="Google Shape;209;p3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3B3A"/>
        </a:solidFill>
      </p:bgPr>
    </p:bg>
    <p:spTree>
      <p:nvGrpSpPr>
        <p:cNvPr id="285" name="Shape 285"/>
        <p:cNvGrpSpPr/>
        <p:nvPr/>
      </p:nvGrpSpPr>
      <p:grpSpPr>
        <a:xfrm>
          <a:off x="0" y="0"/>
          <a:ext cx="0" cy="0"/>
          <a:chOff x="0" y="0"/>
          <a:chExt cx="0" cy="0"/>
        </a:xfrm>
      </p:grpSpPr>
      <p:sp>
        <p:nvSpPr>
          <p:cNvPr id="286" name="Google Shape;286;p52"/>
          <p:cNvSpPr/>
          <p:nvPr/>
        </p:nvSpPr>
        <p:spPr>
          <a:xfrm>
            <a:off x="6652260" y="-1645920"/>
            <a:ext cx="4251900" cy="4251900"/>
          </a:xfrm>
          <a:prstGeom prst="ellipse">
            <a:avLst/>
          </a:prstGeom>
          <a:solidFill>
            <a:srgbClr val="0F766E">
              <a:alpha val="4510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7" name="Google Shape;287;p52"/>
          <p:cNvSpPr/>
          <p:nvPr/>
        </p:nvSpPr>
        <p:spPr>
          <a:xfrm>
            <a:off x="7680960" y="2537460"/>
            <a:ext cx="3154800" cy="3154800"/>
          </a:xfrm>
          <a:prstGeom prst="ellipse">
            <a:avLst/>
          </a:prstGeom>
          <a:solidFill>
            <a:srgbClr val="14857F">
              <a:alpha val="3804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8" name="Google Shape;288;p52"/>
          <p:cNvSpPr/>
          <p:nvPr/>
        </p:nvSpPr>
        <p:spPr>
          <a:xfrm>
            <a:off x="589788" y="978079"/>
            <a:ext cx="7200900" cy="130290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FFFFFF"/>
              </a:buClr>
              <a:buSzPts val="4100"/>
              <a:buFont typeface="Cambria"/>
              <a:buNone/>
            </a:pPr>
            <a:r>
              <a:rPr b="1" lang="en" sz="4100">
                <a:solidFill>
                  <a:srgbClr val="FFFFFF"/>
                </a:solidFill>
                <a:latin typeface="Cambria"/>
                <a:ea typeface="Cambria"/>
                <a:cs typeface="Cambria"/>
                <a:sym typeface="Cambria"/>
              </a:rPr>
              <a:t>The UK Field Guide</a:t>
            </a:r>
            <a:endParaRPr b="0" i="0" sz="4100" u="none" cap="none" strike="noStrike">
              <a:solidFill>
                <a:schemeClr val="dk1"/>
              </a:solidFill>
              <a:latin typeface="Calibri"/>
              <a:ea typeface="Calibri"/>
              <a:cs typeface="Calibri"/>
              <a:sym typeface="Calibri"/>
            </a:endParaRPr>
          </a:p>
        </p:txBody>
      </p:sp>
      <p:sp>
        <p:nvSpPr>
          <p:cNvPr id="289" name="Google Shape;289;p52"/>
          <p:cNvSpPr/>
          <p:nvPr/>
        </p:nvSpPr>
        <p:spPr>
          <a:xfrm>
            <a:off x="589781" y="2883296"/>
            <a:ext cx="7200900" cy="389100"/>
          </a:xfrm>
          <a:prstGeom prst="rect">
            <a:avLst/>
          </a:prstGeom>
          <a:noFill/>
          <a:ln>
            <a:noFill/>
          </a:ln>
        </p:spPr>
        <p:txBody>
          <a:bodyPr anchorCtr="0" anchor="ctr" bIns="0" lIns="0" spcFirstLastPara="1" rIns="0" wrap="square" tIns="0">
            <a:noAutofit/>
          </a:bodyPr>
          <a:lstStyle/>
          <a:p>
            <a:pPr indent="0" lvl="0" marL="0" rtl="0" algn="l">
              <a:lnSpc>
                <a:spcPct val="112000"/>
              </a:lnSpc>
              <a:spcBef>
                <a:spcPts val="0"/>
              </a:spcBef>
              <a:spcAft>
                <a:spcPts val="0"/>
              </a:spcAft>
              <a:buClr>
                <a:schemeClr val="dk1"/>
              </a:buClr>
              <a:buSzPts val="1100"/>
              <a:buFont typeface="Arial"/>
              <a:buNone/>
            </a:pPr>
            <a:r>
              <a:rPr i="1" lang="en" sz="1300">
                <a:solidFill>
                  <a:srgbClr val="CBEFEA"/>
                </a:solidFill>
                <a:latin typeface="Calibri"/>
                <a:ea typeface="Calibri"/>
                <a:cs typeface="Calibri"/>
                <a:sym typeface="Calibri"/>
              </a:rPr>
              <a:t>A vision-grounded wildlife assistant that turns a photograph into a cited, actionable answer.</a:t>
            </a:r>
            <a:endParaRPr sz="1300">
              <a:solidFill>
                <a:srgbClr val="CBEFEA"/>
              </a:solidFill>
              <a:latin typeface="Calibri"/>
              <a:ea typeface="Calibri"/>
              <a:cs typeface="Calibri"/>
              <a:sym typeface="Calibri"/>
            </a:endParaRPr>
          </a:p>
        </p:txBody>
      </p:sp>
      <p:cxnSp>
        <p:nvCxnSpPr>
          <p:cNvPr id="290" name="Google Shape;290;p52"/>
          <p:cNvCxnSpPr/>
          <p:nvPr/>
        </p:nvCxnSpPr>
        <p:spPr>
          <a:xfrm>
            <a:off x="630936" y="2494671"/>
            <a:ext cx="1440300" cy="0"/>
          </a:xfrm>
          <a:prstGeom prst="straightConnector1">
            <a:avLst/>
          </a:prstGeom>
          <a:noFill/>
          <a:ln cap="flat" cmpd="sng" w="23825">
            <a:solidFill>
              <a:srgbClr val="F59E0B"/>
            </a:solidFill>
            <a:prstDash val="solid"/>
            <a:round/>
            <a:headEnd len="sm" w="sm" type="none"/>
            <a:tailEnd len="sm" w="sm" type="none"/>
          </a:ln>
        </p:spPr>
      </p:cxnSp>
      <p:sp>
        <p:nvSpPr>
          <p:cNvPr id="291" name="Google Shape;291;p52"/>
          <p:cNvSpPr/>
          <p:nvPr/>
        </p:nvSpPr>
        <p:spPr>
          <a:xfrm>
            <a:off x="617220" y="2631831"/>
            <a:ext cx="7543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F5F2"/>
              </a:buClr>
              <a:buSzPts val="1100"/>
              <a:buFont typeface="Calibri"/>
              <a:buNone/>
            </a:pPr>
            <a:r>
              <a:rPr b="1" i="0" lang="en" sz="1100" u="none" cap="none" strike="noStrike">
                <a:solidFill>
                  <a:srgbClr val="E2F5F2"/>
                </a:solidFill>
                <a:latin typeface="Calibri"/>
                <a:ea typeface="Calibri"/>
                <a:cs typeface="Calibri"/>
                <a:sym typeface="Calibri"/>
              </a:rPr>
              <a:t>R</a:t>
            </a:r>
            <a:r>
              <a:rPr b="1" lang="en" sz="1100">
                <a:solidFill>
                  <a:srgbClr val="E2F5F2"/>
                </a:solidFill>
                <a:latin typeface="Calibri"/>
                <a:ea typeface="Calibri"/>
                <a:cs typeface="Calibri"/>
                <a:sym typeface="Calibri"/>
              </a:rPr>
              <a:t>AG</a:t>
            </a:r>
            <a:r>
              <a:rPr b="1" lang="en" sz="1100">
                <a:solidFill>
                  <a:srgbClr val="F59E0B"/>
                </a:solidFill>
                <a:latin typeface="Calibri"/>
                <a:ea typeface="Calibri"/>
                <a:cs typeface="Calibri"/>
                <a:sym typeface="Calibri"/>
              </a:rPr>
              <a:t>   •  </a:t>
            </a:r>
            <a:r>
              <a:rPr b="1" lang="en" sz="1100">
                <a:solidFill>
                  <a:srgbClr val="E2F5F2"/>
                </a:solidFill>
                <a:latin typeface="Calibri"/>
                <a:ea typeface="Calibri"/>
                <a:cs typeface="Calibri"/>
                <a:sym typeface="Calibri"/>
              </a:rPr>
              <a:t>Agentic Architecture</a:t>
            </a:r>
            <a:r>
              <a:rPr b="1" lang="en" sz="1100">
                <a:solidFill>
                  <a:srgbClr val="F59E0B"/>
                </a:solidFill>
                <a:latin typeface="Calibri"/>
                <a:ea typeface="Calibri"/>
                <a:cs typeface="Calibri"/>
                <a:sym typeface="Calibri"/>
              </a:rPr>
              <a:t>   •  </a:t>
            </a:r>
            <a:r>
              <a:rPr b="1" lang="en" sz="1100">
                <a:solidFill>
                  <a:srgbClr val="E2F5F2"/>
                </a:solidFill>
                <a:latin typeface="Calibri"/>
                <a:ea typeface="Calibri"/>
                <a:cs typeface="Calibri"/>
                <a:sym typeface="Calibri"/>
              </a:rPr>
              <a:t>Multimodel input</a:t>
            </a:r>
            <a:r>
              <a:rPr lang="en" sz="1100">
                <a:solidFill>
                  <a:schemeClr val="dk1"/>
                </a:solidFill>
                <a:latin typeface="Calibri"/>
                <a:ea typeface="Calibri"/>
                <a:cs typeface="Calibri"/>
                <a:sym typeface="Calibri"/>
              </a:rPr>
              <a:t> </a:t>
            </a:r>
            <a:r>
              <a:rPr b="1" lang="en" sz="1100">
                <a:solidFill>
                  <a:srgbClr val="F59E0B"/>
                </a:solidFill>
                <a:latin typeface="Calibri"/>
                <a:ea typeface="Calibri"/>
                <a:cs typeface="Calibri"/>
                <a:sym typeface="Calibri"/>
              </a:rPr>
              <a:t>   •  </a:t>
            </a:r>
            <a:r>
              <a:rPr b="1" lang="en" sz="1100">
                <a:solidFill>
                  <a:srgbClr val="E2F5F2"/>
                </a:solidFill>
                <a:latin typeface="Calibri"/>
                <a:ea typeface="Calibri"/>
                <a:cs typeface="Calibri"/>
                <a:sym typeface="Calibri"/>
              </a:rPr>
              <a:t>Specie Classification</a:t>
            </a:r>
            <a:r>
              <a:rPr b="1" lang="en" sz="1100">
                <a:solidFill>
                  <a:srgbClr val="F59E0B"/>
                </a:solidFill>
                <a:latin typeface="Calibri"/>
                <a:ea typeface="Calibri"/>
                <a:cs typeface="Calibri"/>
                <a:sym typeface="Calibri"/>
              </a:rPr>
              <a:t>   •   </a:t>
            </a:r>
            <a:r>
              <a:rPr b="1" lang="en" sz="1100">
                <a:solidFill>
                  <a:srgbClr val="E2F5F2"/>
                </a:solidFill>
                <a:latin typeface="Calibri"/>
                <a:ea typeface="Calibri"/>
                <a:cs typeface="Calibri"/>
                <a:sym typeface="Calibri"/>
              </a:rPr>
              <a:t>Vision</a:t>
            </a:r>
            <a:endParaRPr sz="1100">
              <a:solidFill>
                <a:schemeClr val="dk1"/>
              </a:solidFill>
              <a:latin typeface="Calibri"/>
              <a:ea typeface="Calibri"/>
              <a:cs typeface="Calibri"/>
              <a:sym typeface="Calibri"/>
            </a:endParaRPr>
          </a:p>
        </p:txBody>
      </p:sp>
      <p:sp>
        <p:nvSpPr>
          <p:cNvPr id="292" name="Google Shape;292;p52"/>
          <p:cNvSpPr/>
          <p:nvPr/>
        </p:nvSpPr>
        <p:spPr>
          <a:xfrm>
            <a:off x="589775" y="3210806"/>
            <a:ext cx="5486400" cy="24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C4BE"/>
              </a:buClr>
              <a:buSzPts val="900"/>
              <a:buFont typeface="Calibri"/>
              <a:buNone/>
            </a:pPr>
            <a:r>
              <a:rPr lang="en" sz="900">
                <a:solidFill>
                  <a:srgbClr val="8FC4BE"/>
                </a:solidFill>
                <a:latin typeface="Calibri"/>
                <a:ea typeface="Calibri"/>
                <a:cs typeface="Calibri"/>
                <a:sym typeface="Calibri"/>
              </a:rPr>
              <a:t>August</a:t>
            </a:r>
            <a:r>
              <a:rPr lang="en" sz="900">
                <a:solidFill>
                  <a:srgbClr val="8FC4BE"/>
                </a:solidFill>
                <a:latin typeface="Calibri"/>
                <a:ea typeface="Calibri"/>
                <a:cs typeface="Calibri"/>
                <a:sym typeface="Calibri"/>
              </a:rPr>
              <a:t> 2026</a:t>
            </a:r>
            <a:endParaRPr sz="900">
              <a:solidFill>
                <a:srgbClr val="8FC4BE"/>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6" name="Shape 296"/>
        <p:cNvGrpSpPr/>
        <p:nvPr/>
      </p:nvGrpSpPr>
      <p:grpSpPr>
        <a:xfrm>
          <a:off x="0" y="0"/>
          <a:ext cx="0" cy="0"/>
          <a:chOff x="0" y="0"/>
          <a:chExt cx="0" cy="0"/>
        </a:xfrm>
      </p:grpSpPr>
      <p:sp>
        <p:nvSpPr>
          <p:cNvPr id="297" name="Google Shape;297;p53"/>
          <p:cNvSpPr txBox="1"/>
          <p:nvPr/>
        </p:nvSpPr>
        <p:spPr>
          <a:xfrm>
            <a:off x="372387" y="781007"/>
            <a:ext cx="82308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1" i="0" lang="en" sz="1000" u="none" cap="none" strike="noStrike">
                <a:solidFill>
                  <a:srgbClr val="1E4B2B"/>
                </a:solidFill>
                <a:latin typeface="Cambria"/>
                <a:ea typeface="Cambria"/>
                <a:cs typeface="Cambria"/>
                <a:sym typeface="Cambria"/>
              </a:rPr>
              <a:t>What the project is</a:t>
            </a:r>
            <a:endParaRPr b="0" i="0" sz="1000" u="none" cap="none" strike="noStrike">
              <a:solidFill>
                <a:srgbClr val="000000"/>
              </a:solidFill>
              <a:latin typeface="Arial"/>
              <a:ea typeface="Arial"/>
              <a:cs typeface="Arial"/>
              <a:sym typeface="Arial"/>
            </a:endParaRPr>
          </a:p>
        </p:txBody>
      </p:sp>
      <p:sp>
        <p:nvSpPr>
          <p:cNvPr id="298" name="Google Shape;298;p53"/>
          <p:cNvSpPr txBox="1"/>
          <p:nvPr/>
        </p:nvSpPr>
        <p:spPr>
          <a:xfrm>
            <a:off x="372400" y="1054925"/>
            <a:ext cx="8229600" cy="476400"/>
          </a:xfrm>
          <a:prstGeom prst="rect">
            <a:avLst/>
          </a:prstGeom>
          <a:noFill/>
          <a:ln>
            <a:noFill/>
          </a:ln>
        </p:spPr>
        <p:txBody>
          <a:bodyPr anchorCtr="0" anchor="t" bIns="0" lIns="0" spcFirstLastPara="1" rIns="0" wrap="square" tIns="0">
            <a:noAutofit/>
          </a:bodyPr>
          <a:lstStyle/>
          <a:p>
            <a:pPr indent="0" lvl="0" marL="0" rtl="0" algn="l">
              <a:lnSpc>
                <a:spcPct val="114000"/>
              </a:lnSpc>
              <a:spcBef>
                <a:spcPts val="0"/>
              </a:spcBef>
              <a:spcAft>
                <a:spcPts val="0"/>
              </a:spcAft>
              <a:buClr>
                <a:schemeClr val="dk1"/>
              </a:buClr>
              <a:buSzPts val="930"/>
              <a:buFont typeface="Arial"/>
              <a:buNone/>
            </a:pPr>
            <a:r>
              <a:rPr lang="en" sz="900">
                <a:solidFill>
                  <a:srgbClr val="17351F"/>
                </a:solidFill>
                <a:latin typeface="Calibri"/>
                <a:ea typeface="Calibri"/>
                <a:cs typeface="Calibri"/>
                <a:sym typeface="Calibri"/>
              </a:rPr>
              <a:t>Millions of people photograph wildlife every day…</a:t>
            </a:r>
            <a:endParaRPr sz="900">
              <a:solidFill>
                <a:srgbClr val="17351F"/>
              </a:solidFill>
              <a:latin typeface="Calibri"/>
              <a:ea typeface="Calibri"/>
              <a:cs typeface="Calibri"/>
              <a:sym typeface="Calibri"/>
            </a:endParaRPr>
          </a:p>
          <a:p>
            <a:pPr indent="0" lvl="0" marL="0" rtl="0" algn="l">
              <a:lnSpc>
                <a:spcPct val="114000"/>
              </a:lnSpc>
              <a:spcBef>
                <a:spcPts val="0"/>
              </a:spcBef>
              <a:spcAft>
                <a:spcPts val="0"/>
              </a:spcAft>
              <a:buClr>
                <a:schemeClr val="dk1"/>
              </a:buClr>
              <a:buSzPts val="930"/>
              <a:buFont typeface="Arial"/>
              <a:buNone/>
            </a:pPr>
            <a:r>
              <a:rPr lang="en" sz="900">
                <a:solidFill>
                  <a:srgbClr val="17351F"/>
                </a:solidFill>
                <a:latin typeface="Calibri"/>
                <a:ea typeface="Calibri"/>
                <a:cs typeface="Calibri"/>
                <a:sym typeface="Calibri"/>
              </a:rPr>
              <a:t>Identification apps are good at answering 'what is this?', but almost none answer the question that matters next 'what should I do?'.</a:t>
            </a:r>
            <a:endParaRPr sz="900">
              <a:solidFill>
                <a:srgbClr val="17351F"/>
              </a:solidFill>
              <a:latin typeface="Calibri"/>
              <a:ea typeface="Calibri"/>
              <a:cs typeface="Calibri"/>
              <a:sym typeface="Calibri"/>
            </a:endParaRPr>
          </a:p>
          <a:p>
            <a:pPr indent="0" lvl="0" marL="0" rtl="0" algn="l">
              <a:lnSpc>
                <a:spcPct val="114000"/>
              </a:lnSpc>
              <a:spcBef>
                <a:spcPts val="0"/>
              </a:spcBef>
              <a:spcAft>
                <a:spcPts val="0"/>
              </a:spcAft>
              <a:buClr>
                <a:schemeClr val="dk1"/>
              </a:buClr>
              <a:buSzPts val="930"/>
              <a:buFont typeface="Arial"/>
              <a:buNone/>
            </a:pPr>
            <a:r>
              <a:rPr lang="en" sz="900">
                <a:solidFill>
                  <a:srgbClr val="17351F"/>
                </a:solidFill>
                <a:latin typeface="Calibri"/>
                <a:ea typeface="Calibri"/>
                <a:cs typeface="Calibri"/>
                <a:sym typeface="Calibri"/>
              </a:rPr>
              <a:t>This project closes that gap for the UK, turning a single photo into an answer people can actually trust and act on, not just identified, but explained, sourced, and checked.</a:t>
            </a:r>
            <a:endParaRPr sz="900">
              <a:solidFill>
                <a:srgbClr val="17351F"/>
              </a:solidFill>
              <a:latin typeface="Calibri"/>
              <a:ea typeface="Calibri"/>
              <a:cs typeface="Calibri"/>
              <a:sym typeface="Calibri"/>
            </a:endParaRPr>
          </a:p>
        </p:txBody>
      </p:sp>
      <p:sp>
        <p:nvSpPr>
          <p:cNvPr id="299" name="Google Shape;299;p53"/>
          <p:cNvSpPr/>
          <p:nvPr/>
        </p:nvSpPr>
        <p:spPr>
          <a:xfrm>
            <a:off x="886075" y="1647081"/>
            <a:ext cx="2944200" cy="1404600"/>
          </a:xfrm>
          <a:prstGeom prst="roundRect">
            <a:avLst>
              <a:gd fmla="val 3871" name="adj"/>
            </a:avLst>
          </a:prstGeom>
          <a:solidFill>
            <a:srgbClr val="F3F6F1"/>
          </a:solidFill>
          <a:ln cap="flat" cmpd="sng" w="12700">
            <a:solidFill>
              <a:srgbClr val="D9E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3"/>
          <p:cNvSpPr txBox="1"/>
          <p:nvPr/>
        </p:nvSpPr>
        <p:spPr>
          <a:xfrm>
            <a:off x="1132976" y="1738523"/>
            <a:ext cx="3415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E4B2B"/>
                </a:solidFill>
                <a:latin typeface="Cambria"/>
                <a:ea typeface="Cambria"/>
                <a:cs typeface="Cambria"/>
                <a:sym typeface="Cambria"/>
              </a:rPr>
              <a:t>Goals</a:t>
            </a:r>
            <a:endParaRPr b="0" i="0" sz="1000" u="none" cap="none" strike="noStrike">
              <a:solidFill>
                <a:srgbClr val="000000"/>
              </a:solidFill>
              <a:latin typeface="Arial"/>
              <a:ea typeface="Arial"/>
              <a:cs typeface="Arial"/>
              <a:sym typeface="Arial"/>
            </a:endParaRPr>
          </a:p>
        </p:txBody>
      </p:sp>
      <p:sp>
        <p:nvSpPr>
          <p:cNvPr id="301" name="Google Shape;301;p53"/>
          <p:cNvSpPr txBox="1"/>
          <p:nvPr/>
        </p:nvSpPr>
        <p:spPr>
          <a:xfrm>
            <a:off x="1132975" y="1957980"/>
            <a:ext cx="2530500" cy="1014900"/>
          </a:xfrm>
          <a:prstGeom prst="rect">
            <a:avLst/>
          </a:prstGeom>
          <a:noFill/>
          <a:ln>
            <a:noFill/>
          </a:ln>
        </p:spPr>
        <p:txBody>
          <a:bodyPr anchorCtr="0" anchor="t" bIns="0" lIns="0" spcFirstLastPara="1" rIns="0" wrap="square" tIns="0">
            <a:noAutofit/>
          </a:bodyPr>
          <a:lstStyle/>
          <a:p>
            <a:pPr indent="-75438" lvl="0" marL="64008" marR="0" rtl="0" algn="l">
              <a:lnSpc>
                <a:spcPct val="108000"/>
              </a:lnSpc>
              <a:spcBef>
                <a:spcPts val="0"/>
              </a:spcBef>
              <a:spcAft>
                <a:spcPts val="0"/>
              </a:spcAft>
              <a:buClr>
                <a:srgbClr val="000000"/>
              </a:buClr>
              <a:buSzPts val="900"/>
              <a:buFont typeface="Arial"/>
              <a:buChar char="•"/>
            </a:pPr>
            <a:r>
              <a:rPr b="0" i="0" lang="en" sz="900" u="none" cap="none" strike="noStrike">
                <a:solidFill>
                  <a:srgbClr val="17351F"/>
                </a:solidFill>
                <a:latin typeface="Calibri"/>
                <a:ea typeface="Calibri"/>
                <a:cs typeface="Calibri"/>
                <a:sym typeface="Calibri"/>
              </a:rPr>
              <a:t>Identify </a:t>
            </a:r>
            <a:r>
              <a:rPr lang="en" sz="900">
                <a:solidFill>
                  <a:srgbClr val="17351F"/>
                </a:solidFill>
                <a:latin typeface="Calibri"/>
                <a:ea typeface="Calibri"/>
                <a:cs typeface="Calibri"/>
                <a:sym typeface="Calibri"/>
              </a:rPr>
              <a:t>wildlife species </a:t>
            </a:r>
            <a:r>
              <a:rPr b="0" i="0" lang="en" sz="900" u="none" cap="none" strike="noStrike">
                <a:solidFill>
                  <a:srgbClr val="17351F"/>
                </a:solidFill>
                <a:latin typeface="Calibri"/>
                <a:ea typeface="Calibri"/>
                <a:cs typeface="Calibri"/>
                <a:sym typeface="Calibri"/>
              </a:rPr>
              <a:t>with honest uncertainty</a:t>
            </a:r>
            <a:r>
              <a:rPr lang="en" sz="900">
                <a:solidFill>
                  <a:srgbClr val="17351F"/>
                </a:solidFill>
                <a:latin typeface="Calibri"/>
                <a:ea typeface="Calibri"/>
                <a:cs typeface="Calibri"/>
                <a:sym typeface="Calibri"/>
              </a:rPr>
              <a:t> displaying</a:t>
            </a:r>
            <a:r>
              <a:rPr b="0" i="0" lang="en" sz="900" u="none" cap="none" strike="noStrike">
                <a:solidFill>
                  <a:srgbClr val="17351F"/>
                </a:solidFill>
                <a:latin typeface="Calibri"/>
                <a:ea typeface="Calibri"/>
                <a:cs typeface="Calibri"/>
                <a:sym typeface="Calibri"/>
              </a:rPr>
              <a:t> top-3 candidates and confidence.</a:t>
            </a:r>
            <a:endParaRPr b="0" i="0" sz="900" u="none" cap="none" strike="noStrike">
              <a:solidFill>
                <a:srgbClr val="000000"/>
              </a:solidFill>
              <a:latin typeface="Arial"/>
              <a:ea typeface="Arial"/>
              <a:cs typeface="Arial"/>
              <a:sym typeface="Arial"/>
            </a:endParaRPr>
          </a:p>
          <a:p>
            <a:pPr indent="-75438" lvl="0" marL="64008" marR="0" rtl="0" algn="l">
              <a:lnSpc>
                <a:spcPct val="108000"/>
              </a:lnSpc>
              <a:spcBef>
                <a:spcPts val="400"/>
              </a:spcBef>
              <a:spcAft>
                <a:spcPts val="0"/>
              </a:spcAft>
              <a:buClr>
                <a:srgbClr val="000000"/>
              </a:buClr>
              <a:buSzPts val="900"/>
              <a:buFont typeface="Arial"/>
              <a:buChar char="•"/>
            </a:pPr>
            <a:r>
              <a:rPr b="0" i="0" lang="en" sz="900" u="none" cap="none" strike="noStrike">
                <a:solidFill>
                  <a:srgbClr val="17351F"/>
                </a:solidFill>
                <a:latin typeface="Calibri"/>
                <a:ea typeface="Calibri"/>
                <a:cs typeface="Calibri"/>
                <a:sym typeface="Calibri"/>
              </a:rPr>
              <a:t>Ground every answer in retrieved, cited field-guide sources.</a:t>
            </a:r>
            <a:endParaRPr b="0" i="0" sz="900" u="none" cap="none" strike="noStrike">
              <a:solidFill>
                <a:srgbClr val="000000"/>
              </a:solidFill>
              <a:latin typeface="Arial"/>
              <a:ea typeface="Arial"/>
              <a:cs typeface="Arial"/>
              <a:sym typeface="Arial"/>
            </a:endParaRPr>
          </a:p>
          <a:p>
            <a:pPr indent="-75438" lvl="0" marL="64008" marR="0" rtl="0" algn="l">
              <a:lnSpc>
                <a:spcPct val="108000"/>
              </a:lnSpc>
              <a:spcBef>
                <a:spcPts val="400"/>
              </a:spcBef>
              <a:spcAft>
                <a:spcPts val="0"/>
              </a:spcAft>
              <a:buClr>
                <a:srgbClr val="000000"/>
              </a:buClr>
              <a:buSzPts val="900"/>
              <a:buFont typeface="Arial"/>
              <a:buChar char="•"/>
            </a:pPr>
            <a:r>
              <a:rPr b="0" i="0" lang="en" sz="900" u="none" cap="none" strike="noStrike">
                <a:solidFill>
                  <a:srgbClr val="17351F"/>
                </a:solidFill>
                <a:latin typeface="Calibri"/>
                <a:ea typeface="Calibri"/>
                <a:cs typeface="Calibri"/>
                <a:sym typeface="Calibri"/>
              </a:rPr>
              <a:t>Check regional status automatically and lead with safety warnings.</a:t>
            </a:r>
            <a:endParaRPr b="0" i="0" sz="900" u="none" cap="none" strike="noStrike">
              <a:solidFill>
                <a:srgbClr val="000000"/>
              </a:solidFill>
              <a:latin typeface="Arial"/>
              <a:ea typeface="Arial"/>
              <a:cs typeface="Arial"/>
              <a:sym typeface="Arial"/>
            </a:endParaRPr>
          </a:p>
        </p:txBody>
      </p:sp>
      <p:sp>
        <p:nvSpPr>
          <p:cNvPr id="302" name="Google Shape;302;p53"/>
          <p:cNvSpPr/>
          <p:nvPr/>
        </p:nvSpPr>
        <p:spPr>
          <a:xfrm>
            <a:off x="4772450" y="1647081"/>
            <a:ext cx="2944500" cy="1404600"/>
          </a:xfrm>
          <a:prstGeom prst="roundRect">
            <a:avLst>
              <a:gd fmla="val 3871" name="adj"/>
            </a:avLst>
          </a:prstGeom>
          <a:solidFill>
            <a:srgbClr val="F3F6F1"/>
          </a:solidFill>
          <a:ln cap="flat" cmpd="sng" w="12700">
            <a:solidFill>
              <a:srgbClr val="D9E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53"/>
          <p:cNvSpPr txBox="1"/>
          <p:nvPr/>
        </p:nvSpPr>
        <p:spPr>
          <a:xfrm>
            <a:off x="5019377" y="1738523"/>
            <a:ext cx="3415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E4B2B"/>
                </a:solidFill>
                <a:latin typeface="Cambria"/>
                <a:ea typeface="Cambria"/>
                <a:cs typeface="Cambria"/>
                <a:sym typeface="Cambria"/>
              </a:rPr>
              <a:t>Who will use it</a:t>
            </a:r>
            <a:endParaRPr b="0" i="0" sz="1000" u="none" cap="none" strike="noStrike">
              <a:solidFill>
                <a:srgbClr val="000000"/>
              </a:solidFill>
              <a:latin typeface="Arial"/>
              <a:ea typeface="Arial"/>
              <a:cs typeface="Arial"/>
              <a:sym typeface="Arial"/>
            </a:endParaRPr>
          </a:p>
        </p:txBody>
      </p:sp>
      <p:sp>
        <p:nvSpPr>
          <p:cNvPr id="304" name="Google Shape;304;p53"/>
          <p:cNvSpPr txBox="1"/>
          <p:nvPr/>
        </p:nvSpPr>
        <p:spPr>
          <a:xfrm>
            <a:off x="5019377" y="1957981"/>
            <a:ext cx="2395800" cy="1014900"/>
          </a:xfrm>
          <a:prstGeom prst="rect">
            <a:avLst/>
          </a:prstGeom>
          <a:noFill/>
          <a:ln>
            <a:noFill/>
          </a:ln>
        </p:spPr>
        <p:txBody>
          <a:bodyPr anchorCtr="0" anchor="t" bIns="0" lIns="0" spcFirstLastPara="1" rIns="0" wrap="square" tIns="0">
            <a:noAutofit/>
          </a:bodyPr>
          <a:lstStyle/>
          <a:p>
            <a:pPr indent="-166878" lvl="0" marL="155448" marR="0" rtl="0" algn="l">
              <a:lnSpc>
                <a:spcPct val="108000"/>
              </a:lnSpc>
              <a:spcBef>
                <a:spcPts val="0"/>
              </a:spcBef>
              <a:spcAft>
                <a:spcPts val="0"/>
              </a:spcAft>
              <a:buClr>
                <a:srgbClr val="000000"/>
              </a:buClr>
              <a:buSzPts val="900"/>
              <a:buFont typeface="Arial"/>
              <a:buChar char="•"/>
            </a:pPr>
            <a:r>
              <a:rPr b="0" i="0" lang="en" sz="900" u="none" cap="none" strike="noStrike">
                <a:solidFill>
                  <a:srgbClr val="17351F"/>
                </a:solidFill>
                <a:latin typeface="Calibri"/>
                <a:ea typeface="Calibri"/>
                <a:cs typeface="Calibri"/>
                <a:sym typeface="Calibri"/>
              </a:rPr>
              <a:t>Public users identifying a plant, insect, fungus, or bird on a walk.</a:t>
            </a:r>
            <a:endParaRPr b="0" i="0" sz="900" u="none" cap="none" strike="noStrike">
              <a:solidFill>
                <a:srgbClr val="000000"/>
              </a:solidFill>
              <a:latin typeface="Arial"/>
              <a:ea typeface="Arial"/>
              <a:cs typeface="Arial"/>
              <a:sym typeface="Arial"/>
            </a:endParaRPr>
          </a:p>
          <a:p>
            <a:pPr indent="-166878" lvl="0" marL="155448" marR="0" rtl="0" algn="l">
              <a:lnSpc>
                <a:spcPct val="108000"/>
              </a:lnSpc>
              <a:spcBef>
                <a:spcPts val="400"/>
              </a:spcBef>
              <a:spcAft>
                <a:spcPts val="0"/>
              </a:spcAft>
              <a:buClr>
                <a:srgbClr val="000000"/>
              </a:buClr>
              <a:buSzPts val="900"/>
              <a:buFont typeface="Arial"/>
              <a:buChar char="•"/>
            </a:pPr>
            <a:r>
              <a:rPr b="0" i="0" lang="en" sz="900" u="none" cap="none" strike="noStrike">
                <a:solidFill>
                  <a:srgbClr val="17351F"/>
                </a:solidFill>
                <a:latin typeface="Calibri"/>
                <a:ea typeface="Calibri"/>
                <a:cs typeface="Calibri"/>
                <a:sym typeface="Calibri"/>
              </a:rPr>
              <a:t>Local councils / conservation groups needing an invasive-status check.</a:t>
            </a:r>
            <a:endParaRPr b="0" i="0" sz="900" u="none" cap="none" strike="noStrike">
              <a:solidFill>
                <a:srgbClr val="000000"/>
              </a:solidFill>
              <a:latin typeface="Arial"/>
              <a:ea typeface="Arial"/>
              <a:cs typeface="Arial"/>
              <a:sym typeface="Arial"/>
            </a:endParaRPr>
          </a:p>
          <a:p>
            <a:pPr indent="-166878" lvl="0" marL="155448" marR="0" rtl="0" algn="l">
              <a:lnSpc>
                <a:spcPct val="108000"/>
              </a:lnSpc>
              <a:spcBef>
                <a:spcPts val="400"/>
              </a:spcBef>
              <a:spcAft>
                <a:spcPts val="0"/>
              </a:spcAft>
              <a:buClr>
                <a:srgbClr val="000000"/>
              </a:buClr>
              <a:buSzPts val="900"/>
              <a:buFont typeface="Arial"/>
              <a:buChar char="•"/>
            </a:pPr>
            <a:r>
              <a:rPr b="0" i="0" lang="en" sz="900" u="none" cap="none" strike="noStrike">
                <a:solidFill>
                  <a:srgbClr val="17351F"/>
                </a:solidFill>
                <a:latin typeface="Calibri"/>
                <a:ea typeface="Calibri"/>
                <a:cs typeface="Calibri"/>
                <a:sym typeface="Calibri"/>
              </a:rPr>
              <a:t>Agricultural bodies and land managers assessing risk.</a:t>
            </a:r>
            <a:endParaRPr b="0" i="0" sz="900" u="none" cap="none" strike="noStrike">
              <a:solidFill>
                <a:srgbClr val="000000"/>
              </a:solidFill>
              <a:latin typeface="Arial"/>
              <a:ea typeface="Arial"/>
              <a:cs typeface="Arial"/>
              <a:sym typeface="Arial"/>
            </a:endParaRPr>
          </a:p>
        </p:txBody>
      </p:sp>
      <p:sp>
        <p:nvSpPr>
          <p:cNvPr id="305" name="Google Shape;305;p53"/>
          <p:cNvSpPr txBox="1"/>
          <p:nvPr/>
        </p:nvSpPr>
        <p:spPr>
          <a:xfrm>
            <a:off x="372387" y="3160753"/>
            <a:ext cx="8230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E4B2B"/>
                </a:solidFill>
                <a:latin typeface="Cambria"/>
                <a:ea typeface="Cambria"/>
                <a:cs typeface="Cambria"/>
                <a:sym typeface="Cambria"/>
              </a:rPr>
              <a:t>Sources that feed the system</a:t>
            </a:r>
            <a:endParaRPr b="0" i="0" sz="1000" u="none" cap="none" strike="noStrike">
              <a:solidFill>
                <a:srgbClr val="000000"/>
              </a:solidFill>
              <a:latin typeface="Arial"/>
              <a:ea typeface="Arial"/>
              <a:cs typeface="Arial"/>
              <a:sym typeface="Arial"/>
            </a:endParaRPr>
          </a:p>
        </p:txBody>
      </p:sp>
      <p:sp>
        <p:nvSpPr>
          <p:cNvPr id="306" name="Google Shape;306;p53"/>
          <p:cNvSpPr txBox="1"/>
          <p:nvPr/>
        </p:nvSpPr>
        <p:spPr>
          <a:xfrm>
            <a:off x="372387" y="3405842"/>
            <a:ext cx="8230800" cy="548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00"/>
              <a:buFont typeface="Arial"/>
              <a:buNone/>
            </a:pPr>
            <a:r>
              <a:rPr lang="en" sz="900">
                <a:solidFill>
                  <a:srgbClr val="17351F"/>
                </a:solidFill>
                <a:latin typeface="Calibri"/>
                <a:ea typeface="Calibri"/>
                <a:cs typeface="Calibri"/>
                <a:sym typeface="Calibri"/>
              </a:rPr>
              <a:t>The system's knowledge layer aggregates data from iNaturalist (vision identification), Wikipedia (encyclopedic species information), Europe PMC/PubMed Central/arXiv/Open Library (scientific literature), and official UK Government invasive, protected-species, and conservation lists. In total, 362 documents across species accounts, regional status, books, and papers.</a:t>
            </a:r>
            <a:endParaRPr i="0" sz="900" u="none" cap="none" strike="noStrike">
              <a:solidFill>
                <a:srgbClr val="17351F"/>
              </a:solidFill>
              <a:latin typeface="Calibri"/>
              <a:ea typeface="Calibri"/>
              <a:cs typeface="Calibri"/>
              <a:sym typeface="Calibri"/>
            </a:endParaRPr>
          </a:p>
        </p:txBody>
      </p:sp>
      <p:sp>
        <p:nvSpPr>
          <p:cNvPr id="307" name="Google Shape;307;p53"/>
          <p:cNvSpPr txBox="1"/>
          <p:nvPr/>
        </p:nvSpPr>
        <p:spPr>
          <a:xfrm>
            <a:off x="6862782" y="4882901"/>
            <a:ext cx="15039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t/>
            </a:r>
            <a:endParaRPr b="0" i="0" sz="750" u="none" cap="none" strike="noStrike">
              <a:solidFill>
                <a:srgbClr val="000000"/>
              </a:solidFill>
              <a:latin typeface="Arial"/>
              <a:ea typeface="Arial"/>
              <a:cs typeface="Arial"/>
              <a:sym typeface="Arial"/>
            </a:endParaRPr>
          </a:p>
        </p:txBody>
      </p:sp>
      <p:sp>
        <p:nvSpPr>
          <p:cNvPr id="308" name="Google Shape;308;p53"/>
          <p:cNvSpPr txBox="1"/>
          <p:nvPr/>
        </p:nvSpPr>
        <p:spPr>
          <a:xfrm>
            <a:off x="6309360" y="4864608"/>
            <a:ext cx="2469000" cy="219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50"/>
              <a:buFont typeface="Arial"/>
              <a:buNone/>
            </a:pPr>
            <a:r>
              <a:rPr b="0" i="0" lang="en" sz="750" u="none" cap="none" strike="noStrike">
                <a:solidFill>
                  <a:srgbClr val="5B6B5E"/>
                </a:solidFill>
                <a:latin typeface="Calibri"/>
                <a:ea typeface="Calibri"/>
                <a:cs typeface="Calibri"/>
                <a:sym typeface="Calibri"/>
              </a:rPr>
              <a:t>The UK Field Guide — AI Engineering Bootcamp</a:t>
            </a:r>
            <a:endParaRPr b="0" i="0" sz="750" u="none" cap="none" strike="noStrike">
              <a:solidFill>
                <a:srgbClr val="000000"/>
              </a:solidFill>
              <a:latin typeface="Arial"/>
              <a:ea typeface="Arial"/>
              <a:cs typeface="Arial"/>
              <a:sym typeface="Arial"/>
            </a:endParaRPr>
          </a:p>
        </p:txBody>
      </p:sp>
      <p:sp>
        <p:nvSpPr>
          <p:cNvPr id="309" name="Google Shape;309;p53"/>
          <p:cNvSpPr txBox="1"/>
          <p:nvPr/>
        </p:nvSpPr>
        <p:spPr>
          <a:xfrm>
            <a:off x="372387" y="3957010"/>
            <a:ext cx="8230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lang="en" sz="1000">
                <a:solidFill>
                  <a:srgbClr val="1E4B2B"/>
                </a:solidFill>
                <a:latin typeface="Cambria"/>
                <a:ea typeface="Cambria"/>
                <a:cs typeface="Cambria"/>
                <a:sym typeface="Cambria"/>
              </a:rPr>
              <a:t>AI</a:t>
            </a:r>
            <a:r>
              <a:rPr b="1" i="0" lang="en" sz="1000" u="none" cap="none" strike="noStrike">
                <a:solidFill>
                  <a:srgbClr val="1E4B2B"/>
                </a:solidFill>
                <a:latin typeface="Cambria"/>
                <a:ea typeface="Cambria"/>
                <a:cs typeface="Cambria"/>
                <a:sym typeface="Cambria"/>
              </a:rPr>
              <a:t> </a:t>
            </a:r>
            <a:r>
              <a:rPr b="1" lang="en" sz="1000">
                <a:solidFill>
                  <a:srgbClr val="1E4B2B"/>
                </a:solidFill>
                <a:latin typeface="Cambria"/>
                <a:ea typeface="Cambria"/>
                <a:cs typeface="Cambria"/>
                <a:sym typeface="Cambria"/>
              </a:rPr>
              <a:t>in </a:t>
            </a:r>
            <a:r>
              <a:rPr b="1" i="0" lang="en" sz="1000" u="none" cap="none" strike="noStrike">
                <a:solidFill>
                  <a:srgbClr val="1E4B2B"/>
                </a:solidFill>
                <a:latin typeface="Cambria"/>
                <a:ea typeface="Cambria"/>
                <a:cs typeface="Cambria"/>
                <a:sym typeface="Cambria"/>
              </a:rPr>
              <a:t>the system</a:t>
            </a:r>
            <a:endParaRPr b="0" i="0" sz="1000" u="none" cap="none" strike="noStrike">
              <a:solidFill>
                <a:srgbClr val="000000"/>
              </a:solidFill>
              <a:latin typeface="Arial"/>
              <a:ea typeface="Arial"/>
              <a:cs typeface="Arial"/>
              <a:sym typeface="Arial"/>
            </a:endParaRPr>
          </a:p>
        </p:txBody>
      </p:sp>
      <p:sp>
        <p:nvSpPr>
          <p:cNvPr id="310" name="Google Shape;310;p53"/>
          <p:cNvSpPr txBox="1"/>
          <p:nvPr/>
        </p:nvSpPr>
        <p:spPr>
          <a:xfrm>
            <a:off x="372387" y="4202099"/>
            <a:ext cx="8230800" cy="5487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1100"/>
              <a:buFont typeface="Arial"/>
              <a:buNone/>
            </a:pPr>
            <a:r>
              <a:rPr lang="en" sz="900">
                <a:solidFill>
                  <a:srgbClr val="17351F"/>
                </a:solidFill>
                <a:latin typeface="Calibri"/>
                <a:ea typeface="Calibri"/>
                <a:cs typeface="Calibri"/>
                <a:sym typeface="Calibri"/>
              </a:rPr>
              <a:t>AI is embedded at three critical stages of the pipeline. First, a vision model identifies the species from a photo, returning ranked candidates with honest confidence scores rather than a single guess. Second, an LLM-powered agent grounds its answer in retrieved, cited field-guide sources, pulling only the most relevant passages rather than relying on its own memory. Third, a dedicated safety check reviews the answer before it reaches the user, flagging any protected or invasive-species concerns. </a:t>
            </a:r>
            <a:endParaRPr sz="900">
              <a:solidFill>
                <a:srgbClr val="17351F"/>
              </a:solidFill>
              <a:latin typeface="Calibri"/>
              <a:ea typeface="Calibri"/>
              <a:cs typeface="Calibri"/>
              <a:sym typeface="Calibri"/>
            </a:endParaRPr>
          </a:p>
        </p:txBody>
      </p:sp>
      <p:sp>
        <p:nvSpPr>
          <p:cNvPr id="311" name="Google Shape;311;p53"/>
          <p:cNvSpPr txBox="1"/>
          <p:nvPr/>
        </p:nvSpPr>
        <p:spPr>
          <a:xfrm>
            <a:off x="365750" y="201173"/>
            <a:ext cx="8412600" cy="3108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1900"/>
              <a:buFont typeface="Arial"/>
              <a:buNone/>
            </a:pPr>
            <a:r>
              <a:rPr b="1" lang="en" sz="1900">
                <a:solidFill>
                  <a:srgbClr val="1E4B2B"/>
                </a:solidFill>
                <a:latin typeface="Cambria"/>
                <a:ea typeface="Cambria"/>
                <a:cs typeface="Cambria"/>
                <a:sym typeface="Cambria"/>
              </a:rPr>
              <a:t>Project introduction</a:t>
            </a:r>
            <a:endParaRPr b="1" sz="1900">
              <a:solidFill>
                <a:srgbClr val="1E4B2B"/>
              </a:solidFill>
              <a:latin typeface="Cambria"/>
              <a:ea typeface="Cambria"/>
              <a:cs typeface="Cambria"/>
              <a:sym typeface="Cambria"/>
            </a:endParaRPr>
          </a:p>
        </p:txBody>
      </p:sp>
      <p:sp>
        <p:nvSpPr>
          <p:cNvPr id="312" name="Google Shape;312;p53"/>
          <p:cNvSpPr txBox="1"/>
          <p:nvPr/>
        </p:nvSpPr>
        <p:spPr>
          <a:xfrm>
            <a:off x="365760" y="512064"/>
            <a:ext cx="8229600" cy="14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i="1" lang="en" sz="950">
                <a:solidFill>
                  <a:srgbClr val="5B6B5E"/>
                </a:solidFill>
                <a:latin typeface="Calibri"/>
                <a:ea typeface="Calibri"/>
                <a:cs typeface="Calibri"/>
                <a:sym typeface="Calibri"/>
              </a:rPr>
              <a:t>The problem, the audience, and the gap between identification and action</a:t>
            </a:r>
            <a:endParaRPr i="1" sz="950">
              <a:solidFill>
                <a:srgbClr val="5B6B5E"/>
              </a:solidFill>
              <a:latin typeface="Calibri"/>
              <a:ea typeface="Calibri"/>
              <a:cs typeface="Calibri"/>
              <a:sym typeface="Calibri"/>
            </a:endParaRPr>
          </a:p>
        </p:txBody>
      </p:sp>
      <p:sp>
        <p:nvSpPr>
          <p:cNvPr id="313" name="Google Shape;313;p53"/>
          <p:cNvSpPr txBox="1"/>
          <p:nvPr>
            <p:ph idx="12" type="sldNum"/>
          </p:nvPr>
        </p:nvSpPr>
        <p:spPr>
          <a:xfrm>
            <a:off x="7424928" y="4837176"/>
            <a:ext cx="16002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sz="800">
                <a:solidFill>
                  <a:srgbClr val="5B6B5E"/>
                </a:solidFill>
              </a:rPr>
              <a:t>‹#›</a:t>
            </a:fld>
            <a:endParaRPr sz="800">
              <a:solidFill>
                <a:srgbClr val="5B6B5E"/>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p54"/>
          <p:cNvSpPr txBox="1"/>
          <p:nvPr/>
        </p:nvSpPr>
        <p:spPr>
          <a:xfrm>
            <a:off x="365750" y="201173"/>
            <a:ext cx="8412600" cy="3108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1900"/>
              <a:buFont typeface="Arial"/>
              <a:buNone/>
            </a:pPr>
            <a:r>
              <a:rPr b="1" lang="en" sz="1900">
                <a:solidFill>
                  <a:srgbClr val="1E4B2B"/>
                </a:solidFill>
                <a:latin typeface="Cambria"/>
                <a:ea typeface="Cambria"/>
                <a:cs typeface="Cambria"/>
                <a:sym typeface="Cambria"/>
              </a:rPr>
              <a:t>User journey</a:t>
            </a:r>
            <a:endParaRPr b="1" sz="1900">
              <a:solidFill>
                <a:srgbClr val="1E4B2B"/>
              </a:solidFill>
              <a:latin typeface="Cambria"/>
              <a:ea typeface="Cambria"/>
              <a:cs typeface="Cambria"/>
              <a:sym typeface="Cambria"/>
            </a:endParaRPr>
          </a:p>
        </p:txBody>
      </p:sp>
      <p:sp>
        <p:nvSpPr>
          <p:cNvPr id="319" name="Google Shape;319;p54"/>
          <p:cNvSpPr txBox="1"/>
          <p:nvPr/>
        </p:nvSpPr>
        <p:spPr>
          <a:xfrm>
            <a:off x="365760" y="512064"/>
            <a:ext cx="8229600" cy="14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i="1" lang="en" sz="950">
                <a:solidFill>
                  <a:srgbClr val="5B6B5E"/>
                </a:solidFill>
                <a:latin typeface="Calibri"/>
                <a:ea typeface="Calibri"/>
                <a:cs typeface="Calibri"/>
                <a:sym typeface="Calibri"/>
              </a:rPr>
              <a:t>A minimal, outdoor-friendly interface built for four simple steps</a:t>
            </a:r>
            <a:endParaRPr i="1" sz="950">
              <a:solidFill>
                <a:srgbClr val="5B6B5E"/>
              </a:solidFill>
              <a:latin typeface="Calibri"/>
              <a:ea typeface="Calibri"/>
              <a:cs typeface="Calibri"/>
              <a:sym typeface="Calibri"/>
            </a:endParaRPr>
          </a:p>
        </p:txBody>
      </p:sp>
      <p:sp>
        <p:nvSpPr>
          <p:cNvPr id="320" name="Google Shape;320;p54"/>
          <p:cNvSpPr/>
          <p:nvPr/>
        </p:nvSpPr>
        <p:spPr>
          <a:xfrm>
            <a:off x="304019" y="2363992"/>
            <a:ext cx="274200" cy="274200"/>
          </a:xfrm>
          <a:prstGeom prst="roundRect">
            <a:avLst>
              <a:gd fmla="val 166667" name="adj"/>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54"/>
          <p:cNvSpPr txBox="1"/>
          <p:nvPr/>
        </p:nvSpPr>
        <p:spPr>
          <a:xfrm>
            <a:off x="304019" y="2363992"/>
            <a:ext cx="2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mbria"/>
                <a:ea typeface="Cambria"/>
                <a:cs typeface="Cambria"/>
                <a:sym typeface="Cambria"/>
              </a:rPr>
              <a:t>1</a:t>
            </a:r>
            <a:endParaRPr b="0" i="0" sz="1100" u="none" cap="none" strike="noStrike">
              <a:solidFill>
                <a:srgbClr val="000000"/>
              </a:solidFill>
              <a:latin typeface="Arial"/>
              <a:ea typeface="Arial"/>
              <a:cs typeface="Arial"/>
              <a:sym typeface="Arial"/>
            </a:endParaRPr>
          </a:p>
        </p:txBody>
      </p:sp>
      <p:sp>
        <p:nvSpPr>
          <p:cNvPr id="322" name="Google Shape;322;p54"/>
          <p:cNvSpPr txBox="1"/>
          <p:nvPr/>
        </p:nvSpPr>
        <p:spPr>
          <a:xfrm>
            <a:off x="688062" y="2345712"/>
            <a:ext cx="23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lang="en" sz="980">
                <a:solidFill>
                  <a:srgbClr val="1E4B2B"/>
                </a:solidFill>
                <a:latin typeface="Cambria"/>
                <a:ea typeface="Cambria"/>
                <a:cs typeface="Cambria"/>
                <a:sym typeface="Cambria"/>
              </a:rPr>
              <a:t>User input</a:t>
            </a:r>
            <a:endParaRPr b="0" i="0" sz="980" u="none" cap="none" strike="noStrike">
              <a:solidFill>
                <a:srgbClr val="000000"/>
              </a:solidFill>
              <a:latin typeface="Arial"/>
              <a:ea typeface="Arial"/>
              <a:cs typeface="Arial"/>
              <a:sym typeface="Arial"/>
            </a:endParaRPr>
          </a:p>
        </p:txBody>
      </p:sp>
      <p:sp>
        <p:nvSpPr>
          <p:cNvPr id="323" name="Google Shape;323;p54"/>
          <p:cNvSpPr txBox="1"/>
          <p:nvPr/>
        </p:nvSpPr>
        <p:spPr>
          <a:xfrm>
            <a:off x="687251" y="2556013"/>
            <a:ext cx="2217600" cy="713100"/>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000000"/>
              </a:buClr>
              <a:buSzPts val="760"/>
              <a:buFont typeface="Arial"/>
              <a:buNone/>
            </a:pPr>
            <a:r>
              <a:rPr lang="en" sz="700">
                <a:solidFill>
                  <a:srgbClr val="17351F"/>
                </a:solidFill>
                <a:latin typeface="Calibri"/>
                <a:ea typeface="Calibri"/>
                <a:cs typeface="Calibri"/>
                <a:sym typeface="Calibri"/>
              </a:rPr>
              <a:t>The user opens the app on their desktop or phone. They see a clean, outdoor-friendly interface with three input options: a photo upload field, a free-text question box, and a region selector. Either the photo or question is </a:t>
            </a:r>
            <a:r>
              <a:rPr lang="en" sz="700">
                <a:solidFill>
                  <a:srgbClr val="17351F"/>
                </a:solidFill>
                <a:latin typeface="Calibri"/>
                <a:ea typeface="Calibri"/>
                <a:cs typeface="Calibri"/>
                <a:sym typeface="Calibri"/>
              </a:rPr>
              <a:t>mandatory</a:t>
            </a:r>
            <a:r>
              <a:rPr lang="en" sz="700">
                <a:solidFill>
                  <a:srgbClr val="17351F"/>
                </a:solidFill>
                <a:latin typeface="Calibri"/>
                <a:ea typeface="Calibri"/>
                <a:cs typeface="Calibri"/>
                <a:sym typeface="Calibri"/>
              </a:rPr>
              <a:t> to trigger the app.</a:t>
            </a:r>
            <a:endParaRPr i="0" sz="700" u="none" cap="none" strike="noStrike">
              <a:solidFill>
                <a:srgbClr val="17351F"/>
              </a:solidFill>
              <a:latin typeface="Calibri"/>
              <a:ea typeface="Calibri"/>
              <a:cs typeface="Calibri"/>
              <a:sym typeface="Calibri"/>
            </a:endParaRPr>
          </a:p>
        </p:txBody>
      </p:sp>
      <p:sp>
        <p:nvSpPr>
          <p:cNvPr id="324" name="Google Shape;324;p54"/>
          <p:cNvSpPr txBox="1"/>
          <p:nvPr/>
        </p:nvSpPr>
        <p:spPr>
          <a:xfrm>
            <a:off x="6309360" y="4864608"/>
            <a:ext cx="2469000" cy="219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50"/>
              <a:buFont typeface="Arial"/>
              <a:buNone/>
            </a:pPr>
            <a:r>
              <a:rPr b="0" i="0" lang="en" sz="750" u="none" cap="none" strike="noStrike">
                <a:solidFill>
                  <a:srgbClr val="5B6B5E"/>
                </a:solidFill>
                <a:latin typeface="Calibri"/>
                <a:ea typeface="Calibri"/>
                <a:cs typeface="Calibri"/>
                <a:sym typeface="Calibri"/>
              </a:rPr>
              <a:t>The UK Field Guide — AI Engineering Bootcamp</a:t>
            </a:r>
            <a:endParaRPr b="0" i="0" sz="750" u="none" cap="none" strike="noStrike">
              <a:solidFill>
                <a:srgbClr val="000000"/>
              </a:solidFill>
              <a:latin typeface="Arial"/>
              <a:ea typeface="Arial"/>
              <a:cs typeface="Arial"/>
              <a:sym typeface="Arial"/>
            </a:endParaRPr>
          </a:p>
        </p:txBody>
      </p:sp>
      <p:sp>
        <p:nvSpPr>
          <p:cNvPr id="325" name="Google Shape;325;p54"/>
          <p:cNvSpPr/>
          <p:nvPr/>
        </p:nvSpPr>
        <p:spPr>
          <a:xfrm>
            <a:off x="1190379" y="1056394"/>
            <a:ext cx="1474500" cy="788700"/>
          </a:xfrm>
          <a:prstGeom prst="roundRect">
            <a:avLst>
              <a:gd fmla="val 16667" name="adj"/>
            </a:avLst>
          </a:prstGeom>
          <a:solidFill>
            <a:srgbClr val="F4F6F7"/>
          </a:solidFill>
          <a:ln cap="flat" cmpd="sng" w="19050">
            <a:solidFill>
              <a:srgbClr val="162B39"/>
            </a:solidFill>
            <a:prstDash val="solid"/>
            <a:round/>
            <a:headEnd len="sm" w="sm" type="none"/>
            <a:tailEnd len="sm" w="sm" type="none"/>
          </a:ln>
          <a:effectLst>
            <a:outerShdw blurRad="40000" rotWithShape="0" dir="5400000" dist="23000">
              <a:srgbClr val="000000">
                <a:alpha val="34900"/>
              </a:srgbClr>
            </a:outerShdw>
          </a:effectLst>
        </p:spPr>
        <p:txBody>
          <a:bodyPr anchorCtr="0" anchor="t" bIns="34275" lIns="109725" spcFirstLastPara="1" rIns="109725" wrap="square" tIns="109725">
            <a:noAutofit/>
          </a:bodyPr>
          <a:lstStyle/>
          <a:p>
            <a:pPr indent="0" lvl="0" marL="0" marR="0" rtl="0" algn="ctr">
              <a:spcBef>
                <a:spcPts val="0"/>
              </a:spcBef>
              <a:spcAft>
                <a:spcPts val="0"/>
              </a:spcAft>
              <a:buNone/>
            </a:pPr>
            <a:r>
              <a:rPr b="1" i="0" lang="en" sz="1100" u="none" cap="none" strike="noStrike">
                <a:solidFill>
                  <a:srgbClr val="162B39"/>
                </a:solidFill>
                <a:latin typeface="Calibri"/>
                <a:ea typeface="Calibri"/>
                <a:cs typeface="Calibri"/>
                <a:sym typeface="Calibri"/>
              </a:rPr>
              <a:t>1  User input</a:t>
            </a:r>
            <a:endParaRPr sz="1100"/>
          </a:p>
          <a:p>
            <a:pPr indent="0" lvl="0" marL="0" marR="0" rtl="0" algn="ctr">
              <a:spcBef>
                <a:spcPts val="0"/>
              </a:spcBef>
              <a:spcAft>
                <a:spcPts val="0"/>
              </a:spcAft>
              <a:buNone/>
            </a:pPr>
            <a:r>
              <a:rPr b="0" i="0" lang="en" sz="800" u="none" cap="none" strike="noStrike">
                <a:solidFill>
                  <a:srgbClr val="162B39"/>
                </a:solidFill>
                <a:latin typeface="Calibri"/>
                <a:ea typeface="Calibri"/>
                <a:cs typeface="Calibri"/>
                <a:sym typeface="Calibri"/>
              </a:rPr>
              <a:t>Photo </a:t>
            </a:r>
            <a:r>
              <a:rPr lang="en" sz="800">
                <a:solidFill>
                  <a:srgbClr val="162B39"/>
                </a:solidFill>
                <a:latin typeface="Calibri"/>
                <a:ea typeface="Calibri"/>
                <a:cs typeface="Calibri"/>
                <a:sym typeface="Calibri"/>
              </a:rPr>
              <a:t>and/or</a:t>
            </a:r>
            <a:r>
              <a:rPr b="0" i="0" lang="en" sz="800" u="none" cap="none" strike="noStrike">
                <a:solidFill>
                  <a:srgbClr val="162B39"/>
                </a:solidFill>
                <a:latin typeface="Calibri"/>
                <a:ea typeface="Calibri"/>
                <a:cs typeface="Calibri"/>
                <a:sym typeface="Calibri"/>
              </a:rPr>
              <a:t> question</a:t>
            </a:r>
            <a:endParaRPr sz="1100"/>
          </a:p>
          <a:p>
            <a:pPr indent="0" lvl="0" marL="0" marR="0" rtl="0" algn="ctr">
              <a:spcBef>
                <a:spcPts val="200"/>
              </a:spcBef>
              <a:spcAft>
                <a:spcPts val="0"/>
              </a:spcAft>
              <a:buNone/>
            </a:pPr>
            <a:r>
              <a:rPr b="0" i="0" lang="en" sz="800" u="none" cap="none" strike="noStrike">
                <a:solidFill>
                  <a:srgbClr val="162B39"/>
                </a:solidFill>
                <a:latin typeface="Calibri"/>
                <a:ea typeface="Calibri"/>
                <a:cs typeface="Calibri"/>
                <a:sym typeface="Calibri"/>
              </a:rPr>
              <a:t>Optional region</a:t>
            </a:r>
            <a:endParaRPr sz="1100"/>
          </a:p>
        </p:txBody>
      </p:sp>
      <p:sp>
        <p:nvSpPr>
          <p:cNvPr id="326" name="Google Shape;326;p54"/>
          <p:cNvSpPr/>
          <p:nvPr/>
        </p:nvSpPr>
        <p:spPr>
          <a:xfrm>
            <a:off x="2904928" y="885240"/>
            <a:ext cx="1611600" cy="512400"/>
          </a:xfrm>
          <a:prstGeom prst="roundRect">
            <a:avLst>
              <a:gd fmla="val 16667" name="adj"/>
            </a:avLst>
          </a:prstGeom>
          <a:solidFill>
            <a:srgbClr val="FAF4E1"/>
          </a:solidFill>
          <a:ln cap="flat" cmpd="sng" w="19050">
            <a:solidFill>
              <a:srgbClr val="CE9D32"/>
            </a:solidFill>
            <a:prstDash val="solid"/>
            <a:round/>
            <a:headEnd len="sm" w="sm" type="none"/>
            <a:tailEnd len="sm" w="sm" type="none"/>
          </a:ln>
          <a:effectLst>
            <a:outerShdw blurRad="40000" rotWithShape="0" dir="5400000" dist="23000">
              <a:srgbClr val="000000">
                <a:alpha val="34900"/>
              </a:srgbClr>
            </a:outerShdw>
          </a:effectLst>
        </p:spPr>
        <p:txBody>
          <a:bodyPr anchorCtr="0" anchor="t" bIns="0" lIns="0" spcFirstLastPara="1" rIns="0" wrap="square" tIns="0">
            <a:noAutofit/>
          </a:bodyPr>
          <a:lstStyle/>
          <a:p>
            <a:pPr indent="0" lvl="0" marL="0" marR="0" rtl="0" algn="ctr">
              <a:spcBef>
                <a:spcPts val="0"/>
              </a:spcBef>
              <a:spcAft>
                <a:spcPts val="0"/>
              </a:spcAft>
              <a:buNone/>
            </a:pPr>
            <a:r>
              <a:rPr b="1" i="0" lang="en" sz="1100" u="none" cap="none" strike="noStrike">
                <a:solidFill>
                  <a:srgbClr val="162B39"/>
                </a:solidFill>
                <a:latin typeface="Calibri"/>
                <a:ea typeface="Calibri"/>
                <a:cs typeface="Calibri"/>
                <a:sym typeface="Calibri"/>
              </a:rPr>
              <a:t>2  Image classification</a:t>
            </a:r>
            <a:endParaRPr sz="1100">
              <a:solidFill>
                <a:srgbClr val="162B39"/>
              </a:solidFill>
            </a:endParaRPr>
          </a:p>
          <a:p>
            <a:pPr indent="0" lvl="0" marL="0" marR="0" rtl="0" algn="ctr">
              <a:spcBef>
                <a:spcPts val="0"/>
              </a:spcBef>
              <a:spcAft>
                <a:spcPts val="0"/>
              </a:spcAft>
              <a:buNone/>
            </a:pPr>
            <a:r>
              <a:rPr b="0" i="0" lang="en" sz="800" u="none" cap="none" strike="noStrike">
                <a:solidFill>
                  <a:srgbClr val="162B39"/>
                </a:solidFill>
                <a:latin typeface="Calibri"/>
                <a:ea typeface="Calibri"/>
                <a:cs typeface="Calibri"/>
                <a:sym typeface="Calibri"/>
              </a:rPr>
              <a:t>iNaturalist CV API</a:t>
            </a:r>
            <a:endParaRPr sz="1100">
              <a:solidFill>
                <a:srgbClr val="162B39"/>
              </a:solidFill>
            </a:endParaRPr>
          </a:p>
          <a:p>
            <a:pPr indent="0" lvl="0" marL="0" marR="0" rtl="0" algn="ctr">
              <a:spcBef>
                <a:spcPts val="200"/>
              </a:spcBef>
              <a:spcAft>
                <a:spcPts val="0"/>
              </a:spcAft>
              <a:buNone/>
            </a:pPr>
            <a:r>
              <a:rPr b="0" i="0" lang="en" sz="800" u="none" cap="none" strike="noStrike">
                <a:solidFill>
                  <a:srgbClr val="162B39"/>
                </a:solidFill>
                <a:latin typeface="Calibri"/>
                <a:ea typeface="Calibri"/>
                <a:cs typeface="Calibri"/>
                <a:sym typeface="Calibri"/>
              </a:rPr>
              <a:t>Top-3 species suggestions</a:t>
            </a:r>
            <a:endParaRPr sz="1100">
              <a:solidFill>
                <a:srgbClr val="162B39"/>
              </a:solidFill>
            </a:endParaRPr>
          </a:p>
        </p:txBody>
      </p:sp>
      <p:sp>
        <p:nvSpPr>
          <p:cNvPr id="327" name="Google Shape;327;p54"/>
          <p:cNvSpPr/>
          <p:nvPr/>
        </p:nvSpPr>
        <p:spPr>
          <a:xfrm>
            <a:off x="6423211" y="1028656"/>
            <a:ext cx="1474500" cy="788700"/>
          </a:xfrm>
          <a:prstGeom prst="roundRect">
            <a:avLst>
              <a:gd fmla="val 16667" name="adj"/>
            </a:avLst>
          </a:prstGeom>
          <a:solidFill>
            <a:srgbClr val="E7F5F7"/>
          </a:solidFill>
          <a:ln cap="flat" cmpd="sng" w="19050">
            <a:solidFill>
              <a:srgbClr val="2A7D87"/>
            </a:solidFill>
            <a:prstDash val="solid"/>
            <a:round/>
            <a:headEnd len="sm" w="sm" type="none"/>
            <a:tailEnd len="sm" w="sm" type="none"/>
          </a:ln>
          <a:effectLst>
            <a:outerShdw blurRad="40000" rotWithShape="0" dir="5400000" dist="23000">
              <a:srgbClr val="000000">
                <a:alpha val="34900"/>
              </a:srgbClr>
            </a:outerShdw>
          </a:effectLst>
        </p:spPr>
        <p:txBody>
          <a:bodyPr anchorCtr="0" anchor="t" bIns="34275" lIns="0" spcFirstLastPara="1" rIns="0" wrap="square" tIns="137150">
            <a:noAutofit/>
          </a:bodyPr>
          <a:lstStyle/>
          <a:p>
            <a:pPr indent="0" lvl="0" marL="0" marR="0" rtl="0" algn="ctr">
              <a:spcBef>
                <a:spcPts val="0"/>
              </a:spcBef>
              <a:spcAft>
                <a:spcPts val="0"/>
              </a:spcAft>
              <a:buNone/>
            </a:pPr>
            <a:r>
              <a:rPr b="1" i="0" lang="en" sz="1100" u="none" cap="none" strike="noStrike">
                <a:solidFill>
                  <a:srgbClr val="162B39"/>
                </a:solidFill>
                <a:latin typeface="Calibri"/>
                <a:ea typeface="Calibri"/>
                <a:cs typeface="Calibri"/>
                <a:sym typeface="Calibri"/>
              </a:rPr>
              <a:t>4  </a:t>
            </a:r>
            <a:r>
              <a:rPr b="1" lang="en" sz="1100">
                <a:solidFill>
                  <a:srgbClr val="162B39"/>
                </a:solidFill>
                <a:latin typeface="Calibri"/>
                <a:ea typeface="Calibri"/>
                <a:cs typeface="Calibri"/>
                <a:sym typeface="Calibri"/>
              </a:rPr>
              <a:t>Keep c</a:t>
            </a:r>
            <a:r>
              <a:rPr b="1" i="0" lang="en" sz="1100" u="none" cap="none" strike="noStrike">
                <a:solidFill>
                  <a:srgbClr val="162B39"/>
                </a:solidFill>
                <a:latin typeface="Calibri"/>
                <a:ea typeface="Calibri"/>
                <a:cs typeface="Calibri"/>
                <a:sym typeface="Calibri"/>
              </a:rPr>
              <a:t>hatting </a:t>
            </a:r>
            <a:endParaRPr b="0" i="0" sz="800" u="none" cap="none" strike="noStrike">
              <a:solidFill>
                <a:srgbClr val="162B39"/>
              </a:solidFill>
              <a:latin typeface="Calibri"/>
              <a:ea typeface="Calibri"/>
              <a:cs typeface="Calibri"/>
              <a:sym typeface="Calibri"/>
            </a:endParaRPr>
          </a:p>
          <a:p>
            <a:pPr indent="0" lvl="0" marL="0" marR="0" rtl="0" algn="ctr">
              <a:spcBef>
                <a:spcPts val="0"/>
              </a:spcBef>
              <a:spcAft>
                <a:spcPts val="0"/>
              </a:spcAft>
              <a:buNone/>
            </a:pPr>
            <a:r>
              <a:rPr lang="en" sz="800">
                <a:solidFill>
                  <a:srgbClr val="17351F"/>
                </a:solidFill>
                <a:latin typeface="Calibri"/>
                <a:ea typeface="Calibri"/>
                <a:cs typeface="Calibri"/>
                <a:sym typeface="Calibri"/>
              </a:rPr>
              <a:t>Keep the conversation going by asking anything</a:t>
            </a:r>
            <a:endParaRPr sz="800">
              <a:solidFill>
                <a:srgbClr val="17351F"/>
              </a:solidFill>
              <a:latin typeface="Calibri"/>
              <a:ea typeface="Calibri"/>
              <a:cs typeface="Calibri"/>
              <a:sym typeface="Calibri"/>
            </a:endParaRPr>
          </a:p>
        </p:txBody>
      </p:sp>
      <p:sp>
        <p:nvSpPr>
          <p:cNvPr id="328" name="Google Shape;328;p54"/>
          <p:cNvSpPr/>
          <p:nvPr/>
        </p:nvSpPr>
        <p:spPr>
          <a:xfrm>
            <a:off x="4756637" y="1028654"/>
            <a:ext cx="1426500" cy="788700"/>
          </a:xfrm>
          <a:prstGeom prst="roundRect">
            <a:avLst>
              <a:gd fmla="val 16667" name="adj"/>
            </a:avLst>
          </a:prstGeom>
          <a:solidFill>
            <a:srgbClr val="E8F4EA"/>
          </a:solidFill>
          <a:ln cap="flat" cmpd="sng" w="19050">
            <a:solidFill>
              <a:srgbClr val="28733D"/>
            </a:solidFill>
            <a:prstDash val="solid"/>
            <a:round/>
            <a:headEnd len="sm" w="sm" type="none"/>
            <a:tailEnd len="sm" w="sm" type="none"/>
          </a:ln>
          <a:effectLst>
            <a:outerShdw blurRad="40000" rotWithShape="0" dir="5400000" dist="23000">
              <a:srgbClr val="000000">
                <a:alpha val="34900"/>
              </a:srgbClr>
            </a:outerShdw>
          </a:effectLst>
        </p:spPr>
        <p:txBody>
          <a:bodyPr anchorCtr="0" anchor="t" bIns="0" lIns="0" spcFirstLastPara="1" rIns="0" wrap="square" tIns="0">
            <a:noAutofit/>
          </a:bodyPr>
          <a:lstStyle/>
          <a:p>
            <a:pPr indent="0" lvl="0" marL="0" marR="0" rtl="0" algn="ctr">
              <a:spcBef>
                <a:spcPts val="0"/>
              </a:spcBef>
              <a:spcAft>
                <a:spcPts val="0"/>
              </a:spcAft>
              <a:buNone/>
            </a:pPr>
            <a:r>
              <a:rPr b="1" lang="en" sz="1100">
                <a:solidFill>
                  <a:srgbClr val="162B39"/>
                </a:solidFill>
                <a:latin typeface="Calibri"/>
                <a:ea typeface="Calibri"/>
                <a:cs typeface="Calibri"/>
                <a:sym typeface="Calibri"/>
              </a:rPr>
              <a:t>3</a:t>
            </a:r>
            <a:r>
              <a:rPr b="1" i="0" lang="en" sz="1100" u="none" cap="none" strike="noStrike">
                <a:solidFill>
                  <a:srgbClr val="162B39"/>
                </a:solidFill>
                <a:latin typeface="Calibri"/>
                <a:ea typeface="Calibri"/>
                <a:cs typeface="Calibri"/>
                <a:sym typeface="Calibri"/>
              </a:rPr>
              <a:t>  First </a:t>
            </a:r>
            <a:r>
              <a:rPr b="1" lang="en" sz="1100">
                <a:solidFill>
                  <a:srgbClr val="162B39"/>
                </a:solidFill>
                <a:latin typeface="Calibri"/>
                <a:ea typeface="Calibri"/>
                <a:cs typeface="Calibri"/>
                <a:sym typeface="Calibri"/>
              </a:rPr>
              <a:t>a</a:t>
            </a:r>
            <a:r>
              <a:rPr b="1" lang="en" sz="1100">
                <a:solidFill>
                  <a:srgbClr val="162B39"/>
                </a:solidFill>
                <a:latin typeface="Calibri"/>
                <a:ea typeface="Calibri"/>
                <a:cs typeface="Calibri"/>
                <a:sym typeface="Calibri"/>
              </a:rPr>
              <a:t>nswer </a:t>
            </a:r>
            <a:endParaRPr b="1" sz="1100">
              <a:solidFill>
                <a:srgbClr val="162B39"/>
              </a:solidFill>
              <a:latin typeface="Calibri"/>
              <a:ea typeface="Calibri"/>
              <a:cs typeface="Calibri"/>
              <a:sym typeface="Calibri"/>
            </a:endParaRPr>
          </a:p>
          <a:p>
            <a:pPr indent="0" lvl="0" marL="0" marR="0" rtl="0" algn="ctr">
              <a:spcBef>
                <a:spcPts val="0"/>
              </a:spcBef>
              <a:spcAft>
                <a:spcPts val="0"/>
              </a:spcAft>
              <a:buNone/>
            </a:pPr>
            <a:r>
              <a:rPr lang="en" sz="800">
                <a:solidFill>
                  <a:srgbClr val="162B39"/>
                </a:solidFill>
                <a:latin typeface="Calibri"/>
                <a:ea typeface="Calibri"/>
                <a:cs typeface="Calibri"/>
                <a:sym typeface="Calibri"/>
              </a:rPr>
              <a:t>Actionable advice</a:t>
            </a:r>
            <a:endParaRPr sz="800">
              <a:solidFill>
                <a:srgbClr val="162B39"/>
              </a:solidFill>
              <a:latin typeface="Calibri"/>
              <a:ea typeface="Calibri"/>
              <a:cs typeface="Calibri"/>
              <a:sym typeface="Calibri"/>
            </a:endParaRPr>
          </a:p>
          <a:p>
            <a:pPr indent="0" lvl="0" marL="0" marR="0" rtl="0" algn="ctr">
              <a:spcBef>
                <a:spcPts val="200"/>
              </a:spcBef>
              <a:spcAft>
                <a:spcPts val="0"/>
              </a:spcAft>
              <a:buNone/>
            </a:pPr>
            <a:r>
              <a:rPr lang="en" sz="800">
                <a:solidFill>
                  <a:srgbClr val="162B39"/>
                </a:solidFill>
                <a:latin typeface="Calibri"/>
                <a:ea typeface="Calibri"/>
                <a:cs typeface="Calibri"/>
                <a:sym typeface="Calibri"/>
              </a:rPr>
              <a:t>Cited sources</a:t>
            </a:r>
            <a:endParaRPr sz="800">
              <a:solidFill>
                <a:srgbClr val="162B39"/>
              </a:solidFill>
              <a:latin typeface="Calibri"/>
              <a:ea typeface="Calibri"/>
              <a:cs typeface="Calibri"/>
              <a:sym typeface="Calibri"/>
            </a:endParaRPr>
          </a:p>
          <a:p>
            <a:pPr indent="0" lvl="0" marL="0" marR="0" rtl="0" algn="ctr">
              <a:spcBef>
                <a:spcPts val="200"/>
              </a:spcBef>
              <a:spcAft>
                <a:spcPts val="0"/>
              </a:spcAft>
              <a:buNone/>
            </a:pPr>
            <a:r>
              <a:rPr lang="en" sz="800">
                <a:solidFill>
                  <a:srgbClr val="162B39"/>
                </a:solidFill>
                <a:latin typeface="Calibri"/>
                <a:ea typeface="Calibri"/>
                <a:cs typeface="Calibri"/>
                <a:sym typeface="Calibri"/>
              </a:rPr>
              <a:t>Risk safety warnings</a:t>
            </a:r>
            <a:endParaRPr sz="800">
              <a:solidFill>
                <a:srgbClr val="162B39"/>
              </a:solidFill>
              <a:latin typeface="Calibri"/>
              <a:ea typeface="Calibri"/>
              <a:cs typeface="Calibri"/>
              <a:sym typeface="Calibri"/>
            </a:endParaRPr>
          </a:p>
        </p:txBody>
      </p:sp>
      <p:sp>
        <p:nvSpPr>
          <p:cNvPr id="329" name="Google Shape;329;p54"/>
          <p:cNvSpPr/>
          <p:nvPr/>
        </p:nvSpPr>
        <p:spPr>
          <a:xfrm>
            <a:off x="2904953" y="1502902"/>
            <a:ext cx="1611600" cy="512400"/>
          </a:xfrm>
          <a:prstGeom prst="roundRect">
            <a:avLst>
              <a:gd fmla="val 16667" name="adj"/>
            </a:avLst>
          </a:prstGeom>
          <a:solidFill>
            <a:srgbClr val="FAF4E1"/>
          </a:solidFill>
          <a:ln cap="flat" cmpd="sng" w="19050">
            <a:solidFill>
              <a:srgbClr val="CE9D32"/>
            </a:solidFill>
            <a:prstDash val="solid"/>
            <a:round/>
            <a:headEnd len="sm" w="sm" type="none"/>
            <a:tailEnd len="sm" w="sm" type="none"/>
          </a:ln>
          <a:effectLst>
            <a:outerShdw blurRad="40000" rotWithShape="0" dir="5400000" dist="23000">
              <a:srgbClr val="000000">
                <a:alpha val="34900"/>
              </a:srgbClr>
            </a:outerShdw>
          </a:effectLst>
        </p:spPr>
        <p:txBody>
          <a:bodyPr anchorCtr="0" anchor="t" bIns="0" lIns="0" spcFirstLastPara="1" rIns="0" wrap="square" tIns="0">
            <a:noAutofit/>
          </a:bodyPr>
          <a:lstStyle/>
          <a:p>
            <a:pPr indent="0" lvl="0" marL="0" marR="0" rtl="0" algn="ctr">
              <a:spcBef>
                <a:spcPts val="0"/>
              </a:spcBef>
              <a:spcAft>
                <a:spcPts val="0"/>
              </a:spcAft>
              <a:buNone/>
            </a:pPr>
            <a:r>
              <a:rPr b="1" i="0" lang="en" sz="1100" u="none" cap="none" strike="noStrike">
                <a:solidFill>
                  <a:srgbClr val="162B39"/>
                </a:solidFill>
                <a:latin typeface="Calibri"/>
                <a:ea typeface="Calibri"/>
                <a:cs typeface="Calibri"/>
                <a:sym typeface="Calibri"/>
              </a:rPr>
              <a:t>2 Text</a:t>
            </a:r>
            <a:r>
              <a:rPr b="1" lang="en" sz="1100">
                <a:solidFill>
                  <a:srgbClr val="162B39"/>
                </a:solidFill>
                <a:latin typeface="Calibri"/>
                <a:ea typeface="Calibri"/>
                <a:cs typeface="Calibri"/>
                <a:sym typeface="Calibri"/>
              </a:rPr>
              <a:t> q</a:t>
            </a:r>
            <a:r>
              <a:rPr b="1" lang="en" sz="1100">
                <a:solidFill>
                  <a:srgbClr val="162B39"/>
                </a:solidFill>
                <a:latin typeface="Calibri"/>
                <a:ea typeface="Calibri"/>
                <a:cs typeface="Calibri"/>
                <a:sym typeface="Calibri"/>
              </a:rPr>
              <a:t>uestion</a:t>
            </a:r>
            <a:endParaRPr sz="1100">
              <a:solidFill>
                <a:srgbClr val="162B39"/>
              </a:solidFill>
            </a:endParaRPr>
          </a:p>
          <a:p>
            <a:pPr indent="0" lvl="0" marL="0" marR="0" rtl="0" algn="ctr">
              <a:spcBef>
                <a:spcPts val="0"/>
              </a:spcBef>
              <a:spcAft>
                <a:spcPts val="0"/>
              </a:spcAft>
              <a:buNone/>
            </a:pPr>
            <a:r>
              <a:rPr lang="en" sz="800">
                <a:solidFill>
                  <a:srgbClr val="162B39"/>
                </a:solidFill>
                <a:latin typeface="Calibri"/>
                <a:ea typeface="Calibri"/>
                <a:cs typeface="Calibri"/>
                <a:sym typeface="Calibri"/>
              </a:rPr>
              <a:t>S</a:t>
            </a:r>
            <a:r>
              <a:rPr lang="en" sz="800">
                <a:solidFill>
                  <a:srgbClr val="162B39"/>
                </a:solidFill>
                <a:latin typeface="Calibri"/>
                <a:ea typeface="Calibri"/>
                <a:cs typeface="Calibri"/>
                <a:sym typeface="Calibri"/>
              </a:rPr>
              <a:t>pecie name or topic is recognized</a:t>
            </a:r>
            <a:endParaRPr sz="800">
              <a:solidFill>
                <a:srgbClr val="162B39"/>
              </a:solidFill>
              <a:latin typeface="Calibri"/>
              <a:ea typeface="Calibri"/>
              <a:cs typeface="Calibri"/>
              <a:sym typeface="Calibri"/>
            </a:endParaRPr>
          </a:p>
          <a:p>
            <a:pPr indent="0" lvl="0" marL="0" marR="0" rtl="0" algn="ctr">
              <a:spcBef>
                <a:spcPts val="0"/>
              </a:spcBef>
              <a:spcAft>
                <a:spcPts val="0"/>
              </a:spcAft>
              <a:buNone/>
            </a:pPr>
            <a:r>
              <a:rPr lang="en" sz="800">
                <a:solidFill>
                  <a:srgbClr val="162B39"/>
                </a:solidFill>
                <a:latin typeface="Calibri"/>
                <a:ea typeface="Calibri"/>
                <a:cs typeface="Calibri"/>
                <a:sym typeface="Calibri"/>
              </a:rPr>
              <a:t>No image classification required</a:t>
            </a:r>
            <a:endParaRPr sz="1100">
              <a:solidFill>
                <a:srgbClr val="162B39"/>
              </a:solidFill>
            </a:endParaRPr>
          </a:p>
        </p:txBody>
      </p:sp>
      <p:sp>
        <p:nvSpPr>
          <p:cNvPr id="330" name="Google Shape;330;p54"/>
          <p:cNvSpPr/>
          <p:nvPr/>
        </p:nvSpPr>
        <p:spPr>
          <a:xfrm>
            <a:off x="3312266" y="2382267"/>
            <a:ext cx="274200" cy="274200"/>
          </a:xfrm>
          <a:prstGeom prst="roundRect">
            <a:avLst>
              <a:gd fmla="val 166667" name="adj"/>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4"/>
          <p:cNvSpPr txBox="1"/>
          <p:nvPr/>
        </p:nvSpPr>
        <p:spPr>
          <a:xfrm>
            <a:off x="3312266" y="2382267"/>
            <a:ext cx="2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rgbClr val="FFFFFF"/>
                </a:solidFill>
                <a:latin typeface="Cambria"/>
                <a:ea typeface="Cambria"/>
                <a:cs typeface="Cambria"/>
                <a:sym typeface="Cambria"/>
              </a:rPr>
              <a:t>2</a:t>
            </a:r>
            <a:endParaRPr b="0" i="0" sz="1100" u="none" cap="none" strike="noStrike">
              <a:solidFill>
                <a:srgbClr val="000000"/>
              </a:solidFill>
              <a:latin typeface="Arial"/>
              <a:ea typeface="Arial"/>
              <a:cs typeface="Arial"/>
              <a:sym typeface="Arial"/>
            </a:endParaRPr>
          </a:p>
        </p:txBody>
      </p:sp>
      <p:sp>
        <p:nvSpPr>
          <p:cNvPr id="332" name="Google Shape;332;p54"/>
          <p:cNvSpPr txBox="1"/>
          <p:nvPr/>
        </p:nvSpPr>
        <p:spPr>
          <a:xfrm>
            <a:off x="3696310" y="2363987"/>
            <a:ext cx="23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lang="en" sz="980">
                <a:solidFill>
                  <a:srgbClr val="1E4B2B"/>
                </a:solidFill>
                <a:latin typeface="Cambria"/>
                <a:ea typeface="Cambria"/>
                <a:cs typeface="Cambria"/>
                <a:sym typeface="Cambria"/>
              </a:rPr>
              <a:t>Image classification</a:t>
            </a:r>
            <a:endParaRPr b="0" i="0" sz="980" u="none" cap="none" strike="noStrike">
              <a:solidFill>
                <a:srgbClr val="000000"/>
              </a:solidFill>
              <a:latin typeface="Arial"/>
              <a:ea typeface="Arial"/>
              <a:cs typeface="Arial"/>
              <a:sym typeface="Arial"/>
            </a:endParaRPr>
          </a:p>
        </p:txBody>
      </p:sp>
      <p:sp>
        <p:nvSpPr>
          <p:cNvPr id="333" name="Google Shape;333;p54"/>
          <p:cNvSpPr txBox="1"/>
          <p:nvPr/>
        </p:nvSpPr>
        <p:spPr>
          <a:xfrm>
            <a:off x="3694725" y="2574288"/>
            <a:ext cx="2217600" cy="713100"/>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000000"/>
              </a:buClr>
              <a:buSzPts val="760"/>
              <a:buFont typeface="Arial"/>
              <a:buNone/>
            </a:pPr>
            <a:r>
              <a:rPr lang="en" sz="700">
                <a:solidFill>
                  <a:srgbClr val="17351F"/>
                </a:solidFill>
                <a:latin typeface="Calibri"/>
                <a:ea typeface="Calibri"/>
                <a:cs typeface="Calibri"/>
                <a:sym typeface="Calibri"/>
              </a:rPr>
              <a:t>The user selects a photo of a plant, insect, fungus, or bird. The system returns the top-3 specie names suggestions with confidence scores, displayed in a species bar above the chat. Only the top confidence score result will be passed into the final answer. </a:t>
            </a:r>
            <a:endParaRPr i="0" sz="700" u="none" cap="none" strike="noStrike">
              <a:solidFill>
                <a:srgbClr val="17351F"/>
              </a:solidFill>
              <a:latin typeface="Calibri"/>
              <a:ea typeface="Calibri"/>
              <a:cs typeface="Calibri"/>
              <a:sym typeface="Calibri"/>
            </a:endParaRPr>
          </a:p>
        </p:txBody>
      </p:sp>
      <p:sp>
        <p:nvSpPr>
          <p:cNvPr id="334" name="Google Shape;334;p54"/>
          <p:cNvSpPr/>
          <p:nvPr/>
        </p:nvSpPr>
        <p:spPr>
          <a:xfrm>
            <a:off x="6218826" y="2363992"/>
            <a:ext cx="274200" cy="274200"/>
          </a:xfrm>
          <a:prstGeom prst="roundRect">
            <a:avLst>
              <a:gd fmla="val 166667" name="adj"/>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54"/>
          <p:cNvSpPr txBox="1"/>
          <p:nvPr/>
        </p:nvSpPr>
        <p:spPr>
          <a:xfrm>
            <a:off x="6218826" y="2363992"/>
            <a:ext cx="2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rgbClr val="FFFFFF"/>
                </a:solidFill>
                <a:latin typeface="Cambria"/>
                <a:ea typeface="Cambria"/>
                <a:cs typeface="Cambria"/>
                <a:sym typeface="Cambria"/>
              </a:rPr>
              <a:t>2</a:t>
            </a:r>
            <a:endParaRPr b="0" i="0" sz="1100" u="none" cap="none" strike="noStrike">
              <a:solidFill>
                <a:srgbClr val="000000"/>
              </a:solidFill>
              <a:latin typeface="Arial"/>
              <a:ea typeface="Arial"/>
              <a:cs typeface="Arial"/>
              <a:sym typeface="Arial"/>
            </a:endParaRPr>
          </a:p>
        </p:txBody>
      </p:sp>
      <p:sp>
        <p:nvSpPr>
          <p:cNvPr id="336" name="Google Shape;336;p54"/>
          <p:cNvSpPr txBox="1"/>
          <p:nvPr/>
        </p:nvSpPr>
        <p:spPr>
          <a:xfrm>
            <a:off x="6602869" y="2345712"/>
            <a:ext cx="23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lang="en" sz="980">
                <a:solidFill>
                  <a:srgbClr val="1E4B2B"/>
                </a:solidFill>
                <a:latin typeface="Cambria"/>
                <a:ea typeface="Cambria"/>
                <a:cs typeface="Cambria"/>
                <a:sym typeface="Cambria"/>
              </a:rPr>
              <a:t>Text question </a:t>
            </a:r>
            <a:endParaRPr b="0" i="0" sz="980" u="none" cap="none" strike="noStrike">
              <a:solidFill>
                <a:srgbClr val="000000"/>
              </a:solidFill>
              <a:latin typeface="Arial"/>
              <a:ea typeface="Arial"/>
              <a:cs typeface="Arial"/>
              <a:sym typeface="Arial"/>
            </a:endParaRPr>
          </a:p>
        </p:txBody>
      </p:sp>
      <p:sp>
        <p:nvSpPr>
          <p:cNvPr id="337" name="Google Shape;337;p54"/>
          <p:cNvSpPr txBox="1"/>
          <p:nvPr/>
        </p:nvSpPr>
        <p:spPr>
          <a:xfrm>
            <a:off x="6597950" y="2556013"/>
            <a:ext cx="2217600" cy="713100"/>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000000"/>
              </a:buClr>
              <a:buSzPts val="760"/>
              <a:buFont typeface="Arial"/>
              <a:buNone/>
            </a:pPr>
            <a:r>
              <a:rPr lang="en" sz="700">
                <a:solidFill>
                  <a:srgbClr val="17351F"/>
                </a:solidFill>
                <a:latin typeface="Calibri"/>
                <a:ea typeface="Calibri"/>
                <a:cs typeface="Calibri"/>
                <a:sym typeface="Calibri"/>
              </a:rPr>
              <a:t>The user types a direct question (e.g., "Tell me about Japanese knotweed") without uploading an image. The system skips image classification. The system can recognize the specie name and topic.</a:t>
            </a:r>
            <a:endParaRPr i="0" sz="700" u="none" cap="none" strike="noStrike">
              <a:solidFill>
                <a:srgbClr val="17351F"/>
              </a:solidFill>
              <a:latin typeface="Calibri"/>
              <a:ea typeface="Calibri"/>
              <a:cs typeface="Calibri"/>
              <a:sym typeface="Calibri"/>
            </a:endParaRPr>
          </a:p>
        </p:txBody>
      </p:sp>
      <p:sp>
        <p:nvSpPr>
          <p:cNvPr id="338" name="Google Shape;338;p54"/>
          <p:cNvSpPr/>
          <p:nvPr/>
        </p:nvSpPr>
        <p:spPr>
          <a:xfrm>
            <a:off x="304026" y="3538908"/>
            <a:ext cx="274200" cy="274200"/>
          </a:xfrm>
          <a:prstGeom prst="roundRect">
            <a:avLst>
              <a:gd fmla="val 166667" name="adj"/>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4"/>
          <p:cNvSpPr txBox="1"/>
          <p:nvPr/>
        </p:nvSpPr>
        <p:spPr>
          <a:xfrm>
            <a:off x="304026" y="3538908"/>
            <a:ext cx="2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rgbClr val="FFFFFF"/>
                </a:solidFill>
                <a:latin typeface="Cambria"/>
                <a:ea typeface="Cambria"/>
                <a:cs typeface="Cambria"/>
                <a:sym typeface="Cambria"/>
              </a:rPr>
              <a:t>3</a:t>
            </a:r>
            <a:endParaRPr b="0" i="0" sz="1100" u="none" cap="none" strike="noStrike">
              <a:solidFill>
                <a:srgbClr val="000000"/>
              </a:solidFill>
              <a:latin typeface="Arial"/>
              <a:ea typeface="Arial"/>
              <a:cs typeface="Arial"/>
              <a:sym typeface="Arial"/>
            </a:endParaRPr>
          </a:p>
        </p:txBody>
      </p:sp>
      <p:sp>
        <p:nvSpPr>
          <p:cNvPr id="340" name="Google Shape;340;p54"/>
          <p:cNvSpPr txBox="1"/>
          <p:nvPr/>
        </p:nvSpPr>
        <p:spPr>
          <a:xfrm>
            <a:off x="688069" y="3520629"/>
            <a:ext cx="23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lang="en" sz="980">
                <a:solidFill>
                  <a:srgbClr val="1E4B2B"/>
                </a:solidFill>
                <a:latin typeface="Cambria"/>
                <a:ea typeface="Cambria"/>
                <a:cs typeface="Cambria"/>
                <a:sym typeface="Cambria"/>
              </a:rPr>
              <a:t>First </a:t>
            </a:r>
            <a:r>
              <a:rPr b="1" i="0" lang="en" sz="980" u="none" cap="none" strike="noStrike">
                <a:solidFill>
                  <a:srgbClr val="1E4B2B"/>
                </a:solidFill>
                <a:latin typeface="Cambria"/>
                <a:ea typeface="Cambria"/>
                <a:cs typeface="Cambria"/>
                <a:sym typeface="Cambria"/>
              </a:rPr>
              <a:t>Answer</a:t>
            </a:r>
            <a:endParaRPr b="0" i="0" sz="980" u="none" cap="none" strike="noStrike">
              <a:solidFill>
                <a:srgbClr val="000000"/>
              </a:solidFill>
              <a:latin typeface="Arial"/>
              <a:ea typeface="Arial"/>
              <a:cs typeface="Arial"/>
              <a:sym typeface="Arial"/>
            </a:endParaRPr>
          </a:p>
        </p:txBody>
      </p:sp>
      <p:sp>
        <p:nvSpPr>
          <p:cNvPr id="341" name="Google Shape;341;p54"/>
          <p:cNvSpPr txBox="1"/>
          <p:nvPr/>
        </p:nvSpPr>
        <p:spPr>
          <a:xfrm>
            <a:off x="683150" y="3737504"/>
            <a:ext cx="5323200" cy="713100"/>
          </a:xfrm>
          <a:prstGeom prst="rect">
            <a:avLst/>
          </a:prstGeom>
          <a:noFill/>
          <a:ln>
            <a:noFill/>
          </a:ln>
        </p:spPr>
        <p:txBody>
          <a:bodyPr anchorCtr="0" anchor="t" bIns="0" lIns="0" spcFirstLastPara="1" rIns="0" wrap="square" tIns="0">
            <a:noAutofit/>
          </a:bodyPr>
          <a:lstStyle/>
          <a:p>
            <a:pPr indent="0" lvl="0" marL="0" rtl="0" algn="l">
              <a:lnSpc>
                <a:spcPct val="114000"/>
              </a:lnSpc>
              <a:spcBef>
                <a:spcPts val="0"/>
              </a:spcBef>
              <a:spcAft>
                <a:spcPts val="0"/>
              </a:spcAft>
              <a:buClr>
                <a:schemeClr val="dk1"/>
              </a:buClr>
              <a:buSzPts val="760"/>
              <a:buFont typeface="Arial"/>
              <a:buNone/>
            </a:pPr>
            <a:r>
              <a:rPr lang="en" sz="700">
                <a:solidFill>
                  <a:srgbClr val="17351F"/>
                </a:solidFill>
                <a:latin typeface="Calibri"/>
                <a:ea typeface="Calibri"/>
                <a:cs typeface="Calibri"/>
                <a:sym typeface="Calibri"/>
              </a:rPr>
              <a:t>While the system reasons through the answer, the app streams a collapsible "thinking trace" so the user can watch each step unfold live.</a:t>
            </a:r>
            <a:endParaRPr sz="700">
              <a:solidFill>
                <a:srgbClr val="17351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700">
                <a:solidFill>
                  <a:srgbClr val="17351F"/>
                </a:solidFill>
                <a:latin typeface="Calibri"/>
                <a:ea typeface="Calibri"/>
                <a:cs typeface="Calibri"/>
                <a:sym typeface="Calibri"/>
              </a:rPr>
              <a:t>The system then combines everything it found, the field-guide details and the regional status check, into one clear, final answer.</a:t>
            </a:r>
            <a:endParaRPr sz="700">
              <a:solidFill>
                <a:srgbClr val="17351F"/>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700">
                <a:solidFill>
                  <a:srgbClr val="17351F"/>
                </a:solidFill>
                <a:latin typeface="Calibri"/>
                <a:ea typeface="Calibri"/>
                <a:cs typeface="Calibri"/>
                <a:sym typeface="Calibri"/>
              </a:rPr>
              <a:t>The output includes:</a:t>
            </a:r>
            <a:endParaRPr sz="700">
              <a:solidFill>
                <a:srgbClr val="17351F"/>
              </a:solidFill>
              <a:latin typeface="Calibri"/>
              <a:ea typeface="Calibri"/>
              <a:cs typeface="Calibri"/>
              <a:sym typeface="Calibri"/>
            </a:endParaRPr>
          </a:p>
          <a:p>
            <a:pPr indent="-90170" lvl="0" marL="274320" rtl="0" algn="l">
              <a:spcBef>
                <a:spcPts val="0"/>
              </a:spcBef>
              <a:spcAft>
                <a:spcPts val="0"/>
              </a:spcAft>
              <a:buClr>
                <a:srgbClr val="17351F"/>
              </a:buClr>
              <a:buSzPts val="700"/>
              <a:buFont typeface="Calibri"/>
              <a:buChar char="●"/>
            </a:pPr>
            <a:r>
              <a:rPr lang="en" sz="700">
                <a:solidFill>
                  <a:srgbClr val="17351F"/>
                </a:solidFill>
                <a:latin typeface="Calibri"/>
                <a:ea typeface="Calibri"/>
                <a:cs typeface="Calibri"/>
                <a:sym typeface="Calibri"/>
              </a:rPr>
              <a:t>Actionable advice tailored to the user's query.</a:t>
            </a:r>
            <a:endParaRPr sz="700">
              <a:solidFill>
                <a:srgbClr val="17351F"/>
              </a:solidFill>
              <a:latin typeface="Calibri"/>
              <a:ea typeface="Calibri"/>
              <a:cs typeface="Calibri"/>
              <a:sym typeface="Calibri"/>
            </a:endParaRPr>
          </a:p>
          <a:p>
            <a:pPr indent="-90170" lvl="0" marL="274320" rtl="0" algn="l">
              <a:spcBef>
                <a:spcPts val="0"/>
              </a:spcBef>
              <a:spcAft>
                <a:spcPts val="0"/>
              </a:spcAft>
              <a:buClr>
                <a:srgbClr val="17351F"/>
              </a:buClr>
              <a:buSzPts val="700"/>
              <a:buFont typeface="Calibri"/>
              <a:buChar char="●"/>
            </a:pPr>
            <a:r>
              <a:rPr lang="en" sz="700">
                <a:solidFill>
                  <a:srgbClr val="17351F"/>
                </a:solidFill>
                <a:latin typeface="Calibri"/>
                <a:ea typeface="Calibri"/>
                <a:cs typeface="Calibri"/>
                <a:sym typeface="Calibri"/>
              </a:rPr>
              <a:t>Inline citations linking back to specific sources for transparency.</a:t>
            </a:r>
            <a:endParaRPr sz="700">
              <a:solidFill>
                <a:srgbClr val="17351F"/>
              </a:solidFill>
              <a:latin typeface="Calibri"/>
              <a:ea typeface="Calibri"/>
              <a:cs typeface="Calibri"/>
              <a:sym typeface="Calibri"/>
            </a:endParaRPr>
          </a:p>
          <a:p>
            <a:pPr indent="-90170" lvl="0" marL="274320" rtl="0" algn="l">
              <a:spcBef>
                <a:spcPts val="0"/>
              </a:spcBef>
              <a:spcAft>
                <a:spcPts val="0"/>
              </a:spcAft>
              <a:buClr>
                <a:srgbClr val="17351F"/>
              </a:buClr>
              <a:buSzPts val="700"/>
              <a:buFont typeface="Calibri"/>
              <a:buChar char="●"/>
            </a:pPr>
            <a:r>
              <a:rPr lang="en" sz="700">
                <a:solidFill>
                  <a:srgbClr val="17351F"/>
                </a:solidFill>
                <a:latin typeface="Calibri"/>
                <a:ea typeface="Calibri"/>
                <a:cs typeface="Calibri"/>
                <a:sym typeface="Calibri"/>
              </a:rPr>
              <a:t>Safety warnings (e.g., invasive species alerts) which are enforced in code to never left to model judgement.</a:t>
            </a:r>
            <a:endParaRPr sz="700">
              <a:solidFill>
                <a:srgbClr val="17351F"/>
              </a:solidFill>
              <a:latin typeface="Calibri"/>
              <a:ea typeface="Calibri"/>
              <a:cs typeface="Calibri"/>
              <a:sym typeface="Calibri"/>
            </a:endParaRPr>
          </a:p>
        </p:txBody>
      </p:sp>
      <p:sp>
        <p:nvSpPr>
          <p:cNvPr id="342" name="Google Shape;342;p54"/>
          <p:cNvSpPr/>
          <p:nvPr/>
        </p:nvSpPr>
        <p:spPr>
          <a:xfrm>
            <a:off x="6218816" y="3499168"/>
            <a:ext cx="274200" cy="274200"/>
          </a:xfrm>
          <a:prstGeom prst="roundRect">
            <a:avLst>
              <a:gd fmla="val 166667" name="adj"/>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54"/>
          <p:cNvSpPr txBox="1"/>
          <p:nvPr/>
        </p:nvSpPr>
        <p:spPr>
          <a:xfrm>
            <a:off x="6218816" y="3499168"/>
            <a:ext cx="2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rgbClr val="FFFFFF"/>
                </a:solidFill>
                <a:latin typeface="Cambria"/>
                <a:ea typeface="Cambria"/>
                <a:cs typeface="Cambria"/>
                <a:sym typeface="Cambria"/>
              </a:rPr>
              <a:t>4</a:t>
            </a:r>
            <a:endParaRPr b="0" i="0" sz="1100" u="none" cap="none" strike="noStrike">
              <a:solidFill>
                <a:srgbClr val="000000"/>
              </a:solidFill>
              <a:latin typeface="Arial"/>
              <a:ea typeface="Arial"/>
              <a:cs typeface="Arial"/>
              <a:sym typeface="Arial"/>
            </a:endParaRPr>
          </a:p>
        </p:txBody>
      </p:sp>
      <p:sp>
        <p:nvSpPr>
          <p:cNvPr id="344" name="Google Shape;344;p54"/>
          <p:cNvSpPr txBox="1"/>
          <p:nvPr/>
        </p:nvSpPr>
        <p:spPr>
          <a:xfrm>
            <a:off x="6602860" y="3480888"/>
            <a:ext cx="23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lang="en" sz="980">
                <a:solidFill>
                  <a:srgbClr val="1E4B2B"/>
                </a:solidFill>
                <a:latin typeface="Cambria"/>
                <a:ea typeface="Cambria"/>
                <a:cs typeface="Cambria"/>
                <a:sym typeface="Cambria"/>
              </a:rPr>
              <a:t>Keep chatting</a:t>
            </a:r>
            <a:endParaRPr b="0" i="0" sz="980" u="none" cap="none" strike="noStrike">
              <a:solidFill>
                <a:srgbClr val="000000"/>
              </a:solidFill>
              <a:latin typeface="Arial"/>
              <a:ea typeface="Arial"/>
              <a:cs typeface="Arial"/>
              <a:sym typeface="Arial"/>
            </a:endParaRPr>
          </a:p>
        </p:txBody>
      </p:sp>
      <p:sp>
        <p:nvSpPr>
          <p:cNvPr id="345" name="Google Shape;345;p54"/>
          <p:cNvSpPr txBox="1"/>
          <p:nvPr/>
        </p:nvSpPr>
        <p:spPr>
          <a:xfrm>
            <a:off x="6601275" y="3691175"/>
            <a:ext cx="2177100" cy="713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700">
                <a:solidFill>
                  <a:srgbClr val="17351F"/>
                </a:solidFill>
                <a:latin typeface="Calibri"/>
                <a:ea typeface="Calibri"/>
                <a:cs typeface="Calibri"/>
                <a:sym typeface="Calibri"/>
              </a:rPr>
              <a:t>The user keeps typing in the same chat, just like a normal chatbot conversation. The system understands follow-ups, </a:t>
            </a:r>
            <a:r>
              <a:rPr lang="en" sz="700">
                <a:solidFill>
                  <a:srgbClr val="17351F"/>
                </a:solidFill>
                <a:latin typeface="Calibri"/>
                <a:ea typeface="Calibri"/>
                <a:cs typeface="Calibri"/>
                <a:sym typeface="Calibri"/>
              </a:rPr>
              <a:t>detailed</a:t>
            </a:r>
            <a:r>
              <a:rPr lang="en" sz="700">
                <a:solidFill>
                  <a:srgbClr val="17351F"/>
                </a:solidFill>
                <a:latin typeface="Calibri"/>
                <a:ea typeface="Calibri"/>
                <a:cs typeface="Calibri"/>
                <a:sym typeface="Calibri"/>
              </a:rPr>
              <a:t> questions, a new species, or a comparison without needing another photo, and replies stays in the same thread.</a:t>
            </a:r>
            <a:endParaRPr sz="700">
              <a:solidFill>
                <a:srgbClr val="17351F"/>
              </a:solidFill>
              <a:latin typeface="Calibri"/>
              <a:ea typeface="Calibri"/>
              <a:cs typeface="Calibri"/>
              <a:sym typeface="Calibri"/>
            </a:endParaRPr>
          </a:p>
        </p:txBody>
      </p:sp>
      <p:cxnSp>
        <p:nvCxnSpPr>
          <p:cNvPr id="346" name="Google Shape;346;p54"/>
          <p:cNvCxnSpPr>
            <a:stCxn id="325" idx="3"/>
            <a:endCxn id="326" idx="1"/>
          </p:cNvCxnSpPr>
          <p:nvPr/>
        </p:nvCxnSpPr>
        <p:spPr>
          <a:xfrm flipH="1" rot="10800000">
            <a:off x="2664879" y="1141444"/>
            <a:ext cx="240000" cy="309300"/>
          </a:xfrm>
          <a:prstGeom prst="straightConnector1">
            <a:avLst/>
          </a:prstGeom>
          <a:noFill/>
          <a:ln cap="flat" cmpd="sng" w="19050">
            <a:solidFill>
              <a:schemeClr val="dk2"/>
            </a:solidFill>
            <a:prstDash val="solid"/>
            <a:round/>
            <a:headEnd len="med" w="med" type="none"/>
            <a:tailEnd len="med" w="med" type="triangle"/>
          </a:ln>
        </p:spPr>
      </p:cxnSp>
      <p:cxnSp>
        <p:nvCxnSpPr>
          <p:cNvPr id="347" name="Google Shape;347;p54"/>
          <p:cNvCxnSpPr>
            <a:stCxn id="325" idx="3"/>
            <a:endCxn id="329" idx="1"/>
          </p:cNvCxnSpPr>
          <p:nvPr/>
        </p:nvCxnSpPr>
        <p:spPr>
          <a:xfrm>
            <a:off x="2664879" y="1450744"/>
            <a:ext cx="240000" cy="308400"/>
          </a:xfrm>
          <a:prstGeom prst="straightConnector1">
            <a:avLst/>
          </a:prstGeom>
          <a:noFill/>
          <a:ln cap="flat" cmpd="sng" w="19050">
            <a:solidFill>
              <a:schemeClr val="dk2"/>
            </a:solidFill>
            <a:prstDash val="solid"/>
            <a:round/>
            <a:headEnd len="med" w="med" type="none"/>
            <a:tailEnd len="med" w="med" type="triangle"/>
          </a:ln>
        </p:spPr>
      </p:cxnSp>
      <p:cxnSp>
        <p:nvCxnSpPr>
          <p:cNvPr id="348" name="Google Shape;348;p54"/>
          <p:cNvCxnSpPr>
            <a:stCxn id="326" idx="3"/>
            <a:endCxn id="328" idx="1"/>
          </p:cNvCxnSpPr>
          <p:nvPr/>
        </p:nvCxnSpPr>
        <p:spPr>
          <a:xfrm>
            <a:off x="4516528" y="1141440"/>
            <a:ext cx="240000" cy="281700"/>
          </a:xfrm>
          <a:prstGeom prst="straightConnector1">
            <a:avLst/>
          </a:prstGeom>
          <a:noFill/>
          <a:ln cap="flat" cmpd="sng" w="19050">
            <a:solidFill>
              <a:schemeClr val="dk2"/>
            </a:solidFill>
            <a:prstDash val="solid"/>
            <a:round/>
            <a:headEnd len="med" w="med" type="none"/>
            <a:tailEnd len="med" w="med" type="triangle"/>
          </a:ln>
        </p:spPr>
      </p:cxnSp>
      <p:cxnSp>
        <p:nvCxnSpPr>
          <p:cNvPr id="349" name="Google Shape;349;p54"/>
          <p:cNvCxnSpPr>
            <a:stCxn id="329" idx="3"/>
            <a:endCxn id="328" idx="1"/>
          </p:cNvCxnSpPr>
          <p:nvPr/>
        </p:nvCxnSpPr>
        <p:spPr>
          <a:xfrm flipH="1" rot="10800000">
            <a:off x="4516553" y="1423102"/>
            <a:ext cx="240000" cy="336000"/>
          </a:xfrm>
          <a:prstGeom prst="straightConnector1">
            <a:avLst/>
          </a:prstGeom>
          <a:noFill/>
          <a:ln cap="flat" cmpd="sng" w="19050">
            <a:solidFill>
              <a:schemeClr val="dk2"/>
            </a:solidFill>
            <a:prstDash val="solid"/>
            <a:round/>
            <a:headEnd len="med" w="med" type="none"/>
            <a:tailEnd len="med" w="med" type="triangle"/>
          </a:ln>
        </p:spPr>
      </p:cxnSp>
      <p:cxnSp>
        <p:nvCxnSpPr>
          <p:cNvPr id="350" name="Google Shape;350;p54"/>
          <p:cNvCxnSpPr>
            <a:stCxn id="328" idx="3"/>
            <a:endCxn id="327" idx="1"/>
          </p:cNvCxnSpPr>
          <p:nvPr/>
        </p:nvCxnSpPr>
        <p:spPr>
          <a:xfrm>
            <a:off x="6183137" y="1423004"/>
            <a:ext cx="240000" cy="0"/>
          </a:xfrm>
          <a:prstGeom prst="straightConnector1">
            <a:avLst/>
          </a:prstGeom>
          <a:noFill/>
          <a:ln cap="flat" cmpd="sng" w="19050">
            <a:solidFill>
              <a:schemeClr val="dk2"/>
            </a:solidFill>
            <a:prstDash val="solid"/>
            <a:round/>
            <a:headEnd len="med" w="med" type="none"/>
            <a:tailEnd len="med" w="med" type="triangle"/>
          </a:ln>
        </p:spPr>
      </p:cxnSp>
      <p:sp>
        <p:nvSpPr>
          <p:cNvPr id="351" name="Google Shape;351;p54"/>
          <p:cNvSpPr txBox="1"/>
          <p:nvPr>
            <p:ph idx="12" type="sldNum"/>
          </p:nvPr>
        </p:nvSpPr>
        <p:spPr>
          <a:xfrm>
            <a:off x="7424928" y="4837176"/>
            <a:ext cx="16002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sz="800">
                <a:solidFill>
                  <a:srgbClr val="5B6B5E"/>
                </a:solidFill>
              </a:rPr>
              <a:t>‹#›</a:t>
            </a:fld>
            <a:endParaRPr sz="800">
              <a:solidFill>
                <a:srgbClr val="5B6B5E"/>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sp>
        <p:nvSpPr>
          <p:cNvPr id="356" name="Google Shape;356;p55"/>
          <p:cNvSpPr txBox="1"/>
          <p:nvPr/>
        </p:nvSpPr>
        <p:spPr>
          <a:xfrm>
            <a:off x="365750" y="201173"/>
            <a:ext cx="8412600" cy="3108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1900"/>
              <a:buFont typeface="Arial"/>
              <a:buNone/>
            </a:pPr>
            <a:r>
              <a:rPr b="1" lang="en" sz="1900">
                <a:solidFill>
                  <a:srgbClr val="1E4B2B"/>
                </a:solidFill>
                <a:latin typeface="Cambria"/>
                <a:ea typeface="Cambria"/>
                <a:cs typeface="Cambria"/>
                <a:sym typeface="Cambria"/>
              </a:rPr>
              <a:t>Inside the pipeline</a:t>
            </a:r>
            <a:endParaRPr b="1" sz="1900">
              <a:solidFill>
                <a:srgbClr val="1E4B2B"/>
              </a:solidFill>
              <a:latin typeface="Cambria"/>
              <a:ea typeface="Cambria"/>
              <a:cs typeface="Cambria"/>
              <a:sym typeface="Cambria"/>
            </a:endParaRPr>
          </a:p>
        </p:txBody>
      </p:sp>
      <p:sp>
        <p:nvSpPr>
          <p:cNvPr id="357" name="Google Shape;357;p55"/>
          <p:cNvSpPr txBox="1"/>
          <p:nvPr/>
        </p:nvSpPr>
        <p:spPr>
          <a:xfrm>
            <a:off x="4761823" y="2536033"/>
            <a:ext cx="1776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lang="en" sz="900">
                <a:solidFill>
                  <a:srgbClr val="1E4B2B"/>
                </a:solidFill>
                <a:latin typeface="Cambria"/>
                <a:ea typeface="Cambria"/>
                <a:cs typeface="Cambria"/>
                <a:sym typeface="Cambria"/>
              </a:rPr>
              <a:t>Wildlife Agent</a:t>
            </a:r>
            <a:endParaRPr b="1" i="0" sz="900" u="none" cap="none" strike="noStrike">
              <a:solidFill>
                <a:srgbClr val="1E4B2B"/>
              </a:solidFill>
              <a:latin typeface="Cambria"/>
              <a:ea typeface="Cambria"/>
              <a:cs typeface="Cambria"/>
              <a:sym typeface="Cambria"/>
            </a:endParaRPr>
          </a:p>
        </p:txBody>
      </p:sp>
      <p:sp>
        <p:nvSpPr>
          <p:cNvPr id="358" name="Google Shape;358;p55"/>
          <p:cNvSpPr txBox="1"/>
          <p:nvPr/>
        </p:nvSpPr>
        <p:spPr>
          <a:xfrm>
            <a:off x="4761016" y="2746333"/>
            <a:ext cx="1856400" cy="713100"/>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000000"/>
              </a:buClr>
              <a:buSzPts val="760"/>
              <a:buFont typeface="Arial"/>
              <a:buNone/>
            </a:pPr>
            <a:r>
              <a:rPr lang="en" sz="700">
                <a:solidFill>
                  <a:srgbClr val="17351F"/>
                </a:solidFill>
                <a:latin typeface="Calibri"/>
                <a:ea typeface="Calibri"/>
                <a:cs typeface="Calibri"/>
                <a:sym typeface="Calibri"/>
              </a:rPr>
              <a:t>The core orchestrator is the </a:t>
            </a:r>
            <a:r>
              <a:rPr lang="en" sz="700">
                <a:solidFill>
                  <a:srgbClr val="17351F"/>
                </a:solidFill>
                <a:latin typeface="Calibri"/>
                <a:ea typeface="Calibri"/>
                <a:cs typeface="Calibri"/>
                <a:sym typeface="Calibri"/>
              </a:rPr>
              <a:t>Wildlife agent </a:t>
            </a:r>
            <a:r>
              <a:rPr lang="en" sz="700">
                <a:solidFill>
                  <a:srgbClr val="17351F"/>
                </a:solidFill>
                <a:latin typeface="Calibri"/>
                <a:ea typeface="Calibri"/>
                <a:cs typeface="Calibri"/>
                <a:sym typeface="Calibri"/>
              </a:rPr>
              <a:t>(Agent 1). This LLM-powered agent receives the vision results or a direct question, </a:t>
            </a:r>
            <a:r>
              <a:rPr lang="en" sz="700">
                <a:solidFill>
                  <a:srgbClr val="17351F"/>
                </a:solidFill>
                <a:latin typeface="Calibri"/>
                <a:ea typeface="Calibri"/>
                <a:cs typeface="Calibri"/>
                <a:sym typeface="Calibri"/>
              </a:rPr>
              <a:t>selects the right tools, builds a self-contained query, and begins its reasoning.</a:t>
            </a:r>
            <a:endParaRPr sz="700">
              <a:solidFill>
                <a:srgbClr val="17351F"/>
              </a:solidFill>
              <a:latin typeface="Calibri"/>
              <a:ea typeface="Calibri"/>
              <a:cs typeface="Calibri"/>
              <a:sym typeface="Calibri"/>
            </a:endParaRPr>
          </a:p>
        </p:txBody>
      </p:sp>
      <p:sp>
        <p:nvSpPr>
          <p:cNvPr id="359" name="Google Shape;359;p55"/>
          <p:cNvSpPr txBox="1"/>
          <p:nvPr/>
        </p:nvSpPr>
        <p:spPr>
          <a:xfrm>
            <a:off x="6309360" y="4864608"/>
            <a:ext cx="2469000" cy="219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50"/>
              <a:buFont typeface="Arial"/>
              <a:buNone/>
            </a:pPr>
            <a:r>
              <a:rPr b="0" i="0" lang="en" sz="750" u="none" cap="none" strike="noStrike">
                <a:solidFill>
                  <a:srgbClr val="5B6B5E"/>
                </a:solidFill>
                <a:latin typeface="Calibri"/>
                <a:ea typeface="Calibri"/>
                <a:cs typeface="Calibri"/>
                <a:sym typeface="Calibri"/>
              </a:rPr>
              <a:t>The UK Field Guide — AI Engineering Bootcamp</a:t>
            </a:r>
            <a:endParaRPr b="0" i="0" sz="750" u="none" cap="none" strike="noStrike">
              <a:solidFill>
                <a:srgbClr val="000000"/>
              </a:solidFill>
              <a:latin typeface="Arial"/>
              <a:ea typeface="Arial"/>
              <a:cs typeface="Arial"/>
              <a:sym typeface="Arial"/>
            </a:endParaRPr>
          </a:p>
        </p:txBody>
      </p:sp>
      <p:sp>
        <p:nvSpPr>
          <p:cNvPr id="360" name="Google Shape;360;p55"/>
          <p:cNvSpPr txBox="1"/>
          <p:nvPr/>
        </p:nvSpPr>
        <p:spPr>
          <a:xfrm>
            <a:off x="438252" y="2547783"/>
            <a:ext cx="18564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lang="en" sz="900">
                <a:solidFill>
                  <a:srgbClr val="1E4B2B"/>
                </a:solidFill>
                <a:latin typeface="Cambria"/>
                <a:ea typeface="Cambria"/>
                <a:cs typeface="Cambria"/>
                <a:sym typeface="Cambria"/>
              </a:rPr>
              <a:t>Vision and Text</a:t>
            </a:r>
            <a:r>
              <a:rPr b="1" lang="en" sz="900">
                <a:solidFill>
                  <a:srgbClr val="1E4B2B"/>
                </a:solidFill>
                <a:latin typeface="Cambria"/>
                <a:ea typeface="Cambria"/>
                <a:cs typeface="Cambria"/>
                <a:sym typeface="Cambria"/>
              </a:rPr>
              <a:t> Input</a:t>
            </a:r>
            <a:endParaRPr b="1" i="0" sz="900" u="none" cap="none" strike="noStrike">
              <a:solidFill>
                <a:srgbClr val="1E4B2B"/>
              </a:solidFill>
              <a:latin typeface="Cambria"/>
              <a:ea typeface="Cambria"/>
              <a:cs typeface="Cambria"/>
              <a:sym typeface="Cambria"/>
            </a:endParaRPr>
          </a:p>
        </p:txBody>
      </p:sp>
      <p:sp>
        <p:nvSpPr>
          <p:cNvPr id="361" name="Google Shape;361;p55"/>
          <p:cNvSpPr txBox="1"/>
          <p:nvPr/>
        </p:nvSpPr>
        <p:spPr>
          <a:xfrm>
            <a:off x="438250" y="2758083"/>
            <a:ext cx="1856400" cy="713100"/>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000000"/>
              </a:buClr>
              <a:buSzPts val="760"/>
              <a:buFont typeface="Arial"/>
              <a:buNone/>
            </a:pPr>
            <a:r>
              <a:rPr lang="en" sz="700">
                <a:solidFill>
                  <a:srgbClr val="17351F"/>
                </a:solidFill>
                <a:latin typeface="Calibri"/>
                <a:ea typeface="Calibri"/>
                <a:cs typeface="Calibri"/>
                <a:sym typeface="Calibri"/>
              </a:rPr>
              <a:t>The process begins when the user submits a photograph or a question and an optional region. This multimodal input serves as the trigger for the entire workflow.</a:t>
            </a:r>
            <a:endParaRPr i="0" sz="700" u="none" cap="none" strike="noStrike">
              <a:solidFill>
                <a:srgbClr val="17351F"/>
              </a:solidFill>
              <a:latin typeface="Calibri"/>
              <a:ea typeface="Calibri"/>
              <a:cs typeface="Calibri"/>
              <a:sym typeface="Calibri"/>
            </a:endParaRPr>
          </a:p>
        </p:txBody>
      </p:sp>
      <p:sp>
        <p:nvSpPr>
          <p:cNvPr id="362" name="Google Shape;362;p55"/>
          <p:cNvSpPr txBox="1"/>
          <p:nvPr/>
        </p:nvSpPr>
        <p:spPr>
          <a:xfrm>
            <a:off x="440779" y="3629932"/>
            <a:ext cx="23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lang="en" sz="900">
                <a:solidFill>
                  <a:srgbClr val="1E4B2B"/>
                </a:solidFill>
                <a:latin typeface="Cambria"/>
                <a:ea typeface="Cambria"/>
                <a:cs typeface="Cambria"/>
                <a:sym typeface="Cambria"/>
              </a:rPr>
              <a:t>Species RAG</a:t>
            </a:r>
            <a:endParaRPr b="1" i="0" sz="900" u="none" cap="none" strike="noStrike">
              <a:solidFill>
                <a:srgbClr val="1E4B2B"/>
              </a:solidFill>
              <a:latin typeface="Cambria"/>
              <a:ea typeface="Cambria"/>
              <a:cs typeface="Cambria"/>
              <a:sym typeface="Cambria"/>
            </a:endParaRPr>
          </a:p>
        </p:txBody>
      </p:sp>
      <p:sp>
        <p:nvSpPr>
          <p:cNvPr id="363" name="Google Shape;363;p55"/>
          <p:cNvSpPr txBox="1"/>
          <p:nvPr/>
        </p:nvSpPr>
        <p:spPr>
          <a:xfrm>
            <a:off x="439950" y="3821738"/>
            <a:ext cx="1856400" cy="960300"/>
          </a:xfrm>
          <a:prstGeom prst="rect">
            <a:avLst/>
          </a:prstGeom>
          <a:noFill/>
          <a:ln>
            <a:noFill/>
          </a:ln>
        </p:spPr>
        <p:txBody>
          <a:bodyPr anchorCtr="0" anchor="t" bIns="0" lIns="0" spcFirstLastPara="1" rIns="0" wrap="square" tIns="0">
            <a:noAutofit/>
          </a:bodyPr>
          <a:lstStyle/>
          <a:p>
            <a:pPr indent="0" lvl="0" marL="0" rtl="0" algn="l">
              <a:lnSpc>
                <a:spcPct val="114000"/>
              </a:lnSpc>
              <a:spcBef>
                <a:spcPts val="0"/>
              </a:spcBef>
              <a:spcAft>
                <a:spcPts val="0"/>
              </a:spcAft>
              <a:buClr>
                <a:schemeClr val="dk1"/>
              </a:buClr>
              <a:buSzPts val="760"/>
              <a:buFont typeface="Arial"/>
              <a:buNone/>
            </a:pPr>
            <a:r>
              <a:rPr lang="en" sz="700">
                <a:solidFill>
                  <a:srgbClr val="17351F"/>
                </a:solidFill>
                <a:latin typeface="Calibri"/>
                <a:ea typeface="Calibri"/>
                <a:cs typeface="Calibri"/>
                <a:sym typeface="Calibri"/>
              </a:rPr>
              <a:t>The Wildlife agent queries the Chroma vector database, which holds the curated field-guide corpus of species accounts. It pulls the 15 most relevant passages, then narrows them down to the 7 best matches, so the agent only works with the highest-quality, most focused information.</a:t>
            </a:r>
            <a:endParaRPr i="0" sz="700" u="none" cap="none" strike="noStrike">
              <a:solidFill>
                <a:srgbClr val="17351F"/>
              </a:solidFill>
              <a:latin typeface="Calibri"/>
              <a:ea typeface="Calibri"/>
              <a:cs typeface="Calibri"/>
              <a:sym typeface="Calibri"/>
            </a:endParaRPr>
          </a:p>
        </p:txBody>
      </p:sp>
      <p:sp>
        <p:nvSpPr>
          <p:cNvPr id="364" name="Google Shape;364;p55"/>
          <p:cNvSpPr txBox="1"/>
          <p:nvPr/>
        </p:nvSpPr>
        <p:spPr>
          <a:xfrm>
            <a:off x="2618460" y="2529508"/>
            <a:ext cx="2011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lang="en" sz="900">
                <a:solidFill>
                  <a:srgbClr val="1E4B2B"/>
                </a:solidFill>
                <a:latin typeface="Cambria"/>
                <a:ea typeface="Cambria"/>
                <a:cs typeface="Cambria"/>
                <a:sym typeface="Cambria"/>
              </a:rPr>
              <a:t>Specie Identification</a:t>
            </a:r>
            <a:endParaRPr b="1" i="0" sz="900" u="none" cap="none" strike="noStrike">
              <a:solidFill>
                <a:srgbClr val="1E4B2B"/>
              </a:solidFill>
              <a:latin typeface="Cambria"/>
              <a:ea typeface="Cambria"/>
              <a:cs typeface="Cambria"/>
              <a:sym typeface="Cambria"/>
            </a:endParaRPr>
          </a:p>
        </p:txBody>
      </p:sp>
      <p:sp>
        <p:nvSpPr>
          <p:cNvPr id="365" name="Google Shape;365;p55"/>
          <p:cNvSpPr txBox="1"/>
          <p:nvPr/>
        </p:nvSpPr>
        <p:spPr>
          <a:xfrm>
            <a:off x="2619235" y="2739808"/>
            <a:ext cx="1856400" cy="713100"/>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000000"/>
              </a:buClr>
              <a:buSzPts val="760"/>
              <a:buFont typeface="Arial"/>
              <a:buNone/>
            </a:pPr>
            <a:r>
              <a:rPr lang="en" sz="700">
                <a:solidFill>
                  <a:srgbClr val="17351F"/>
                </a:solidFill>
                <a:latin typeface="Calibri"/>
                <a:ea typeface="Calibri"/>
                <a:cs typeface="Calibri"/>
                <a:sym typeface="Calibri"/>
              </a:rPr>
              <a:t>The photograph is passed to a vision identification service, which returns the top-3 species candidates with confidence scores. This provides an honest, probabilistic starting point for the agent.</a:t>
            </a:r>
            <a:endParaRPr sz="700">
              <a:solidFill>
                <a:srgbClr val="17351F"/>
              </a:solidFill>
              <a:latin typeface="Calibri"/>
              <a:ea typeface="Calibri"/>
              <a:cs typeface="Calibri"/>
              <a:sym typeface="Calibri"/>
            </a:endParaRPr>
          </a:p>
          <a:p>
            <a:pPr indent="0" lvl="0" marL="0" rtl="0" algn="l">
              <a:lnSpc>
                <a:spcPct val="114000"/>
              </a:lnSpc>
              <a:spcBef>
                <a:spcPts val="0"/>
              </a:spcBef>
              <a:spcAft>
                <a:spcPts val="0"/>
              </a:spcAft>
              <a:buClr>
                <a:schemeClr val="dk1"/>
              </a:buClr>
              <a:buSzPts val="760"/>
              <a:buFont typeface="Arial"/>
              <a:buNone/>
            </a:pPr>
            <a:r>
              <a:rPr lang="en" sz="700">
                <a:solidFill>
                  <a:srgbClr val="17351F"/>
                </a:solidFill>
                <a:latin typeface="Calibri"/>
                <a:ea typeface="Calibri"/>
                <a:cs typeface="Calibri"/>
                <a:sym typeface="Calibri"/>
              </a:rPr>
              <a:t>The text question that is passed can identify the specie or subject.</a:t>
            </a:r>
            <a:endParaRPr sz="700">
              <a:solidFill>
                <a:srgbClr val="17351F"/>
              </a:solidFill>
              <a:latin typeface="Calibri"/>
              <a:ea typeface="Calibri"/>
              <a:cs typeface="Calibri"/>
              <a:sym typeface="Calibri"/>
            </a:endParaRPr>
          </a:p>
          <a:p>
            <a:pPr indent="0" lvl="0" marL="0" marR="0" rtl="0" algn="l">
              <a:lnSpc>
                <a:spcPct val="114000"/>
              </a:lnSpc>
              <a:spcBef>
                <a:spcPts val="0"/>
              </a:spcBef>
              <a:spcAft>
                <a:spcPts val="0"/>
              </a:spcAft>
              <a:buClr>
                <a:srgbClr val="000000"/>
              </a:buClr>
              <a:buSzPts val="760"/>
              <a:buFont typeface="Arial"/>
              <a:buNone/>
            </a:pPr>
            <a:r>
              <a:t/>
            </a:r>
            <a:endParaRPr sz="700">
              <a:solidFill>
                <a:srgbClr val="17351F"/>
              </a:solidFill>
              <a:latin typeface="Calibri"/>
              <a:ea typeface="Calibri"/>
              <a:cs typeface="Calibri"/>
              <a:sym typeface="Calibri"/>
            </a:endParaRPr>
          </a:p>
        </p:txBody>
      </p:sp>
      <p:sp>
        <p:nvSpPr>
          <p:cNvPr id="366" name="Google Shape;366;p55"/>
          <p:cNvSpPr txBox="1"/>
          <p:nvPr/>
        </p:nvSpPr>
        <p:spPr>
          <a:xfrm>
            <a:off x="6790599" y="2510104"/>
            <a:ext cx="23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lang="en" sz="900">
                <a:solidFill>
                  <a:srgbClr val="1E4B2B"/>
                </a:solidFill>
                <a:latin typeface="Cambria"/>
                <a:ea typeface="Cambria"/>
                <a:cs typeface="Cambria"/>
                <a:sym typeface="Cambria"/>
              </a:rPr>
              <a:t>Safety analyst agent</a:t>
            </a:r>
            <a:endParaRPr b="1" i="0" sz="900" u="none" cap="none" strike="noStrike">
              <a:solidFill>
                <a:srgbClr val="1E4B2B"/>
              </a:solidFill>
              <a:latin typeface="Cambria"/>
              <a:ea typeface="Cambria"/>
              <a:cs typeface="Cambria"/>
              <a:sym typeface="Cambria"/>
            </a:endParaRPr>
          </a:p>
        </p:txBody>
      </p:sp>
      <p:sp>
        <p:nvSpPr>
          <p:cNvPr id="367" name="Google Shape;367;p55"/>
          <p:cNvSpPr txBox="1"/>
          <p:nvPr/>
        </p:nvSpPr>
        <p:spPr>
          <a:xfrm>
            <a:off x="6789850" y="2720406"/>
            <a:ext cx="1856400" cy="978600"/>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000000"/>
              </a:buClr>
              <a:buSzPts val="760"/>
              <a:buFont typeface="Arial"/>
              <a:buNone/>
            </a:pPr>
            <a:r>
              <a:rPr lang="en" sz="700">
                <a:solidFill>
                  <a:srgbClr val="17351F"/>
                </a:solidFill>
                <a:latin typeface="Calibri"/>
                <a:ea typeface="Calibri"/>
                <a:cs typeface="Calibri"/>
                <a:sym typeface="Calibri"/>
              </a:rPr>
              <a:t>The Wildlife agent consults a dedicated Safety Analyst agent (Agent 2,) who checks the list of invasive and protected species.</a:t>
            </a:r>
            <a:endParaRPr sz="700">
              <a:solidFill>
                <a:srgbClr val="17351F"/>
              </a:solidFill>
              <a:latin typeface="Calibri"/>
              <a:ea typeface="Calibri"/>
              <a:cs typeface="Calibri"/>
              <a:sym typeface="Calibri"/>
            </a:endParaRPr>
          </a:p>
        </p:txBody>
      </p:sp>
      <p:sp>
        <p:nvSpPr>
          <p:cNvPr id="368" name="Google Shape;368;p55"/>
          <p:cNvSpPr txBox="1"/>
          <p:nvPr/>
        </p:nvSpPr>
        <p:spPr>
          <a:xfrm>
            <a:off x="4761040" y="3633308"/>
            <a:ext cx="13152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lang="en" sz="900">
                <a:solidFill>
                  <a:srgbClr val="1E4B2B"/>
                </a:solidFill>
                <a:latin typeface="Cambria"/>
                <a:ea typeface="Cambria"/>
                <a:cs typeface="Cambria"/>
                <a:sym typeface="Cambria"/>
              </a:rPr>
              <a:t>Tracing</a:t>
            </a:r>
            <a:endParaRPr b="1" i="0" sz="900" u="none" cap="none" strike="noStrike">
              <a:solidFill>
                <a:srgbClr val="1E4B2B"/>
              </a:solidFill>
              <a:latin typeface="Cambria"/>
              <a:ea typeface="Cambria"/>
              <a:cs typeface="Cambria"/>
              <a:sym typeface="Cambria"/>
            </a:endParaRPr>
          </a:p>
        </p:txBody>
      </p:sp>
      <p:sp>
        <p:nvSpPr>
          <p:cNvPr id="369" name="Google Shape;369;p55"/>
          <p:cNvSpPr txBox="1"/>
          <p:nvPr/>
        </p:nvSpPr>
        <p:spPr>
          <a:xfrm>
            <a:off x="4761013" y="3843608"/>
            <a:ext cx="1856400" cy="713100"/>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000000"/>
              </a:buClr>
              <a:buSzPts val="760"/>
              <a:buFont typeface="Arial"/>
              <a:buNone/>
            </a:pPr>
            <a:r>
              <a:rPr lang="en" sz="700">
                <a:solidFill>
                  <a:srgbClr val="17351F"/>
                </a:solidFill>
                <a:latin typeface="Calibri"/>
                <a:ea typeface="Calibri"/>
                <a:cs typeface="Calibri"/>
                <a:sym typeface="Calibri"/>
              </a:rPr>
              <a:t>Every action taken by the system is instrumented with tracing for observability. This enables real-time monitoring of latency, token usage, and tool calls, feeding into LangSmith for performance analysis.</a:t>
            </a:r>
            <a:endParaRPr i="0" sz="700" u="none" cap="none" strike="noStrike">
              <a:solidFill>
                <a:srgbClr val="17351F"/>
              </a:solidFill>
              <a:latin typeface="Calibri"/>
              <a:ea typeface="Calibri"/>
              <a:cs typeface="Calibri"/>
              <a:sym typeface="Calibri"/>
            </a:endParaRPr>
          </a:p>
        </p:txBody>
      </p:sp>
      <p:sp>
        <p:nvSpPr>
          <p:cNvPr id="370" name="Google Shape;370;p55"/>
          <p:cNvSpPr txBox="1"/>
          <p:nvPr/>
        </p:nvSpPr>
        <p:spPr>
          <a:xfrm>
            <a:off x="2598313" y="3633312"/>
            <a:ext cx="23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lang="en" sz="900">
                <a:solidFill>
                  <a:srgbClr val="1E4B2B"/>
                </a:solidFill>
                <a:latin typeface="Cambria"/>
                <a:ea typeface="Cambria"/>
                <a:cs typeface="Cambria"/>
                <a:sym typeface="Cambria"/>
              </a:rPr>
              <a:t>Final output</a:t>
            </a:r>
            <a:endParaRPr b="1" i="0" sz="900" u="none" cap="none" strike="noStrike">
              <a:solidFill>
                <a:srgbClr val="1E4B2B"/>
              </a:solidFill>
              <a:latin typeface="Cambria"/>
              <a:ea typeface="Cambria"/>
              <a:cs typeface="Cambria"/>
              <a:sym typeface="Cambria"/>
            </a:endParaRPr>
          </a:p>
        </p:txBody>
      </p:sp>
      <p:sp>
        <p:nvSpPr>
          <p:cNvPr id="371" name="Google Shape;371;p55"/>
          <p:cNvSpPr txBox="1"/>
          <p:nvPr/>
        </p:nvSpPr>
        <p:spPr>
          <a:xfrm>
            <a:off x="2597100" y="3834963"/>
            <a:ext cx="1856400" cy="947100"/>
          </a:xfrm>
          <a:prstGeom prst="rect">
            <a:avLst/>
          </a:prstGeom>
          <a:noFill/>
          <a:ln>
            <a:noFill/>
          </a:ln>
        </p:spPr>
        <p:txBody>
          <a:bodyPr anchorCtr="0" anchor="t" bIns="0" lIns="0" spcFirstLastPara="1" rIns="0" wrap="square" tIns="0">
            <a:noAutofit/>
          </a:bodyPr>
          <a:lstStyle/>
          <a:p>
            <a:pPr indent="0" lvl="0" marL="0" rtl="0" algn="l">
              <a:lnSpc>
                <a:spcPct val="114000"/>
              </a:lnSpc>
              <a:spcBef>
                <a:spcPts val="0"/>
              </a:spcBef>
              <a:spcAft>
                <a:spcPts val="0"/>
              </a:spcAft>
              <a:buNone/>
            </a:pPr>
            <a:r>
              <a:rPr lang="en" sz="700">
                <a:solidFill>
                  <a:srgbClr val="17351F"/>
                </a:solidFill>
                <a:latin typeface="Calibri"/>
                <a:ea typeface="Calibri"/>
                <a:cs typeface="Calibri"/>
                <a:sym typeface="Calibri"/>
              </a:rPr>
              <a:t>The LLM synthesises a grounded, RAG-based answer and streams it to the user token-by-token. The final response renders as clean Markdown, ending with a numbered source list for full transparency. Crucially, the system appends a mandatory safety warning, flagging any conservation, or invasive findings, enforced in code, not left to model judgement.</a:t>
            </a:r>
            <a:endParaRPr sz="700">
              <a:solidFill>
                <a:srgbClr val="17351F"/>
              </a:solidFill>
              <a:latin typeface="Calibri"/>
              <a:ea typeface="Calibri"/>
              <a:cs typeface="Calibri"/>
              <a:sym typeface="Calibri"/>
            </a:endParaRPr>
          </a:p>
        </p:txBody>
      </p:sp>
      <p:sp>
        <p:nvSpPr>
          <p:cNvPr id="372" name="Google Shape;372;p55"/>
          <p:cNvSpPr txBox="1"/>
          <p:nvPr/>
        </p:nvSpPr>
        <p:spPr>
          <a:xfrm>
            <a:off x="365760" y="512064"/>
            <a:ext cx="8229600" cy="14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i="1" lang="en" sz="950">
                <a:solidFill>
                  <a:srgbClr val="5B6B5E"/>
                </a:solidFill>
                <a:latin typeface="Calibri"/>
                <a:ea typeface="Calibri"/>
                <a:cs typeface="Calibri"/>
                <a:sym typeface="Calibri"/>
              </a:rPr>
              <a:t>How a photo becomes a grounded, safety-checked response</a:t>
            </a:r>
            <a:endParaRPr i="1" sz="950">
              <a:solidFill>
                <a:srgbClr val="5B6B5E"/>
              </a:solidFill>
              <a:latin typeface="Calibri"/>
              <a:ea typeface="Calibri"/>
              <a:cs typeface="Calibri"/>
              <a:sym typeface="Calibri"/>
            </a:endParaRPr>
          </a:p>
        </p:txBody>
      </p:sp>
      <p:sp>
        <p:nvSpPr>
          <p:cNvPr id="373" name="Google Shape;373;p55"/>
          <p:cNvSpPr txBox="1"/>
          <p:nvPr/>
        </p:nvSpPr>
        <p:spPr>
          <a:xfrm>
            <a:off x="6827640" y="3651808"/>
            <a:ext cx="13152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lang="en" sz="900">
                <a:solidFill>
                  <a:srgbClr val="1E4B2B"/>
                </a:solidFill>
                <a:latin typeface="Cambria"/>
                <a:ea typeface="Cambria"/>
                <a:cs typeface="Cambria"/>
                <a:sym typeface="Cambria"/>
              </a:rPr>
              <a:t>Memory</a:t>
            </a:r>
            <a:endParaRPr b="1" i="0" sz="900" u="none" cap="none" strike="noStrike">
              <a:solidFill>
                <a:srgbClr val="1E4B2B"/>
              </a:solidFill>
              <a:latin typeface="Cambria"/>
              <a:ea typeface="Cambria"/>
              <a:cs typeface="Cambria"/>
              <a:sym typeface="Cambria"/>
            </a:endParaRPr>
          </a:p>
        </p:txBody>
      </p:sp>
      <p:sp>
        <p:nvSpPr>
          <p:cNvPr id="374" name="Google Shape;374;p55"/>
          <p:cNvSpPr txBox="1"/>
          <p:nvPr/>
        </p:nvSpPr>
        <p:spPr>
          <a:xfrm>
            <a:off x="6827613" y="3862108"/>
            <a:ext cx="1856400" cy="713100"/>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000000"/>
              </a:buClr>
              <a:buSzPts val="760"/>
              <a:buFont typeface="Arial"/>
              <a:buNone/>
            </a:pPr>
            <a:r>
              <a:rPr lang="en" sz="700">
                <a:solidFill>
                  <a:srgbClr val="17351F"/>
                </a:solidFill>
                <a:latin typeface="Calibri"/>
                <a:ea typeface="Calibri"/>
                <a:cs typeface="Calibri"/>
                <a:sym typeface="Calibri"/>
              </a:rPr>
              <a:t>The </a:t>
            </a:r>
            <a:r>
              <a:rPr lang="en" sz="700">
                <a:solidFill>
                  <a:srgbClr val="17351F"/>
                </a:solidFill>
                <a:latin typeface="Calibri"/>
                <a:ea typeface="Calibri"/>
                <a:cs typeface="Calibri"/>
                <a:sym typeface="Calibri"/>
              </a:rPr>
              <a:t>Wildlife agent maintains conversation memory and coordinates every downstream action, keeping the last 3 messages and folding earlier ones into a rolling summary.</a:t>
            </a:r>
            <a:endParaRPr sz="700">
              <a:solidFill>
                <a:srgbClr val="17351F"/>
              </a:solidFill>
              <a:latin typeface="Calibri"/>
              <a:ea typeface="Calibri"/>
              <a:cs typeface="Calibri"/>
              <a:sym typeface="Calibri"/>
            </a:endParaRPr>
          </a:p>
        </p:txBody>
      </p:sp>
      <p:sp>
        <p:nvSpPr>
          <p:cNvPr id="375" name="Google Shape;375;p55"/>
          <p:cNvSpPr/>
          <p:nvPr/>
        </p:nvSpPr>
        <p:spPr>
          <a:xfrm>
            <a:off x="476822" y="1529395"/>
            <a:ext cx="1140000" cy="310800"/>
          </a:xfrm>
          <a:prstGeom prst="flowChartAlternateProcess">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alibri"/>
                <a:ea typeface="Calibri"/>
                <a:cs typeface="Calibri"/>
                <a:sym typeface="Calibri"/>
              </a:rPr>
              <a:t>Photo + Question + Region</a:t>
            </a:r>
            <a:endParaRPr sz="800">
              <a:latin typeface="Calibri"/>
              <a:ea typeface="Calibri"/>
              <a:cs typeface="Calibri"/>
              <a:sym typeface="Calibri"/>
            </a:endParaRPr>
          </a:p>
        </p:txBody>
      </p:sp>
      <p:sp>
        <p:nvSpPr>
          <p:cNvPr id="376" name="Google Shape;376;p55"/>
          <p:cNvSpPr/>
          <p:nvPr/>
        </p:nvSpPr>
        <p:spPr>
          <a:xfrm>
            <a:off x="2177303" y="1318395"/>
            <a:ext cx="1140000" cy="310800"/>
          </a:xfrm>
          <a:prstGeom prst="flowChartAlternateProcess">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alibri"/>
                <a:ea typeface="Calibri"/>
                <a:cs typeface="Calibri"/>
                <a:sym typeface="Calibri"/>
              </a:rPr>
              <a:t>Vision identification + confidence</a:t>
            </a:r>
            <a:endParaRPr sz="800">
              <a:latin typeface="Calibri"/>
              <a:ea typeface="Calibri"/>
              <a:cs typeface="Calibri"/>
              <a:sym typeface="Calibri"/>
            </a:endParaRPr>
          </a:p>
        </p:txBody>
      </p:sp>
      <p:sp>
        <p:nvSpPr>
          <p:cNvPr id="377" name="Google Shape;377;p55"/>
          <p:cNvSpPr/>
          <p:nvPr/>
        </p:nvSpPr>
        <p:spPr>
          <a:xfrm>
            <a:off x="3957596" y="1549845"/>
            <a:ext cx="1140000" cy="310800"/>
          </a:xfrm>
          <a:prstGeom prst="flowChartAlternateProcess">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alibri"/>
                <a:ea typeface="Calibri"/>
                <a:cs typeface="Calibri"/>
                <a:sym typeface="Calibri"/>
              </a:rPr>
              <a:t>Wildlife agent</a:t>
            </a:r>
            <a:endParaRPr sz="800">
              <a:latin typeface="Calibri"/>
              <a:ea typeface="Calibri"/>
              <a:cs typeface="Calibri"/>
              <a:sym typeface="Calibri"/>
            </a:endParaRPr>
          </a:p>
        </p:txBody>
      </p:sp>
      <p:sp>
        <p:nvSpPr>
          <p:cNvPr id="378" name="Google Shape;378;p55"/>
          <p:cNvSpPr/>
          <p:nvPr/>
        </p:nvSpPr>
        <p:spPr>
          <a:xfrm>
            <a:off x="3957607" y="1106607"/>
            <a:ext cx="1140000" cy="310800"/>
          </a:xfrm>
          <a:prstGeom prst="flowChartAlternateProcess">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alibri"/>
                <a:ea typeface="Calibri"/>
                <a:cs typeface="Calibri"/>
                <a:sym typeface="Calibri"/>
              </a:rPr>
              <a:t>Safety analyst agent</a:t>
            </a:r>
            <a:endParaRPr sz="800">
              <a:latin typeface="Calibri"/>
              <a:ea typeface="Calibri"/>
              <a:cs typeface="Calibri"/>
              <a:sym typeface="Calibri"/>
            </a:endParaRPr>
          </a:p>
        </p:txBody>
      </p:sp>
      <p:sp>
        <p:nvSpPr>
          <p:cNvPr id="379" name="Google Shape;379;p55"/>
          <p:cNvSpPr/>
          <p:nvPr/>
        </p:nvSpPr>
        <p:spPr>
          <a:xfrm>
            <a:off x="5683207" y="1550040"/>
            <a:ext cx="1140000" cy="310800"/>
          </a:xfrm>
          <a:prstGeom prst="flowChartAlternateProcess">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alibri"/>
                <a:ea typeface="Calibri"/>
                <a:cs typeface="Calibri"/>
                <a:sym typeface="Calibri"/>
              </a:rPr>
              <a:t>Species RAG</a:t>
            </a:r>
            <a:endParaRPr sz="800">
              <a:latin typeface="Calibri"/>
              <a:ea typeface="Calibri"/>
              <a:cs typeface="Calibri"/>
              <a:sym typeface="Calibri"/>
            </a:endParaRPr>
          </a:p>
        </p:txBody>
      </p:sp>
      <p:sp>
        <p:nvSpPr>
          <p:cNvPr id="380" name="Google Shape;380;p55"/>
          <p:cNvSpPr/>
          <p:nvPr/>
        </p:nvSpPr>
        <p:spPr>
          <a:xfrm>
            <a:off x="7327208" y="1546483"/>
            <a:ext cx="1350300" cy="310800"/>
          </a:xfrm>
          <a:prstGeom prst="flowChartAlternateProcess">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alibri"/>
                <a:ea typeface="Calibri"/>
                <a:cs typeface="Calibri"/>
                <a:sym typeface="Calibri"/>
              </a:rPr>
              <a:t>Action advice + citations + safety warnings</a:t>
            </a:r>
            <a:endParaRPr sz="800">
              <a:latin typeface="Calibri"/>
              <a:ea typeface="Calibri"/>
              <a:cs typeface="Calibri"/>
              <a:sym typeface="Calibri"/>
            </a:endParaRPr>
          </a:p>
        </p:txBody>
      </p:sp>
      <p:sp>
        <p:nvSpPr>
          <p:cNvPr id="381" name="Google Shape;381;p55"/>
          <p:cNvSpPr/>
          <p:nvPr/>
        </p:nvSpPr>
        <p:spPr>
          <a:xfrm>
            <a:off x="3747496" y="2062022"/>
            <a:ext cx="761700" cy="310800"/>
          </a:xfrm>
          <a:prstGeom prst="flowChartAlternateProcess">
            <a:avLst/>
          </a:prstGeom>
          <a:solidFill>
            <a:srgbClr val="FAF4E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alibri"/>
                <a:ea typeface="Calibri"/>
                <a:cs typeface="Calibri"/>
                <a:sym typeface="Calibri"/>
              </a:rPr>
              <a:t>Tracing</a:t>
            </a:r>
            <a:endParaRPr sz="800">
              <a:latin typeface="Calibri"/>
              <a:ea typeface="Calibri"/>
              <a:cs typeface="Calibri"/>
              <a:sym typeface="Calibri"/>
            </a:endParaRPr>
          </a:p>
        </p:txBody>
      </p:sp>
      <p:sp>
        <p:nvSpPr>
          <p:cNvPr id="382" name="Google Shape;382;p55"/>
          <p:cNvSpPr/>
          <p:nvPr/>
        </p:nvSpPr>
        <p:spPr>
          <a:xfrm>
            <a:off x="4594738" y="2052822"/>
            <a:ext cx="761700" cy="310800"/>
          </a:xfrm>
          <a:prstGeom prst="flowChartAlternateProcess">
            <a:avLst/>
          </a:prstGeom>
          <a:solidFill>
            <a:srgbClr val="FAF4E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alibri"/>
                <a:ea typeface="Calibri"/>
                <a:cs typeface="Calibri"/>
                <a:sym typeface="Calibri"/>
              </a:rPr>
              <a:t>Memory</a:t>
            </a:r>
            <a:endParaRPr sz="800">
              <a:latin typeface="Calibri"/>
              <a:ea typeface="Calibri"/>
              <a:cs typeface="Calibri"/>
              <a:sym typeface="Calibri"/>
            </a:endParaRPr>
          </a:p>
        </p:txBody>
      </p:sp>
      <p:sp>
        <p:nvSpPr>
          <p:cNvPr id="383" name="Google Shape;383;p55"/>
          <p:cNvSpPr/>
          <p:nvPr/>
        </p:nvSpPr>
        <p:spPr>
          <a:xfrm>
            <a:off x="5660241" y="1002980"/>
            <a:ext cx="1185900" cy="415500"/>
          </a:xfrm>
          <a:prstGeom prst="can">
            <a:avLst>
              <a:gd fmla="val 25000"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alibri"/>
                <a:ea typeface="Calibri"/>
                <a:cs typeface="Calibri"/>
                <a:sym typeface="Calibri"/>
              </a:rPr>
              <a:t>Vector DB</a:t>
            </a:r>
            <a:endParaRPr sz="800">
              <a:latin typeface="Calibri"/>
              <a:ea typeface="Calibri"/>
              <a:cs typeface="Calibri"/>
              <a:sym typeface="Calibri"/>
            </a:endParaRPr>
          </a:p>
          <a:p>
            <a:pPr indent="0" lvl="0" marL="0" rtl="0" algn="ctr">
              <a:spcBef>
                <a:spcPts val="0"/>
              </a:spcBef>
              <a:spcAft>
                <a:spcPts val="0"/>
              </a:spcAft>
              <a:buNone/>
            </a:pPr>
            <a:r>
              <a:rPr lang="en" sz="800">
                <a:latin typeface="Calibri"/>
                <a:ea typeface="Calibri"/>
                <a:cs typeface="Calibri"/>
                <a:sym typeface="Calibri"/>
              </a:rPr>
              <a:t>Species accounts</a:t>
            </a:r>
            <a:endParaRPr sz="800">
              <a:latin typeface="Calibri"/>
              <a:ea typeface="Calibri"/>
              <a:cs typeface="Calibri"/>
              <a:sym typeface="Calibri"/>
            </a:endParaRPr>
          </a:p>
        </p:txBody>
      </p:sp>
      <p:sp>
        <p:nvSpPr>
          <p:cNvPr id="384" name="Google Shape;384;p55"/>
          <p:cNvSpPr/>
          <p:nvPr/>
        </p:nvSpPr>
        <p:spPr>
          <a:xfrm>
            <a:off x="3934659" y="583570"/>
            <a:ext cx="1185900" cy="415500"/>
          </a:xfrm>
          <a:prstGeom prst="can">
            <a:avLst>
              <a:gd fmla="val 25000"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alibri"/>
                <a:ea typeface="Calibri"/>
                <a:cs typeface="Calibri"/>
                <a:sym typeface="Calibri"/>
              </a:rPr>
              <a:t>Invasive / Protected lists</a:t>
            </a:r>
            <a:endParaRPr sz="800">
              <a:latin typeface="Calibri"/>
              <a:ea typeface="Calibri"/>
              <a:cs typeface="Calibri"/>
              <a:sym typeface="Calibri"/>
            </a:endParaRPr>
          </a:p>
        </p:txBody>
      </p:sp>
      <p:cxnSp>
        <p:nvCxnSpPr>
          <p:cNvPr id="385" name="Google Shape;385;p55"/>
          <p:cNvCxnSpPr>
            <a:stCxn id="375" idx="3"/>
            <a:endCxn id="376" idx="1"/>
          </p:cNvCxnSpPr>
          <p:nvPr/>
        </p:nvCxnSpPr>
        <p:spPr>
          <a:xfrm flipH="1" rot="10800000">
            <a:off x="1616822" y="1473895"/>
            <a:ext cx="560400" cy="210900"/>
          </a:xfrm>
          <a:prstGeom prst="straightConnector1">
            <a:avLst/>
          </a:prstGeom>
          <a:noFill/>
          <a:ln cap="flat" cmpd="sng" w="19050">
            <a:solidFill>
              <a:schemeClr val="dk2"/>
            </a:solidFill>
            <a:prstDash val="solid"/>
            <a:round/>
            <a:headEnd len="med" w="med" type="none"/>
            <a:tailEnd len="med" w="med" type="triangle"/>
          </a:ln>
        </p:spPr>
      </p:cxnSp>
      <p:cxnSp>
        <p:nvCxnSpPr>
          <p:cNvPr id="386" name="Google Shape;386;p55"/>
          <p:cNvCxnSpPr>
            <a:stCxn id="376" idx="3"/>
            <a:endCxn id="377" idx="1"/>
          </p:cNvCxnSpPr>
          <p:nvPr/>
        </p:nvCxnSpPr>
        <p:spPr>
          <a:xfrm>
            <a:off x="3317303" y="1473795"/>
            <a:ext cx="640200" cy="231600"/>
          </a:xfrm>
          <a:prstGeom prst="straightConnector1">
            <a:avLst/>
          </a:prstGeom>
          <a:noFill/>
          <a:ln cap="flat" cmpd="sng" w="19050">
            <a:solidFill>
              <a:schemeClr val="dk2"/>
            </a:solidFill>
            <a:prstDash val="solid"/>
            <a:round/>
            <a:headEnd len="med" w="med" type="none"/>
            <a:tailEnd len="med" w="med" type="triangle"/>
          </a:ln>
        </p:spPr>
      </p:cxnSp>
      <p:cxnSp>
        <p:nvCxnSpPr>
          <p:cNvPr id="387" name="Google Shape;387;p55"/>
          <p:cNvCxnSpPr>
            <a:stCxn id="381" idx="0"/>
            <a:endCxn id="377" idx="2"/>
          </p:cNvCxnSpPr>
          <p:nvPr/>
        </p:nvCxnSpPr>
        <p:spPr>
          <a:xfrm flipH="1" rot="10800000">
            <a:off x="4128346" y="1860722"/>
            <a:ext cx="399300" cy="201300"/>
          </a:xfrm>
          <a:prstGeom prst="straightConnector1">
            <a:avLst/>
          </a:prstGeom>
          <a:noFill/>
          <a:ln cap="flat" cmpd="sng" w="19050">
            <a:solidFill>
              <a:schemeClr val="dk2"/>
            </a:solidFill>
            <a:prstDash val="dash"/>
            <a:round/>
            <a:headEnd len="med" w="med" type="none"/>
            <a:tailEnd len="med" w="med" type="none"/>
          </a:ln>
        </p:spPr>
      </p:cxnSp>
      <p:cxnSp>
        <p:nvCxnSpPr>
          <p:cNvPr id="388" name="Google Shape;388;p55"/>
          <p:cNvCxnSpPr>
            <a:stCxn id="382" idx="0"/>
            <a:endCxn id="377" idx="2"/>
          </p:cNvCxnSpPr>
          <p:nvPr/>
        </p:nvCxnSpPr>
        <p:spPr>
          <a:xfrm rot="10800000">
            <a:off x="4527688" y="1860522"/>
            <a:ext cx="447900" cy="192300"/>
          </a:xfrm>
          <a:prstGeom prst="straightConnector1">
            <a:avLst/>
          </a:prstGeom>
          <a:noFill/>
          <a:ln cap="flat" cmpd="sng" w="19050">
            <a:solidFill>
              <a:schemeClr val="dk2"/>
            </a:solidFill>
            <a:prstDash val="dash"/>
            <a:round/>
            <a:headEnd len="med" w="med" type="none"/>
            <a:tailEnd len="med" w="med" type="none"/>
          </a:ln>
        </p:spPr>
      </p:cxnSp>
      <p:cxnSp>
        <p:nvCxnSpPr>
          <p:cNvPr id="389" name="Google Shape;389;p55"/>
          <p:cNvCxnSpPr>
            <a:stCxn id="377" idx="3"/>
            <a:endCxn id="379" idx="1"/>
          </p:cNvCxnSpPr>
          <p:nvPr/>
        </p:nvCxnSpPr>
        <p:spPr>
          <a:xfrm>
            <a:off x="5097596" y="1705245"/>
            <a:ext cx="585600" cy="300"/>
          </a:xfrm>
          <a:prstGeom prst="straightConnector1">
            <a:avLst/>
          </a:prstGeom>
          <a:noFill/>
          <a:ln cap="flat" cmpd="sng" w="19050">
            <a:solidFill>
              <a:schemeClr val="dk2"/>
            </a:solidFill>
            <a:prstDash val="solid"/>
            <a:round/>
            <a:headEnd len="med" w="med" type="none"/>
            <a:tailEnd len="med" w="med" type="triangle"/>
          </a:ln>
        </p:spPr>
      </p:cxnSp>
      <p:cxnSp>
        <p:nvCxnSpPr>
          <p:cNvPr id="390" name="Google Shape;390;p55"/>
          <p:cNvCxnSpPr>
            <a:stCxn id="379" idx="3"/>
            <a:endCxn id="380" idx="1"/>
          </p:cNvCxnSpPr>
          <p:nvPr/>
        </p:nvCxnSpPr>
        <p:spPr>
          <a:xfrm flipH="1" rot="10800000">
            <a:off x="6823207" y="1701840"/>
            <a:ext cx="504000" cy="3600"/>
          </a:xfrm>
          <a:prstGeom prst="straightConnector1">
            <a:avLst/>
          </a:prstGeom>
          <a:noFill/>
          <a:ln cap="flat" cmpd="sng" w="19050">
            <a:solidFill>
              <a:schemeClr val="dk2"/>
            </a:solidFill>
            <a:prstDash val="solid"/>
            <a:round/>
            <a:headEnd len="med" w="med" type="none"/>
            <a:tailEnd len="med" w="med" type="triangle"/>
          </a:ln>
        </p:spPr>
      </p:cxnSp>
      <p:sp>
        <p:nvSpPr>
          <p:cNvPr id="391" name="Google Shape;391;p55"/>
          <p:cNvSpPr/>
          <p:nvPr/>
        </p:nvSpPr>
        <p:spPr>
          <a:xfrm>
            <a:off x="2177303" y="1743432"/>
            <a:ext cx="1140000" cy="310800"/>
          </a:xfrm>
          <a:prstGeom prst="flowChartAlternateProcess">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Calibri"/>
                <a:ea typeface="Calibri"/>
                <a:cs typeface="Calibri"/>
                <a:sym typeface="Calibri"/>
              </a:rPr>
              <a:t>Text identification</a:t>
            </a:r>
            <a:endParaRPr sz="800">
              <a:latin typeface="Calibri"/>
              <a:ea typeface="Calibri"/>
              <a:cs typeface="Calibri"/>
              <a:sym typeface="Calibri"/>
            </a:endParaRPr>
          </a:p>
        </p:txBody>
      </p:sp>
      <p:cxnSp>
        <p:nvCxnSpPr>
          <p:cNvPr id="392" name="Google Shape;392;p55"/>
          <p:cNvCxnSpPr>
            <a:stCxn id="375" idx="3"/>
            <a:endCxn id="391" idx="1"/>
          </p:cNvCxnSpPr>
          <p:nvPr/>
        </p:nvCxnSpPr>
        <p:spPr>
          <a:xfrm>
            <a:off x="1616822" y="1684795"/>
            <a:ext cx="560400" cy="213900"/>
          </a:xfrm>
          <a:prstGeom prst="straightConnector1">
            <a:avLst/>
          </a:prstGeom>
          <a:noFill/>
          <a:ln cap="flat" cmpd="sng" w="19050">
            <a:solidFill>
              <a:schemeClr val="dk2"/>
            </a:solidFill>
            <a:prstDash val="solid"/>
            <a:round/>
            <a:headEnd len="med" w="med" type="none"/>
            <a:tailEnd len="med" w="med" type="triangle"/>
          </a:ln>
        </p:spPr>
      </p:cxnSp>
      <p:cxnSp>
        <p:nvCxnSpPr>
          <p:cNvPr id="393" name="Google Shape;393;p55"/>
          <p:cNvCxnSpPr>
            <a:stCxn id="391" idx="3"/>
            <a:endCxn id="377" idx="1"/>
          </p:cNvCxnSpPr>
          <p:nvPr/>
        </p:nvCxnSpPr>
        <p:spPr>
          <a:xfrm flipH="1" rot="10800000">
            <a:off x="3317303" y="1705332"/>
            <a:ext cx="640200" cy="193500"/>
          </a:xfrm>
          <a:prstGeom prst="straightConnector1">
            <a:avLst/>
          </a:prstGeom>
          <a:noFill/>
          <a:ln cap="flat" cmpd="sng" w="19050">
            <a:solidFill>
              <a:schemeClr val="dk2"/>
            </a:solidFill>
            <a:prstDash val="solid"/>
            <a:round/>
            <a:headEnd len="med" w="med" type="none"/>
            <a:tailEnd len="med" w="med" type="triangle"/>
          </a:ln>
        </p:spPr>
      </p:cxnSp>
      <p:cxnSp>
        <p:nvCxnSpPr>
          <p:cNvPr id="394" name="Google Shape;394;p55"/>
          <p:cNvCxnSpPr/>
          <p:nvPr/>
        </p:nvCxnSpPr>
        <p:spPr>
          <a:xfrm>
            <a:off x="4527634" y="999070"/>
            <a:ext cx="0" cy="107400"/>
          </a:xfrm>
          <a:prstGeom prst="straightConnector1">
            <a:avLst/>
          </a:prstGeom>
          <a:noFill/>
          <a:ln cap="flat" cmpd="sng" w="19050">
            <a:solidFill>
              <a:schemeClr val="dk2"/>
            </a:solidFill>
            <a:prstDash val="solid"/>
            <a:round/>
            <a:headEnd len="med" w="med" type="none"/>
            <a:tailEnd len="med" w="med" type="none"/>
          </a:ln>
        </p:spPr>
      </p:cxnSp>
      <p:cxnSp>
        <p:nvCxnSpPr>
          <p:cNvPr id="395" name="Google Shape;395;p55"/>
          <p:cNvCxnSpPr/>
          <p:nvPr/>
        </p:nvCxnSpPr>
        <p:spPr>
          <a:xfrm>
            <a:off x="4527632" y="1417407"/>
            <a:ext cx="0" cy="132300"/>
          </a:xfrm>
          <a:prstGeom prst="straightConnector1">
            <a:avLst/>
          </a:prstGeom>
          <a:noFill/>
          <a:ln cap="flat" cmpd="sng" w="19050">
            <a:solidFill>
              <a:schemeClr val="dk2"/>
            </a:solidFill>
            <a:prstDash val="solid"/>
            <a:round/>
            <a:headEnd len="med" w="med" type="none"/>
            <a:tailEnd len="med" w="med" type="none"/>
          </a:ln>
        </p:spPr>
      </p:cxnSp>
      <p:cxnSp>
        <p:nvCxnSpPr>
          <p:cNvPr id="396" name="Google Shape;396;p55"/>
          <p:cNvCxnSpPr>
            <a:stCxn id="383" idx="3"/>
            <a:endCxn id="379" idx="0"/>
          </p:cNvCxnSpPr>
          <p:nvPr/>
        </p:nvCxnSpPr>
        <p:spPr>
          <a:xfrm>
            <a:off x="6253191" y="1418480"/>
            <a:ext cx="0" cy="131700"/>
          </a:xfrm>
          <a:prstGeom prst="straightConnector1">
            <a:avLst/>
          </a:prstGeom>
          <a:noFill/>
          <a:ln cap="flat" cmpd="sng" w="19050">
            <a:solidFill>
              <a:schemeClr val="dk2"/>
            </a:solidFill>
            <a:prstDash val="solid"/>
            <a:round/>
            <a:headEnd len="med" w="med" type="none"/>
            <a:tailEnd len="med" w="med" type="none"/>
          </a:ln>
        </p:spPr>
      </p:cxnSp>
      <p:sp>
        <p:nvSpPr>
          <p:cNvPr id="397" name="Google Shape;397;p55"/>
          <p:cNvSpPr txBox="1"/>
          <p:nvPr>
            <p:ph idx="12" type="sldNum"/>
          </p:nvPr>
        </p:nvSpPr>
        <p:spPr>
          <a:xfrm>
            <a:off x="7424928" y="4837176"/>
            <a:ext cx="16002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sz="800">
                <a:solidFill>
                  <a:srgbClr val="5B6B5E"/>
                </a:solidFill>
              </a:rPr>
              <a:t>‹#›</a:t>
            </a:fld>
            <a:endParaRPr sz="700">
              <a:solidFill>
                <a:srgbClr val="5B6B5E"/>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p56"/>
          <p:cNvSpPr/>
          <p:nvPr/>
        </p:nvSpPr>
        <p:spPr>
          <a:xfrm>
            <a:off x="3246625" y="1601185"/>
            <a:ext cx="2670000" cy="3198000"/>
          </a:xfrm>
          <a:prstGeom prst="roundRect">
            <a:avLst>
              <a:gd fmla="val 1712" name="adj"/>
            </a:avLst>
          </a:prstGeom>
          <a:solidFill>
            <a:srgbClr val="F3F6F1"/>
          </a:solidFill>
          <a:ln cap="flat" cmpd="sng" w="12700">
            <a:solidFill>
              <a:srgbClr val="D9E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6"/>
          <p:cNvSpPr/>
          <p:nvPr/>
        </p:nvSpPr>
        <p:spPr>
          <a:xfrm>
            <a:off x="3246631" y="1601193"/>
            <a:ext cx="2670000" cy="41100"/>
          </a:xfrm>
          <a:prstGeom prst="rect">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6"/>
          <p:cNvSpPr txBox="1"/>
          <p:nvPr/>
        </p:nvSpPr>
        <p:spPr>
          <a:xfrm>
            <a:off x="3383791" y="1729209"/>
            <a:ext cx="23958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lang="en" sz="1050">
                <a:solidFill>
                  <a:srgbClr val="1E4B2B"/>
                </a:solidFill>
                <a:latin typeface="Cambria"/>
                <a:ea typeface="Cambria"/>
                <a:cs typeface="Cambria"/>
                <a:sym typeface="Cambria"/>
              </a:rPr>
              <a:t>Embed &amp; Vector database storage</a:t>
            </a:r>
            <a:endParaRPr b="0" i="0" sz="1050" u="none" cap="none" strike="noStrike">
              <a:solidFill>
                <a:srgbClr val="000000"/>
              </a:solidFill>
              <a:latin typeface="Arial"/>
              <a:ea typeface="Arial"/>
              <a:cs typeface="Arial"/>
              <a:sym typeface="Arial"/>
            </a:endParaRPr>
          </a:p>
        </p:txBody>
      </p:sp>
      <p:sp>
        <p:nvSpPr>
          <p:cNvPr id="405" name="Google Shape;405;p56"/>
          <p:cNvSpPr txBox="1"/>
          <p:nvPr/>
        </p:nvSpPr>
        <p:spPr>
          <a:xfrm>
            <a:off x="3383716" y="1997447"/>
            <a:ext cx="2395800" cy="27144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lang="en" sz="700">
                <a:solidFill>
                  <a:srgbClr val="17351F"/>
                </a:solidFill>
                <a:latin typeface="Calibri"/>
                <a:ea typeface="Calibri"/>
                <a:cs typeface="Calibri"/>
                <a:sym typeface="Calibri"/>
              </a:rPr>
              <a:t>Later each text chunks are converted into a numerical vector using OpenAI’s embedding model, and stored in a local ChromaDB collection using Euclidean distance. This enables fast semantic similarity searches over the entire knowledge base. </a:t>
            </a:r>
            <a:endParaRPr sz="700">
              <a:solidFill>
                <a:srgbClr val="17351F"/>
              </a:solidFill>
              <a:latin typeface="Calibri"/>
              <a:ea typeface="Calibri"/>
              <a:cs typeface="Calibri"/>
              <a:sym typeface="Calibri"/>
            </a:endParaRPr>
          </a:p>
          <a:p>
            <a:pPr indent="0" lvl="0" marL="0" marR="0" rtl="0" algn="l">
              <a:lnSpc>
                <a:spcPct val="110000"/>
              </a:lnSpc>
              <a:spcBef>
                <a:spcPts val="0"/>
              </a:spcBef>
              <a:spcAft>
                <a:spcPts val="0"/>
              </a:spcAft>
              <a:buNone/>
            </a:pPr>
            <a:r>
              <a:t/>
            </a:r>
            <a:endParaRPr sz="700">
              <a:solidFill>
                <a:srgbClr val="17351F"/>
              </a:solidFill>
              <a:latin typeface="Calibri"/>
              <a:ea typeface="Calibri"/>
              <a:cs typeface="Calibri"/>
              <a:sym typeface="Calibri"/>
            </a:endParaRPr>
          </a:p>
          <a:p>
            <a:pPr indent="0" lvl="0" marL="0" marR="0" rtl="0" algn="l">
              <a:lnSpc>
                <a:spcPct val="110000"/>
              </a:lnSpc>
              <a:spcBef>
                <a:spcPts val="0"/>
              </a:spcBef>
              <a:spcAft>
                <a:spcPts val="0"/>
              </a:spcAft>
              <a:buNone/>
            </a:pPr>
            <a:r>
              <a:rPr lang="en" sz="700">
                <a:solidFill>
                  <a:srgbClr val="17351F"/>
                </a:solidFill>
                <a:latin typeface="Calibri"/>
                <a:ea typeface="Calibri"/>
                <a:cs typeface="Calibri"/>
                <a:sym typeface="Calibri"/>
              </a:rPr>
              <a:t>Key settings:</a:t>
            </a:r>
            <a:endParaRPr sz="700">
              <a:solidFill>
                <a:srgbClr val="17351F"/>
              </a:solidFill>
              <a:latin typeface="Calibri"/>
              <a:ea typeface="Calibri"/>
              <a:cs typeface="Calibri"/>
              <a:sym typeface="Calibri"/>
            </a:endParaRPr>
          </a:p>
          <a:p>
            <a:pPr indent="-90170" lvl="0" marL="274320" marR="0" rtl="0" algn="l">
              <a:lnSpc>
                <a:spcPct val="110000"/>
              </a:lnSpc>
              <a:spcBef>
                <a:spcPts val="0"/>
              </a:spcBef>
              <a:spcAft>
                <a:spcPts val="0"/>
              </a:spcAft>
              <a:buClr>
                <a:srgbClr val="17351F"/>
              </a:buClr>
              <a:buSzPts val="700"/>
              <a:buFont typeface="Calibri"/>
              <a:buChar char="●"/>
            </a:pPr>
            <a:r>
              <a:rPr lang="en" sz="700">
                <a:solidFill>
                  <a:srgbClr val="17351F"/>
                </a:solidFill>
                <a:latin typeface="Calibri"/>
                <a:ea typeface="Calibri"/>
                <a:cs typeface="Calibri"/>
                <a:sym typeface="Calibri"/>
              </a:rPr>
              <a:t>Embedding model: text-embedding-3-small.</a:t>
            </a:r>
            <a:endParaRPr sz="700">
              <a:solidFill>
                <a:srgbClr val="17351F"/>
              </a:solidFill>
              <a:latin typeface="Calibri"/>
              <a:ea typeface="Calibri"/>
              <a:cs typeface="Calibri"/>
              <a:sym typeface="Calibri"/>
            </a:endParaRPr>
          </a:p>
          <a:p>
            <a:pPr indent="-90170" lvl="0" marL="274320" marR="0" rtl="0" algn="l">
              <a:lnSpc>
                <a:spcPct val="110000"/>
              </a:lnSpc>
              <a:spcBef>
                <a:spcPts val="0"/>
              </a:spcBef>
              <a:spcAft>
                <a:spcPts val="0"/>
              </a:spcAft>
              <a:buClr>
                <a:srgbClr val="17351F"/>
              </a:buClr>
              <a:buSzPts val="700"/>
              <a:buFont typeface="Calibri"/>
              <a:buChar char="●"/>
            </a:pPr>
            <a:r>
              <a:rPr lang="en" sz="700">
                <a:solidFill>
                  <a:srgbClr val="17351F"/>
                </a:solidFill>
                <a:latin typeface="Calibri"/>
                <a:ea typeface="Calibri"/>
                <a:cs typeface="Calibri"/>
                <a:sym typeface="Calibri"/>
              </a:rPr>
              <a:t>Persistence: stored in DB Species Accounts folder.</a:t>
            </a:r>
            <a:endParaRPr sz="700">
              <a:solidFill>
                <a:srgbClr val="17351F"/>
              </a:solidFill>
              <a:latin typeface="Calibri"/>
              <a:ea typeface="Calibri"/>
              <a:cs typeface="Calibri"/>
              <a:sym typeface="Calibri"/>
            </a:endParaRPr>
          </a:p>
          <a:p>
            <a:pPr indent="-90170" lvl="0" marL="274320" marR="0" rtl="0" algn="l">
              <a:lnSpc>
                <a:spcPct val="110000"/>
              </a:lnSpc>
              <a:spcBef>
                <a:spcPts val="0"/>
              </a:spcBef>
              <a:spcAft>
                <a:spcPts val="0"/>
              </a:spcAft>
              <a:buClr>
                <a:srgbClr val="17351F"/>
              </a:buClr>
              <a:buSzPts val="700"/>
              <a:buFont typeface="Calibri"/>
              <a:buChar char="●"/>
            </a:pPr>
            <a:r>
              <a:rPr lang="en" sz="700">
                <a:solidFill>
                  <a:srgbClr val="17351F"/>
                </a:solidFill>
                <a:latin typeface="Calibri"/>
                <a:ea typeface="Calibri"/>
                <a:cs typeface="Calibri"/>
                <a:sym typeface="Calibri"/>
              </a:rPr>
              <a:t>Collection: db_species_accounts.</a:t>
            </a:r>
            <a:endParaRPr sz="700">
              <a:solidFill>
                <a:srgbClr val="17351F"/>
              </a:solidFill>
              <a:latin typeface="Calibri"/>
              <a:ea typeface="Calibri"/>
              <a:cs typeface="Calibri"/>
              <a:sym typeface="Calibri"/>
            </a:endParaRPr>
          </a:p>
          <a:p>
            <a:pPr indent="0" lvl="0" marL="0" marR="0" rtl="0" algn="l">
              <a:lnSpc>
                <a:spcPct val="110000"/>
              </a:lnSpc>
              <a:spcBef>
                <a:spcPts val="0"/>
              </a:spcBef>
              <a:spcAft>
                <a:spcPts val="0"/>
              </a:spcAft>
              <a:buNone/>
            </a:pPr>
            <a:r>
              <a:t/>
            </a:r>
            <a:endParaRPr sz="700">
              <a:solidFill>
                <a:srgbClr val="17351F"/>
              </a:solidFill>
              <a:latin typeface="Calibri"/>
              <a:ea typeface="Calibri"/>
              <a:cs typeface="Calibri"/>
              <a:sym typeface="Calibri"/>
            </a:endParaRPr>
          </a:p>
          <a:p>
            <a:pPr indent="0" lvl="0" marL="0" marR="0" rtl="0" algn="l">
              <a:lnSpc>
                <a:spcPct val="110000"/>
              </a:lnSpc>
              <a:spcBef>
                <a:spcPts val="0"/>
              </a:spcBef>
              <a:spcAft>
                <a:spcPts val="0"/>
              </a:spcAft>
              <a:buNone/>
            </a:pPr>
            <a:r>
              <a:rPr lang="en" sz="700">
                <a:solidFill>
                  <a:srgbClr val="17351F"/>
                </a:solidFill>
                <a:latin typeface="Calibri"/>
                <a:ea typeface="Calibri"/>
                <a:cs typeface="Calibri"/>
                <a:sym typeface="Calibri"/>
              </a:rPr>
              <a:t>This layer is the foundation of the RAG pipeline. The embedding model determines how well the system understands the “meaning” of queries and documents. A more powerful model would improve recall but increase latency and storage costs. The local ChromaDB keeps everything self‑contained and avoids network overhead for the retrieval step.</a:t>
            </a:r>
            <a:endParaRPr sz="700">
              <a:solidFill>
                <a:srgbClr val="17351F"/>
              </a:solidFill>
              <a:latin typeface="Calibri"/>
              <a:ea typeface="Calibri"/>
              <a:cs typeface="Calibri"/>
              <a:sym typeface="Calibri"/>
            </a:endParaRPr>
          </a:p>
        </p:txBody>
      </p:sp>
      <p:sp>
        <p:nvSpPr>
          <p:cNvPr id="406" name="Google Shape;406;p56"/>
          <p:cNvSpPr/>
          <p:nvPr/>
        </p:nvSpPr>
        <p:spPr>
          <a:xfrm>
            <a:off x="6117850" y="1601185"/>
            <a:ext cx="2670000" cy="3198000"/>
          </a:xfrm>
          <a:prstGeom prst="roundRect">
            <a:avLst>
              <a:gd fmla="val 1712" name="adj"/>
            </a:avLst>
          </a:prstGeom>
          <a:solidFill>
            <a:srgbClr val="F3F6F1"/>
          </a:solidFill>
          <a:ln cap="flat" cmpd="sng" w="12700">
            <a:solidFill>
              <a:srgbClr val="D9E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6"/>
          <p:cNvSpPr/>
          <p:nvPr/>
        </p:nvSpPr>
        <p:spPr>
          <a:xfrm>
            <a:off x="6117847" y="1601193"/>
            <a:ext cx="2670000" cy="41100"/>
          </a:xfrm>
          <a:prstGeom prst="rect">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6"/>
          <p:cNvSpPr txBox="1"/>
          <p:nvPr/>
        </p:nvSpPr>
        <p:spPr>
          <a:xfrm>
            <a:off x="6255007" y="1729209"/>
            <a:ext cx="2395800" cy="237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050"/>
              <a:buFont typeface="Arial"/>
              <a:buNone/>
            </a:pPr>
            <a:r>
              <a:rPr b="1" lang="en" sz="1050">
                <a:solidFill>
                  <a:srgbClr val="1E4B2B"/>
                </a:solidFill>
                <a:latin typeface="Cambria"/>
                <a:ea typeface="Cambria"/>
                <a:cs typeface="Cambria"/>
                <a:sym typeface="Cambria"/>
              </a:rPr>
              <a:t>Retrieve &amp; rerank</a:t>
            </a:r>
            <a:endParaRPr b="1" sz="1050">
              <a:solidFill>
                <a:srgbClr val="1E4B2B"/>
              </a:solidFill>
              <a:latin typeface="Cambria"/>
              <a:ea typeface="Cambria"/>
              <a:cs typeface="Cambria"/>
              <a:sym typeface="Cambria"/>
            </a:endParaRPr>
          </a:p>
        </p:txBody>
      </p:sp>
      <p:sp>
        <p:nvSpPr>
          <p:cNvPr id="409" name="Google Shape;409;p56"/>
          <p:cNvSpPr/>
          <p:nvPr/>
        </p:nvSpPr>
        <p:spPr>
          <a:xfrm>
            <a:off x="375400" y="1601185"/>
            <a:ext cx="2670000" cy="3198000"/>
          </a:xfrm>
          <a:prstGeom prst="roundRect">
            <a:avLst>
              <a:gd fmla="val 1712" name="adj"/>
            </a:avLst>
          </a:prstGeom>
          <a:solidFill>
            <a:srgbClr val="F3F6F1"/>
          </a:solidFill>
          <a:ln cap="flat" cmpd="sng" w="12700">
            <a:solidFill>
              <a:srgbClr val="D9E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6"/>
          <p:cNvSpPr/>
          <p:nvPr/>
        </p:nvSpPr>
        <p:spPr>
          <a:xfrm>
            <a:off x="375394" y="1601193"/>
            <a:ext cx="2670000" cy="41100"/>
          </a:xfrm>
          <a:prstGeom prst="rect">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6"/>
          <p:cNvSpPr txBox="1"/>
          <p:nvPr/>
        </p:nvSpPr>
        <p:spPr>
          <a:xfrm>
            <a:off x="512554" y="1729209"/>
            <a:ext cx="23958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lang="en" sz="1050">
                <a:solidFill>
                  <a:srgbClr val="1E4B2B"/>
                </a:solidFill>
                <a:latin typeface="Cambria"/>
                <a:ea typeface="Cambria"/>
                <a:cs typeface="Cambria"/>
                <a:sym typeface="Cambria"/>
              </a:rPr>
              <a:t>Chunks</a:t>
            </a:r>
            <a:endParaRPr b="0" i="0" sz="1050" u="none" cap="none" strike="noStrike">
              <a:solidFill>
                <a:srgbClr val="000000"/>
              </a:solidFill>
              <a:latin typeface="Arial"/>
              <a:ea typeface="Arial"/>
              <a:cs typeface="Arial"/>
              <a:sym typeface="Arial"/>
            </a:endParaRPr>
          </a:p>
        </p:txBody>
      </p:sp>
      <p:sp>
        <p:nvSpPr>
          <p:cNvPr id="412" name="Google Shape;412;p56"/>
          <p:cNvSpPr txBox="1"/>
          <p:nvPr/>
        </p:nvSpPr>
        <p:spPr>
          <a:xfrm>
            <a:off x="6309360" y="4864608"/>
            <a:ext cx="2469000" cy="219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50"/>
              <a:buFont typeface="Arial"/>
              <a:buNone/>
            </a:pPr>
            <a:r>
              <a:rPr b="0" i="0" lang="en" sz="750" u="none" cap="none" strike="noStrike">
                <a:solidFill>
                  <a:srgbClr val="5B6B5E"/>
                </a:solidFill>
                <a:latin typeface="Calibri"/>
                <a:ea typeface="Calibri"/>
                <a:cs typeface="Calibri"/>
                <a:sym typeface="Calibri"/>
              </a:rPr>
              <a:t>The UK Field Guide — AI Engineering Bootcamp</a:t>
            </a:r>
            <a:endParaRPr b="0" i="0" sz="750" u="none" cap="none" strike="noStrike">
              <a:solidFill>
                <a:srgbClr val="000000"/>
              </a:solidFill>
              <a:latin typeface="Arial"/>
              <a:ea typeface="Arial"/>
              <a:cs typeface="Arial"/>
              <a:sym typeface="Arial"/>
            </a:endParaRPr>
          </a:p>
        </p:txBody>
      </p:sp>
      <p:sp>
        <p:nvSpPr>
          <p:cNvPr id="413" name="Google Shape;413;p56"/>
          <p:cNvSpPr txBox="1"/>
          <p:nvPr/>
        </p:nvSpPr>
        <p:spPr>
          <a:xfrm>
            <a:off x="6264596" y="1997422"/>
            <a:ext cx="2395800" cy="27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700">
                <a:solidFill>
                  <a:srgbClr val="17351F"/>
                </a:solidFill>
                <a:latin typeface="Calibri"/>
                <a:ea typeface="Calibri"/>
                <a:cs typeface="Calibri"/>
                <a:sym typeface="Calibri"/>
              </a:rPr>
              <a:t>Based on the identified specie or user’s question, the retrieval fetches the top‑15 most similar documents from ChromaDB using embeddings. Then, a cross‑encoder reranker re‑scores these 15 candidates based on their semantic relevance to the actual query, filters out weak matches, and keeps only the top‑7 most relevant passages for the agent.</a:t>
            </a:r>
            <a:endParaRPr sz="700">
              <a:solidFill>
                <a:srgbClr val="17351F"/>
              </a:solidFill>
              <a:latin typeface="Calibri"/>
              <a:ea typeface="Calibri"/>
              <a:cs typeface="Calibri"/>
              <a:sym typeface="Calibri"/>
            </a:endParaRPr>
          </a:p>
          <a:p>
            <a:pPr indent="0" lvl="0" marL="0" rtl="0" algn="l">
              <a:spcBef>
                <a:spcPts val="0"/>
              </a:spcBef>
              <a:spcAft>
                <a:spcPts val="0"/>
              </a:spcAft>
              <a:buNone/>
            </a:pPr>
            <a:r>
              <a:t/>
            </a:r>
            <a:endParaRPr sz="700">
              <a:solidFill>
                <a:srgbClr val="17351F"/>
              </a:solidFill>
              <a:latin typeface="Calibri"/>
              <a:ea typeface="Calibri"/>
              <a:cs typeface="Calibri"/>
              <a:sym typeface="Calibri"/>
            </a:endParaRPr>
          </a:p>
          <a:p>
            <a:pPr indent="0" lvl="0" marL="0" rtl="0" algn="l">
              <a:spcBef>
                <a:spcPts val="0"/>
              </a:spcBef>
              <a:spcAft>
                <a:spcPts val="0"/>
              </a:spcAft>
              <a:buNone/>
            </a:pPr>
            <a:r>
              <a:rPr lang="en" sz="700">
                <a:solidFill>
                  <a:srgbClr val="17351F"/>
                </a:solidFill>
                <a:latin typeface="Calibri"/>
                <a:ea typeface="Calibri"/>
                <a:cs typeface="Calibri"/>
                <a:sym typeface="Calibri"/>
              </a:rPr>
              <a:t>Key settings:</a:t>
            </a:r>
            <a:endParaRPr sz="700">
              <a:solidFill>
                <a:srgbClr val="17351F"/>
              </a:solidFill>
              <a:latin typeface="Calibri"/>
              <a:ea typeface="Calibri"/>
              <a:cs typeface="Calibri"/>
              <a:sym typeface="Calibri"/>
            </a:endParaRPr>
          </a:p>
          <a:p>
            <a:pPr indent="-90170" lvl="0" marL="274320" rtl="0" algn="l">
              <a:spcBef>
                <a:spcPts val="0"/>
              </a:spcBef>
              <a:spcAft>
                <a:spcPts val="0"/>
              </a:spcAft>
              <a:buClr>
                <a:srgbClr val="17351F"/>
              </a:buClr>
              <a:buSzPts val="700"/>
              <a:buFont typeface="Calibri"/>
              <a:buChar char="●"/>
            </a:pPr>
            <a:r>
              <a:rPr lang="en" sz="700">
                <a:solidFill>
                  <a:srgbClr val="17351F"/>
                </a:solidFill>
                <a:latin typeface="Calibri"/>
                <a:ea typeface="Calibri"/>
                <a:cs typeface="Calibri"/>
                <a:sym typeface="Calibri"/>
              </a:rPr>
              <a:t>Initial retrieval (DEFAULT_K): 15 documents.</a:t>
            </a:r>
            <a:endParaRPr sz="700">
              <a:solidFill>
                <a:srgbClr val="17351F"/>
              </a:solidFill>
              <a:latin typeface="Calibri"/>
              <a:ea typeface="Calibri"/>
              <a:cs typeface="Calibri"/>
              <a:sym typeface="Calibri"/>
            </a:endParaRPr>
          </a:p>
          <a:p>
            <a:pPr indent="-90170" lvl="0" marL="274320" rtl="0" algn="l">
              <a:spcBef>
                <a:spcPts val="0"/>
              </a:spcBef>
              <a:spcAft>
                <a:spcPts val="0"/>
              </a:spcAft>
              <a:buClr>
                <a:srgbClr val="17351F"/>
              </a:buClr>
              <a:buSzPts val="700"/>
              <a:buFont typeface="Calibri"/>
              <a:buChar char="●"/>
            </a:pPr>
            <a:r>
              <a:rPr lang="en" sz="700">
                <a:solidFill>
                  <a:srgbClr val="17351F"/>
                </a:solidFill>
                <a:latin typeface="Calibri"/>
                <a:ea typeface="Calibri"/>
                <a:cs typeface="Calibri"/>
                <a:sym typeface="Calibri"/>
              </a:rPr>
              <a:t>Reranker model: ms-marco-MultiBERT-L-12 (via FlashrankRerank).</a:t>
            </a:r>
            <a:endParaRPr sz="700">
              <a:solidFill>
                <a:srgbClr val="17351F"/>
              </a:solidFill>
              <a:latin typeface="Calibri"/>
              <a:ea typeface="Calibri"/>
              <a:cs typeface="Calibri"/>
              <a:sym typeface="Calibri"/>
            </a:endParaRPr>
          </a:p>
          <a:p>
            <a:pPr indent="-90170" lvl="0" marL="274320" rtl="0" algn="l">
              <a:spcBef>
                <a:spcPts val="0"/>
              </a:spcBef>
              <a:spcAft>
                <a:spcPts val="0"/>
              </a:spcAft>
              <a:buClr>
                <a:srgbClr val="17351F"/>
              </a:buClr>
              <a:buSzPts val="700"/>
              <a:buFont typeface="Calibri"/>
              <a:buChar char="●"/>
            </a:pPr>
            <a:r>
              <a:rPr lang="en" sz="700">
                <a:solidFill>
                  <a:srgbClr val="17351F"/>
                </a:solidFill>
                <a:latin typeface="Calibri"/>
                <a:ea typeface="Calibri"/>
                <a:cs typeface="Calibri"/>
                <a:sym typeface="Calibri"/>
              </a:rPr>
              <a:t>Score threshold: 0.7 (drops passages below this confidence).</a:t>
            </a:r>
            <a:endParaRPr sz="700">
              <a:solidFill>
                <a:srgbClr val="17351F"/>
              </a:solidFill>
              <a:latin typeface="Calibri"/>
              <a:ea typeface="Calibri"/>
              <a:cs typeface="Calibri"/>
              <a:sym typeface="Calibri"/>
            </a:endParaRPr>
          </a:p>
          <a:p>
            <a:pPr indent="-90170" lvl="0" marL="274320" rtl="0" algn="l">
              <a:spcBef>
                <a:spcPts val="0"/>
              </a:spcBef>
              <a:spcAft>
                <a:spcPts val="0"/>
              </a:spcAft>
              <a:buClr>
                <a:srgbClr val="17351F"/>
              </a:buClr>
              <a:buSzPts val="700"/>
              <a:buFont typeface="Calibri"/>
              <a:buChar char="●"/>
            </a:pPr>
            <a:r>
              <a:rPr lang="en" sz="700">
                <a:solidFill>
                  <a:srgbClr val="17351F"/>
                </a:solidFill>
                <a:latin typeface="Calibri"/>
                <a:ea typeface="Calibri"/>
                <a:cs typeface="Calibri"/>
                <a:sym typeface="Calibri"/>
              </a:rPr>
              <a:t>Final retrieval (FINAL_k): 7 documents.</a:t>
            </a:r>
            <a:endParaRPr sz="700">
              <a:solidFill>
                <a:srgbClr val="17351F"/>
              </a:solidFill>
              <a:latin typeface="Calibri"/>
              <a:ea typeface="Calibri"/>
              <a:cs typeface="Calibri"/>
              <a:sym typeface="Calibri"/>
            </a:endParaRPr>
          </a:p>
          <a:p>
            <a:pPr indent="0" lvl="0" marL="0" rtl="0" algn="l">
              <a:spcBef>
                <a:spcPts val="0"/>
              </a:spcBef>
              <a:spcAft>
                <a:spcPts val="0"/>
              </a:spcAft>
              <a:buNone/>
            </a:pPr>
            <a:r>
              <a:t/>
            </a:r>
            <a:endParaRPr sz="700">
              <a:solidFill>
                <a:srgbClr val="17351F"/>
              </a:solidFill>
              <a:latin typeface="Calibri"/>
              <a:ea typeface="Calibri"/>
              <a:cs typeface="Calibri"/>
              <a:sym typeface="Calibri"/>
            </a:endParaRPr>
          </a:p>
          <a:p>
            <a:pPr indent="0" lvl="0" marL="0" rtl="0" algn="l">
              <a:spcBef>
                <a:spcPts val="0"/>
              </a:spcBef>
              <a:spcAft>
                <a:spcPts val="0"/>
              </a:spcAft>
              <a:buNone/>
            </a:pPr>
            <a:r>
              <a:rPr lang="en" sz="700">
                <a:solidFill>
                  <a:srgbClr val="17351F"/>
                </a:solidFill>
                <a:latin typeface="Calibri"/>
                <a:ea typeface="Calibri"/>
                <a:cs typeface="Calibri"/>
                <a:sym typeface="Calibri"/>
              </a:rPr>
              <a:t>This two‑stage design is a classic cost/accuracy trade‑off. Embedding‑based retrieval is cheap but coarse. Reranking all 15 with a cross‑encoder is more expensive, but by limiting that step to just 15 candidates, the pipeline stays fast while substantially improving precision. The 0.7 threshold aggressively prunes irrelevant chunks, ensuring that only high‑confidence passages reach the LLM, reducing hallucinations at the risk of dropping useful but low‑scoring context. </a:t>
            </a:r>
            <a:endParaRPr sz="700">
              <a:solidFill>
                <a:srgbClr val="17351F"/>
              </a:solidFill>
              <a:latin typeface="Calibri"/>
              <a:ea typeface="Calibri"/>
              <a:cs typeface="Calibri"/>
              <a:sym typeface="Calibri"/>
            </a:endParaRPr>
          </a:p>
        </p:txBody>
      </p:sp>
      <p:sp>
        <p:nvSpPr>
          <p:cNvPr id="414" name="Google Shape;414;p56"/>
          <p:cNvSpPr txBox="1"/>
          <p:nvPr/>
        </p:nvSpPr>
        <p:spPr>
          <a:xfrm>
            <a:off x="527425" y="1997435"/>
            <a:ext cx="2395800" cy="27144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1100"/>
              <a:buFont typeface="Arial"/>
              <a:buNone/>
            </a:pPr>
            <a:r>
              <a:rPr lang="en" sz="700">
                <a:solidFill>
                  <a:srgbClr val="17351F"/>
                </a:solidFill>
                <a:latin typeface="Calibri"/>
                <a:ea typeface="Calibri"/>
                <a:cs typeface="Calibri"/>
                <a:sym typeface="Calibri"/>
              </a:rPr>
              <a:t>Before splitting, every document is whitespace-cleaned and hashed to drop duplicates (e.g. repeated book scans under different filenames), so chunking only ever runs on the cleaned, de-duplicated corpus.</a:t>
            </a:r>
            <a:endParaRPr sz="700">
              <a:solidFill>
                <a:srgbClr val="17351F"/>
              </a:solidFill>
              <a:latin typeface="Calibri"/>
              <a:ea typeface="Calibri"/>
              <a:cs typeface="Calibri"/>
              <a:sym typeface="Calibri"/>
            </a:endParaRPr>
          </a:p>
          <a:p>
            <a:pPr indent="0" lvl="0" marL="0" rtl="0" algn="l">
              <a:lnSpc>
                <a:spcPct val="120000"/>
              </a:lnSpc>
              <a:spcBef>
                <a:spcPts val="0"/>
              </a:spcBef>
              <a:spcAft>
                <a:spcPts val="0"/>
              </a:spcAft>
              <a:buNone/>
            </a:pPr>
            <a:r>
              <a:rPr lang="en" sz="700">
                <a:solidFill>
                  <a:srgbClr val="17351F"/>
                </a:solidFill>
                <a:latin typeface="Calibri"/>
                <a:ea typeface="Calibri"/>
                <a:cs typeface="Calibri"/>
                <a:sym typeface="Calibri"/>
              </a:rPr>
              <a:t>The field-guide corpus is then split using LangChain's CharacterTextSplitter with a fixed-character strategy, the separator="", which cuts purely by character count, not sentence or paragraph.</a:t>
            </a:r>
            <a:endParaRPr sz="700">
              <a:solidFill>
                <a:srgbClr val="17351F"/>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n" sz="700">
                <a:solidFill>
                  <a:srgbClr val="17351F"/>
                </a:solidFill>
                <a:latin typeface="Calibri"/>
                <a:ea typeface="Calibri"/>
                <a:cs typeface="Calibri"/>
                <a:sym typeface="Calibri"/>
              </a:rPr>
              <a:t>Chunk size is set to 1000 characters, balancing two competing needs: large enough to preserve meaningful context around a fact, but small enough for the embedding model to represent precisely and the reranker to score quickly. Chunk overlap is set to 100 characters, which guards against the fixed-character splitting strategy cutting a sentence or fact in half at an arbitrary boundary.</a:t>
            </a:r>
            <a:endParaRPr sz="700">
              <a:solidFill>
                <a:srgbClr val="17351F"/>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t/>
            </a:r>
            <a:endParaRPr sz="200">
              <a:solidFill>
                <a:srgbClr val="17351F"/>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n" sz="700">
                <a:solidFill>
                  <a:srgbClr val="17351F"/>
                </a:solidFill>
                <a:latin typeface="Calibri"/>
                <a:ea typeface="Calibri"/>
                <a:cs typeface="Calibri"/>
                <a:sym typeface="Calibri"/>
              </a:rPr>
              <a:t>Key settings:</a:t>
            </a:r>
            <a:endParaRPr sz="700">
              <a:solidFill>
                <a:srgbClr val="17351F"/>
              </a:solidFill>
              <a:latin typeface="Calibri"/>
              <a:ea typeface="Calibri"/>
              <a:cs typeface="Calibri"/>
              <a:sym typeface="Calibri"/>
            </a:endParaRPr>
          </a:p>
          <a:p>
            <a:pPr indent="-90170" lvl="0" marL="274320" rtl="0" algn="l">
              <a:lnSpc>
                <a:spcPct val="120000"/>
              </a:lnSpc>
              <a:spcBef>
                <a:spcPts val="0"/>
              </a:spcBef>
              <a:spcAft>
                <a:spcPts val="0"/>
              </a:spcAft>
              <a:buClr>
                <a:srgbClr val="17351F"/>
              </a:buClr>
              <a:buSzPts val="700"/>
              <a:buFont typeface="Calibri"/>
              <a:buChar char="●"/>
            </a:pPr>
            <a:r>
              <a:rPr lang="en" sz="700">
                <a:solidFill>
                  <a:srgbClr val="17351F"/>
                </a:solidFill>
                <a:latin typeface="Calibri"/>
                <a:ea typeface="Calibri"/>
                <a:cs typeface="Calibri"/>
                <a:sym typeface="Calibri"/>
              </a:rPr>
              <a:t>Splitting strategy: fixed-</a:t>
            </a:r>
            <a:r>
              <a:rPr lang="en" sz="700">
                <a:solidFill>
                  <a:srgbClr val="17351F"/>
                </a:solidFill>
                <a:latin typeface="Calibri"/>
                <a:ea typeface="Calibri"/>
                <a:cs typeface="Calibri"/>
                <a:sym typeface="Calibri"/>
              </a:rPr>
              <a:t>characters split.</a:t>
            </a:r>
            <a:endParaRPr sz="700">
              <a:solidFill>
                <a:srgbClr val="17351F"/>
              </a:solidFill>
              <a:latin typeface="Calibri"/>
              <a:ea typeface="Calibri"/>
              <a:cs typeface="Calibri"/>
              <a:sym typeface="Calibri"/>
            </a:endParaRPr>
          </a:p>
          <a:p>
            <a:pPr indent="-90170" lvl="0" marL="274320" rtl="0" algn="l">
              <a:lnSpc>
                <a:spcPct val="120000"/>
              </a:lnSpc>
              <a:spcBef>
                <a:spcPts val="0"/>
              </a:spcBef>
              <a:spcAft>
                <a:spcPts val="0"/>
              </a:spcAft>
              <a:buClr>
                <a:srgbClr val="17351F"/>
              </a:buClr>
              <a:buSzPts val="700"/>
              <a:buFont typeface="Calibri"/>
              <a:buChar char="●"/>
            </a:pPr>
            <a:r>
              <a:rPr lang="en" sz="700">
                <a:solidFill>
                  <a:srgbClr val="17351F"/>
                </a:solidFill>
                <a:latin typeface="Calibri"/>
                <a:ea typeface="Calibri"/>
                <a:cs typeface="Calibri"/>
                <a:sym typeface="Calibri"/>
              </a:rPr>
              <a:t>Chunk size: 1000 characters.</a:t>
            </a:r>
            <a:endParaRPr sz="700">
              <a:solidFill>
                <a:srgbClr val="17351F"/>
              </a:solidFill>
              <a:latin typeface="Calibri"/>
              <a:ea typeface="Calibri"/>
              <a:cs typeface="Calibri"/>
              <a:sym typeface="Calibri"/>
            </a:endParaRPr>
          </a:p>
          <a:p>
            <a:pPr indent="-90170" lvl="0" marL="274320" rtl="0" algn="l">
              <a:lnSpc>
                <a:spcPct val="120000"/>
              </a:lnSpc>
              <a:spcBef>
                <a:spcPts val="0"/>
              </a:spcBef>
              <a:spcAft>
                <a:spcPts val="0"/>
              </a:spcAft>
              <a:buClr>
                <a:srgbClr val="17351F"/>
              </a:buClr>
              <a:buSzPts val="700"/>
              <a:buFont typeface="Calibri"/>
              <a:buChar char="●"/>
            </a:pPr>
            <a:r>
              <a:rPr lang="en" sz="700">
                <a:solidFill>
                  <a:srgbClr val="17351F"/>
                </a:solidFill>
                <a:latin typeface="Calibri"/>
                <a:ea typeface="Calibri"/>
                <a:cs typeface="Calibri"/>
                <a:sym typeface="Calibri"/>
              </a:rPr>
              <a:t>Chunk overlap: 100 characters.</a:t>
            </a:r>
            <a:endParaRPr sz="700">
              <a:solidFill>
                <a:srgbClr val="17351F"/>
              </a:solidFill>
              <a:latin typeface="Calibri"/>
              <a:ea typeface="Calibri"/>
              <a:cs typeface="Calibri"/>
              <a:sym typeface="Calibri"/>
            </a:endParaRPr>
          </a:p>
          <a:p>
            <a:pPr indent="0" lvl="0" marL="0" rtl="0" algn="l">
              <a:lnSpc>
                <a:spcPct val="120000"/>
              </a:lnSpc>
              <a:spcBef>
                <a:spcPts val="0"/>
              </a:spcBef>
              <a:spcAft>
                <a:spcPts val="0"/>
              </a:spcAft>
              <a:buNone/>
            </a:pPr>
            <a:r>
              <a:t/>
            </a:r>
            <a:endParaRPr sz="200">
              <a:solidFill>
                <a:srgbClr val="17351F"/>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n" sz="700">
                <a:solidFill>
                  <a:srgbClr val="17351F"/>
                </a:solidFill>
                <a:latin typeface="Calibri"/>
                <a:ea typeface="Calibri"/>
                <a:cs typeface="Calibri"/>
                <a:sym typeface="Calibri"/>
              </a:rPr>
              <a:t>Each chunk keeps its source filename, position in the document, and any citation metadata carried over from that source's record.</a:t>
            </a:r>
            <a:endParaRPr sz="700">
              <a:solidFill>
                <a:srgbClr val="17351F"/>
              </a:solidFill>
              <a:latin typeface="Calibri"/>
              <a:ea typeface="Calibri"/>
              <a:cs typeface="Calibri"/>
              <a:sym typeface="Calibri"/>
            </a:endParaRPr>
          </a:p>
        </p:txBody>
      </p:sp>
      <p:sp>
        <p:nvSpPr>
          <p:cNvPr id="415" name="Google Shape;415;p56"/>
          <p:cNvSpPr txBox="1"/>
          <p:nvPr/>
        </p:nvSpPr>
        <p:spPr>
          <a:xfrm>
            <a:off x="365760" y="512064"/>
            <a:ext cx="8229600" cy="146400"/>
          </a:xfrm>
          <a:prstGeom prst="rect">
            <a:avLst/>
          </a:prstGeom>
          <a:noFill/>
          <a:ln>
            <a:noFill/>
          </a:ln>
        </p:spPr>
        <p:txBody>
          <a:bodyPr anchorCtr="0" anchor="ctr" bIns="0" lIns="0" spcFirstLastPara="1" rIns="0" wrap="square" tIns="0">
            <a:noAutofit/>
          </a:bodyPr>
          <a:lstStyle/>
          <a:p>
            <a:pPr indent="0" lvl="0" marL="0" rtl="0" algn="l">
              <a:lnSpc>
                <a:spcPct val="102000"/>
              </a:lnSpc>
              <a:spcBef>
                <a:spcPts val="0"/>
              </a:spcBef>
              <a:spcAft>
                <a:spcPts val="0"/>
              </a:spcAft>
              <a:buClr>
                <a:schemeClr val="dk1"/>
              </a:buClr>
              <a:buSzPts val="1900"/>
              <a:buFont typeface="Arial"/>
              <a:buNone/>
            </a:pPr>
            <a:r>
              <a:rPr i="1" lang="en" sz="950">
                <a:solidFill>
                  <a:srgbClr val="5B6B5E"/>
                </a:solidFill>
                <a:latin typeface="Calibri"/>
                <a:ea typeface="Calibri"/>
                <a:cs typeface="Calibri"/>
                <a:sym typeface="Calibri"/>
              </a:rPr>
              <a:t>Ho</a:t>
            </a:r>
            <a:r>
              <a:rPr i="1" lang="en" sz="950">
                <a:solidFill>
                  <a:srgbClr val="5B6B5E"/>
                </a:solidFill>
                <a:latin typeface="Calibri"/>
                <a:ea typeface="Calibri"/>
                <a:cs typeface="Calibri"/>
                <a:sym typeface="Calibri"/>
              </a:rPr>
              <a:t>w the corpus is chunked, stored, and retrieved</a:t>
            </a:r>
            <a:endParaRPr i="1" sz="950">
              <a:solidFill>
                <a:srgbClr val="5B6B5E"/>
              </a:solidFill>
              <a:latin typeface="Calibri"/>
              <a:ea typeface="Calibri"/>
              <a:cs typeface="Calibri"/>
              <a:sym typeface="Calibri"/>
            </a:endParaRPr>
          </a:p>
        </p:txBody>
      </p:sp>
      <p:sp>
        <p:nvSpPr>
          <p:cNvPr id="416" name="Google Shape;416;p56"/>
          <p:cNvSpPr txBox="1"/>
          <p:nvPr/>
        </p:nvSpPr>
        <p:spPr>
          <a:xfrm>
            <a:off x="365750" y="201173"/>
            <a:ext cx="8412600" cy="310800"/>
          </a:xfrm>
          <a:prstGeom prst="rect">
            <a:avLst/>
          </a:prstGeom>
          <a:noFill/>
          <a:ln>
            <a:noFill/>
          </a:ln>
        </p:spPr>
        <p:txBody>
          <a:bodyPr anchorCtr="0" anchor="ctr" bIns="0" lIns="0" spcFirstLastPara="1" rIns="0" wrap="square" tIns="0">
            <a:noAutofit/>
          </a:bodyPr>
          <a:lstStyle/>
          <a:p>
            <a:pPr indent="0" lvl="0" marL="0" rtl="0" algn="l">
              <a:lnSpc>
                <a:spcPct val="102000"/>
              </a:lnSpc>
              <a:spcBef>
                <a:spcPts val="0"/>
              </a:spcBef>
              <a:spcAft>
                <a:spcPts val="0"/>
              </a:spcAft>
              <a:buClr>
                <a:schemeClr val="dk1"/>
              </a:buClr>
              <a:buSzPts val="1900"/>
              <a:buFont typeface="Arial"/>
              <a:buNone/>
            </a:pPr>
            <a:r>
              <a:rPr b="1" lang="en" sz="1900">
                <a:solidFill>
                  <a:srgbClr val="1E4B2B"/>
                </a:solidFill>
                <a:latin typeface="Cambria"/>
                <a:ea typeface="Cambria"/>
                <a:cs typeface="Cambria"/>
                <a:sym typeface="Cambria"/>
              </a:rPr>
              <a:t>Building the k</a:t>
            </a:r>
            <a:r>
              <a:rPr b="1" lang="en" sz="1900">
                <a:solidFill>
                  <a:srgbClr val="1E4B2B"/>
                </a:solidFill>
                <a:latin typeface="Cambria"/>
                <a:ea typeface="Cambria"/>
                <a:cs typeface="Cambria"/>
                <a:sym typeface="Cambria"/>
              </a:rPr>
              <a:t>nowledge base</a:t>
            </a:r>
            <a:endParaRPr b="1" sz="1900">
              <a:solidFill>
                <a:srgbClr val="1E4B2B"/>
              </a:solidFill>
              <a:latin typeface="Cambria"/>
              <a:ea typeface="Cambria"/>
              <a:cs typeface="Cambria"/>
              <a:sym typeface="Cambria"/>
            </a:endParaRPr>
          </a:p>
        </p:txBody>
      </p:sp>
      <p:sp>
        <p:nvSpPr>
          <p:cNvPr id="417" name="Google Shape;417;p56"/>
          <p:cNvSpPr/>
          <p:nvPr/>
        </p:nvSpPr>
        <p:spPr>
          <a:xfrm>
            <a:off x="1389888" y="799434"/>
            <a:ext cx="1086900" cy="614100"/>
          </a:xfrm>
          <a:prstGeom prst="roundRect">
            <a:avLst>
              <a:gd fmla="val 16667" name="adj"/>
            </a:avLst>
          </a:prstGeom>
          <a:solidFill>
            <a:srgbClr val="F4F6F7"/>
          </a:solidFill>
          <a:ln cap="flat" cmpd="sng" w="19050">
            <a:solidFill>
              <a:srgbClr val="162B39"/>
            </a:solidFill>
            <a:prstDash val="solid"/>
            <a:round/>
            <a:headEnd len="sm" w="sm" type="none"/>
            <a:tailEnd len="sm" w="sm" type="none"/>
          </a:ln>
          <a:effectLst>
            <a:outerShdw blurRad="40000" rotWithShape="0" dir="5400000" dist="23000">
              <a:srgbClr val="000000">
                <a:alpha val="34900"/>
              </a:srgbClr>
            </a:outerShdw>
          </a:effectLst>
        </p:spPr>
        <p:txBody>
          <a:bodyPr anchorCtr="0" anchor="t" bIns="34275" lIns="109725" spcFirstLastPara="1" rIns="109725" wrap="square" tIns="109725">
            <a:noAutofit/>
          </a:bodyPr>
          <a:lstStyle/>
          <a:p>
            <a:pPr indent="0" lvl="0" marL="0" marR="0" rtl="0" algn="ctr">
              <a:spcBef>
                <a:spcPts val="0"/>
              </a:spcBef>
              <a:spcAft>
                <a:spcPts val="0"/>
              </a:spcAft>
              <a:buNone/>
            </a:pPr>
            <a:r>
              <a:rPr b="1" lang="en" sz="1100">
                <a:solidFill>
                  <a:srgbClr val="162B39"/>
                </a:solidFill>
                <a:latin typeface="Calibri"/>
                <a:ea typeface="Calibri"/>
                <a:cs typeface="Calibri"/>
                <a:sym typeface="Calibri"/>
              </a:rPr>
              <a:t>362</a:t>
            </a:r>
            <a:endParaRPr sz="1100"/>
          </a:p>
          <a:p>
            <a:pPr indent="0" lvl="0" marL="0" marR="0" rtl="0" algn="ctr">
              <a:spcBef>
                <a:spcPts val="0"/>
              </a:spcBef>
              <a:spcAft>
                <a:spcPts val="0"/>
              </a:spcAft>
              <a:buNone/>
            </a:pPr>
            <a:r>
              <a:rPr b="0" i="0" lang="en" sz="800" u="none" cap="none" strike="noStrike">
                <a:solidFill>
                  <a:srgbClr val="162B39"/>
                </a:solidFill>
                <a:latin typeface="Calibri"/>
                <a:ea typeface="Calibri"/>
                <a:cs typeface="Calibri"/>
                <a:sym typeface="Calibri"/>
              </a:rPr>
              <a:t>Documents</a:t>
            </a:r>
            <a:endParaRPr sz="1100"/>
          </a:p>
        </p:txBody>
      </p:sp>
      <p:sp>
        <p:nvSpPr>
          <p:cNvPr id="418" name="Google Shape;418;p56"/>
          <p:cNvSpPr/>
          <p:nvPr/>
        </p:nvSpPr>
        <p:spPr>
          <a:xfrm>
            <a:off x="2669157" y="799439"/>
            <a:ext cx="1188000" cy="614100"/>
          </a:xfrm>
          <a:prstGeom prst="roundRect">
            <a:avLst>
              <a:gd fmla="val 16667" name="adj"/>
            </a:avLst>
          </a:prstGeom>
          <a:solidFill>
            <a:srgbClr val="FAF4E1"/>
          </a:solidFill>
          <a:ln cap="flat" cmpd="sng" w="19050">
            <a:solidFill>
              <a:srgbClr val="CE9D32"/>
            </a:solidFill>
            <a:prstDash val="solid"/>
            <a:round/>
            <a:headEnd len="sm" w="sm" type="none"/>
            <a:tailEnd len="sm" w="sm" type="none"/>
          </a:ln>
          <a:effectLst>
            <a:outerShdw blurRad="40000" rotWithShape="0" dir="5400000" dist="23000">
              <a:srgbClr val="000000">
                <a:alpha val="34900"/>
              </a:srgbClr>
            </a:outerShdw>
          </a:effectLst>
        </p:spPr>
        <p:txBody>
          <a:bodyPr anchorCtr="0" anchor="t" bIns="0" lIns="0" spcFirstLastPara="1" rIns="0" wrap="square" tIns="73150">
            <a:noAutofit/>
          </a:bodyPr>
          <a:lstStyle/>
          <a:p>
            <a:pPr indent="0" lvl="0" marL="0" marR="0" rtl="0" algn="ctr">
              <a:spcBef>
                <a:spcPts val="0"/>
              </a:spcBef>
              <a:spcAft>
                <a:spcPts val="0"/>
              </a:spcAft>
              <a:buNone/>
            </a:pPr>
            <a:r>
              <a:rPr b="1" lang="en" sz="1100">
                <a:solidFill>
                  <a:srgbClr val="162B39"/>
                </a:solidFill>
                <a:latin typeface="Calibri"/>
                <a:ea typeface="Calibri"/>
                <a:cs typeface="Calibri"/>
                <a:sym typeface="Calibri"/>
              </a:rPr>
              <a:t>1000</a:t>
            </a:r>
            <a:endParaRPr sz="1100">
              <a:solidFill>
                <a:srgbClr val="162B39"/>
              </a:solidFill>
            </a:endParaRPr>
          </a:p>
          <a:p>
            <a:pPr indent="0" lvl="0" marL="0" marR="0" rtl="0" algn="ctr">
              <a:spcBef>
                <a:spcPts val="0"/>
              </a:spcBef>
              <a:spcAft>
                <a:spcPts val="0"/>
              </a:spcAft>
              <a:buNone/>
            </a:pPr>
            <a:r>
              <a:rPr lang="en" sz="800">
                <a:solidFill>
                  <a:srgbClr val="162B39"/>
                </a:solidFill>
                <a:latin typeface="Calibri"/>
                <a:ea typeface="Calibri"/>
                <a:cs typeface="Calibri"/>
                <a:sym typeface="Calibri"/>
              </a:rPr>
              <a:t>chars per chunk</a:t>
            </a:r>
            <a:endParaRPr sz="1100">
              <a:solidFill>
                <a:srgbClr val="162B39"/>
              </a:solidFill>
            </a:endParaRPr>
          </a:p>
          <a:p>
            <a:pPr indent="0" lvl="0" marL="0" marR="0" rtl="0" algn="ctr">
              <a:spcBef>
                <a:spcPts val="200"/>
              </a:spcBef>
              <a:spcAft>
                <a:spcPts val="0"/>
              </a:spcAft>
              <a:buNone/>
            </a:pPr>
            <a:r>
              <a:rPr lang="en" sz="800">
                <a:solidFill>
                  <a:srgbClr val="162B39"/>
                </a:solidFill>
                <a:latin typeface="Calibri"/>
                <a:ea typeface="Calibri"/>
                <a:cs typeface="Calibri"/>
                <a:sym typeface="Calibri"/>
              </a:rPr>
              <a:t>100 chars overlap</a:t>
            </a:r>
            <a:endParaRPr sz="1100">
              <a:solidFill>
                <a:srgbClr val="162B39"/>
              </a:solidFill>
            </a:endParaRPr>
          </a:p>
        </p:txBody>
      </p:sp>
      <p:sp>
        <p:nvSpPr>
          <p:cNvPr id="419" name="Google Shape;419;p56"/>
          <p:cNvSpPr/>
          <p:nvPr/>
        </p:nvSpPr>
        <p:spPr>
          <a:xfrm>
            <a:off x="5253013" y="799438"/>
            <a:ext cx="1086900" cy="614100"/>
          </a:xfrm>
          <a:prstGeom prst="roundRect">
            <a:avLst>
              <a:gd fmla="val 16667" name="adj"/>
            </a:avLst>
          </a:prstGeom>
          <a:solidFill>
            <a:srgbClr val="E7F5F7"/>
          </a:solidFill>
          <a:ln cap="flat" cmpd="sng" w="19050">
            <a:solidFill>
              <a:srgbClr val="2A7D87"/>
            </a:solidFill>
            <a:prstDash val="solid"/>
            <a:round/>
            <a:headEnd len="sm" w="sm" type="none"/>
            <a:tailEnd len="sm" w="sm" type="none"/>
          </a:ln>
          <a:effectLst>
            <a:outerShdw blurRad="40000" rotWithShape="0" dir="5400000" dist="23000">
              <a:srgbClr val="000000">
                <a:alpha val="34900"/>
              </a:srgbClr>
            </a:outerShdw>
          </a:effectLst>
        </p:spPr>
        <p:txBody>
          <a:bodyPr anchorCtr="0" anchor="t" bIns="0" lIns="0" spcFirstLastPara="1" rIns="0" wrap="square" tIns="73150">
            <a:noAutofit/>
          </a:bodyPr>
          <a:lstStyle/>
          <a:p>
            <a:pPr indent="0" lvl="0" marL="0" marR="0" rtl="0" algn="ctr">
              <a:spcBef>
                <a:spcPts val="0"/>
              </a:spcBef>
              <a:spcAft>
                <a:spcPts val="0"/>
              </a:spcAft>
              <a:buNone/>
            </a:pPr>
            <a:r>
              <a:rPr b="1" lang="en" sz="1100">
                <a:solidFill>
                  <a:srgbClr val="162B39"/>
                </a:solidFill>
                <a:latin typeface="Calibri"/>
                <a:ea typeface="Calibri"/>
                <a:cs typeface="Calibri"/>
                <a:sym typeface="Calibri"/>
              </a:rPr>
              <a:t>0.7</a:t>
            </a:r>
            <a:endParaRPr b="0" i="0" sz="800" u="none" cap="none" strike="noStrike">
              <a:solidFill>
                <a:srgbClr val="162B39"/>
              </a:solidFill>
              <a:latin typeface="Calibri"/>
              <a:ea typeface="Calibri"/>
              <a:cs typeface="Calibri"/>
              <a:sym typeface="Calibri"/>
            </a:endParaRPr>
          </a:p>
          <a:p>
            <a:pPr indent="0" lvl="0" marL="0" marR="0" rtl="0" algn="ctr">
              <a:spcBef>
                <a:spcPts val="0"/>
              </a:spcBef>
              <a:spcAft>
                <a:spcPts val="0"/>
              </a:spcAft>
              <a:buNone/>
            </a:pPr>
            <a:r>
              <a:rPr lang="en" sz="800">
                <a:solidFill>
                  <a:srgbClr val="17351F"/>
                </a:solidFill>
                <a:latin typeface="Calibri"/>
                <a:ea typeface="Calibri"/>
                <a:cs typeface="Calibri"/>
                <a:sym typeface="Calibri"/>
              </a:rPr>
              <a:t>score threshold</a:t>
            </a:r>
            <a:endParaRPr sz="800">
              <a:solidFill>
                <a:srgbClr val="17351F"/>
              </a:solidFill>
              <a:latin typeface="Calibri"/>
              <a:ea typeface="Calibri"/>
              <a:cs typeface="Calibri"/>
              <a:sym typeface="Calibri"/>
            </a:endParaRPr>
          </a:p>
          <a:p>
            <a:pPr indent="0" lvl="0" marL="0" marR="0" rtl="0" algn="ctr">
              <a:spcBef>
                <a:spcPts val="0"/>
              </a:spcBef>
              <a:spcAft>
                <a:spcPts val="0"/>
              </a:spcAft>
              <a:buNone/>
            </a:pPr>
            <a:r>
              <a:rPr lang="en" sz="800">
                <a:solidFill>
                  <a:srgbClr val="17351F"/>
                </a:solidFill>
                <a:latin typeface="Calibri"/>
                <a:ea typeface="Calibri"/>
                <a:cs typeface="Calibri"/>
                <a:sym typeface="Calibri"/>
              </a:rPr>
              <a:t>rerenker cutoff</a:t>
            </a:r>
            <a:endParaRPr sz="800">
              <a:solidFill>
                <a:srgbClr val="17351F"/>
              </a:solidFill>
              <a:latin typeface="Calibri"/>
              <a:ea typeface="Calibri"/>
              <a:cs typeface="Calibri"/>
              <a:sym typeface="Calibri"/>
            </a:endParaRPr>
          </a:p>
        </p:txBody>
      </p:sp>
      <p:sp>
        <p:nvSpPr>
          <p:cNvPr id="420" name="Google Shape;420;p56"/>
          <p:cNvSpPr/>
          <p:nvPr/>
        </p:nvSpPr>
        <p:spPr>
          <a:xfrm>
            <a:off x="4022669" y="799437"/>
            <a:ext cx="1052400" cy="614100"/>
          </a:xfrm>
          <a:prstGeom prst="roundRect">
            <a:avLst>
              <a:gd fmla="val 16667" name="adj"/>
            </a:avLst>
          </a:prstGeom>
          <a:solidFill>
            <a:srgbClr val="E8F4EA"/>
          </a:solidFill>
          <a:ln cap="flat" cmpd="sng" w="19050">
            <a:solidFill>
              <a:srgbClr val="28733D"/>
            </a:solidFill>
            <a:prstDash val="solid"/>
            <a:round/>
            <a:headEnd len="sm" w="sm" type="none"/>
            <a:tailEnd len="sm" w="sm" type="none"/>
          </a:ln>
          <a:effectLst>
            <a:outerShdw blurRad="40000" rotWithShape="0" dir="5400000" dist="23000">
              <a:srgbClr val="000000">
                <a:alpha val="34900"/>
              </a:srgbClr>
            </a:outerShdw>
          </a:effectLst>
        </p:spPr>
        <p:txBody>
          <a:bodyPr anchorCtr="0" anchor="t" bIns="0" lIns="0" spcFirstLastPara="1" rIns="0" wrap="square" tIns="73150">
            <a:noAutofit/>
          </a:bodyPr>
          <a:lstStyle/>
          <a:p>
            <a:pPr indent="0" lvl="0" marL="0" marR="0" rtl="0" algn="ctr">
              <a:spcBef>
                <a:spcPts val="0"/>
              </a:spcBef>
              <a:spcAft>
                <a:spcPts val="0"/>
              </a:spcAft>
              <a:buNone/>
            </a:pPr>
            <a:r>
              <a:rPr b="1" lang="en" sz="1100">
                <a:solidFill>
                  <a:srgbClr val="162B39"/>
                </a:solidFill>
                <a:latin typeface="Calibri"/>
                <a:ea typeface="Calibri"/>
                <a:cs typeface="Calibri"/>
                <a:sym typeface="Calibri"/>
              </a:rPr>
              <a:t>15 </a:t>
            </a:r>
            <a:endParaRPr b="1" sz="1100">
              <a:solidFill>
                <a:srgbClr val="162B39"/>
              </a:solidFill>
              <a:latin typeface="Calibri"/>
              <a:ea typeface="Calibri"/>
              <a:cs typeface="Calibri"/>
              <a:sym typeface="Calibri"/>
            </a:endParaRPr>
          </a:p>
          <a:p>
            <a:pPr indent="0" lvl="0" marL="0" marR="0" rtl="0" algn="ctr">
              <a:spcBef>
                <a:spcPts val="0"/>
              </a:spcBef>
              <a:spcAft>
                <a:spcPts val="0"/>
              </a:spcAft>
              <a:buNone/>
            </a:pPr>
            <a:r>
              <a:rPr lang="en" sz="800">
                <a:solidFill>
                  <a:srgbClr val="162B39"/>
                </a:solidFill>
                <a:latin typeface="Calibri"/>
                <a:ea typeface="Calibri"/>
                <a:cs typeface="Calibri"/>
                <a:sym typeface="Calibri"/>
              </a:rPr>
              <a:t>c</a:t>
            </a:r>
            <a:r>
              <a:rPr lang="en" sz="800">
                <a:solidFill>
                  <a:srgbClr val="162B39"/>
                </a:solidFill>
                <a:latin typeface="Calibri"/>
                <a:ea typeface="Calibri"/>
                <a:cs typeface="Calibri"/>
                <a:sym typeface="Calibri"/>
              </a:rPr>
              <a:t>andidates</a:t>
            </a:r>
            <a:endParaRPr sz="800">
              <a:solidFill>
                <a:srgbClr val="162B39"/>
              </a:solidFill>
              <a:latin typeface="Calibri"/>
              <a:ea typeface="Calibri"/>
              <a:cs typeface="Calibri"/>
              <a:sym typeface="Calibri"/>
            </a:endParaRPr>
          </a:p>
          <a:p>
            <a:pPr indent="0" lvl="0" marL="0" marR="0" rtl="0" algn="ctr">
              <a:spcBef>
                <a:spcPts val="0"/>
              </a:spcBef>
              <a:spcAft>
                <a:spcPts val="0"/>
              </a:spcAft>
              <a:buNone/>
            </a:pPr>
            <a:r>
              <a:rPr lang="en" sz="800">
                <a:solidFill>
                  <a:srgbClr val="162B39"/>
                </a:solidFill>
                <a:latin typeface="Calibri"/>
                <a:ea typeface="Calibri"/>
                <a:cs typeface="Calibri"/>
                <a:sym typeface="Calibri"/>
              </a:rPr>
              <a:t>embedding search</a:t>
            </a:r>
            <a:endParaRPr sz="800">
              <a:solidFill>
                <a:srgbClr val="162B39"/>
              </a:solidFill>
              <a:latin typeface="Calibri"/>
              <a:ea typeface="Calibri"/>
              <a:cs typeface="Calibri"/>
              <a:sym typeface="Calibri"/>
            </a:endParaRPr>
          </a:p>
        </p:txBody>
      </p:sp>
      <p:sp>
        <p:nvSpPr>
          <p:cNvPr id="421" name="Google Shape;421;p56"/>
          <p:cNvSpPr/>
          <p:nvPr/>
        </p:nvSpPr>
        <p:spPr>
          <a:xfrm>
            <a:off x="6517869" y="797071"/>
            <a:ext cx="1052400" cy="614100"/>
          </a:xfrm>
          <a:prstGeom prst="roundRect">
            <a:avLst>
              <a:gd fmla="val 16667" name="adj"/>
            </a:avLst>
          </a:prstGeom>
          <a:solidFill>
            <a:srgbClr val="F4CCCC"/>
          </a:solidFill>
          <a:ln cap="flat" cmpd="sng" w="19050">
            <a:solidFill>
              <a:srgbClr val="990000"/>
            </a:solidFill>
            <a:prstDash val="solid"/>
            <a:round/>
            <a:headEnd len="sm" w="sm" type="none"/>
            <a:tailEnd len="sm" w="sm" type="none"/>
          </a:ln>
          <a:effectLst>
            <a:outerShdw blurRad="40000" rotWithShape="0" dir="5400000" dist="23000">
              <a:srgbClr val="000000">
                <a:alpha val="34900"/>
              </a:srgbClr>
            </a:outerShdw>
          </a:effectLst>
        </p:spPr>
        <p:txBody>
          <a:bodyPr anchorCtr="0" anchor="t" bIns="0" lIns="0" spcFirstLastPara="1" rIns="0" wrap="square" tIns="73150">
            <a:noAutofit/>
          </a:bodyPr>
          <a:lstStyle/>
          <a:p>
            <a:pPr indent="0" lvl="0" marL="0" marR="0" rtl="0" algn="ctr">
              <a:spcBef>
                <a:spcPts val="0"/>
              </a:spcBef>
              <a:spcAft>
                <a:spcPts val="0"/>
              </a:spcAft>
              <a:buNone/>
            </a:pPr>
            <a:r>
              <a:rPr b="1" lang="en" sz="1100">
                <a:solidFill>
                  <a:srgbClr val="162B39"/>
                </a:solidFill>
                <a:latin typeface="Calibri"/>
                <a:ea typeface="Calibri"/>
                <a:cs typeface="Calibri"/>
                <a:sym typeface="Calibri"/>
              </a:rPr>
              <a:t>7</a:t>
            </a:r>
            <a:r>
              <a:rPr b="1" lang="en" sz="1100">
                <a:solidFill>
                  <a:srgbClr val="162B39"/>
                </a:solidFill>
                <a:latin typeface="Calibri"/>
                <a:ea typeface="Calibri"/>
                <a:cs typeface="Calibri"/>
                <a:sym typeface="Calibri"/>
              </a:rPr>
              <a:t> </a:t>
            </a:r>
            <a:endParaRPr b="1" sz="1100">
              <a:solidFill>
                <a:srgbClr val="162B39"/>
              </a:solidFill>
              <a:latin typeface="Calibri"/>
              <a:ea typeface="Calibri"/>
              <a:cs typeface="Calibri"/>
              <a:sym typeface="Calibri"/>
            </a:endParaRPr>
          </a:p>
          <a:p>
            <a:pPr indent="0" lvl="0" marL="0" marR="0" rtl="0" algn="ctr">
              <a:spcBef>
                <a:spcPts val="0"/>
              </a:spcBef>
              <a:spcAft>
                <a:spcPts val="0"/>
              </a:spcAft>
              <a:buNone/>
            </a:pPr>
            <a:r>
              <a:rPr lang="en" sz="800">
                <a:solidFill>
                  <a:srgbClr val="162B39"/>
                </a:solidFill>
                <a:latin typeface="Calibri"/>
                <a:ea typeface="Calibri"/>
                <a:cs typeface="Calibri"/>
                <a:sym typeface="Calibri"/>
              </a:rPr>
              <a:t>final passages</a:t>
            </a:r>
            <a:endParaRPr sz="800">
              <a:solidFill>
                <a:srgbClr val="162B39"/>
              </a:solidFill>
              <a:latin typeface="Calibri"/>
              <a:ea typeface="Calibri"/>
              <a:cs typeface="Calibri"/>
              <a:sym typeface="Calibri"/>
            </a:endParaRPr>
          </a:p>
          <a:p>
            <a:pPr indent="0" lvl="0" marL="0" marR="0" rtl="0" algn="ctr">
              <a:spcBef>
                <a:spcPts val="0"/>
              </a:spcBef>
              <a:spcAft>
                <a:spcPts val="0"/>
              </a:spcAft>
              <a:buNone/>
            </a:pPr>
            <a:r>
              <a:rPr lang="en" sz="800">
                <a:solidFill>
                  <a:srgbClr val="162B39"/>
                </a:solidFill>
                <a:latin typeface="Calibri"/>
                <a:ea typeface="Calibri"/>
                <a:cs typeface="Calibri"/>
                <a:sym typeface="Calibri"/>
              </a:rPr>
              <a:t>sent to the agent</a:t>
            </a:r>
            <a:endParaRPr sz="800">
              <a:solidFill>
                <a:srgbClr val="162B39"/>
              </a:solidFill>
              <a:latin typeface="Calibri"/>
              <a:ea typeface="Calibri"/>
              <a:cs typeface="Calibri"/>
              <a:sym typeface="Calibri"/>
            </a:endParaRPr>
          </a:p>
        </p:txBody>
      </p:sp>
      <p:cxnSp>
        <p:nvCxnSpPr>
          <p:cNvPr id="422" name="Google Shape;422;p56"/>
          <p:cNvCxnSpPr>
            <a:stCxn id="417" idx="3"/>
            <a:endCxn id="418" idx="1"/>
          </p:cNvCxnSpPr>
          <p:nvPr/>
        </p:nvCxnSpPr>
        <p:spPr>
          <a:xfrm>
            <a:off x="2476788" y="1106484"/>
            <a:ext cx="192300" cy="0"/>
          </a:xfrm>
          <a:prstGeom prst="straightConnector1">
            <a:avLst/>
          </a:prstGeom>
          <a:noFill/>
          <a:ln cap="flat" cmpd="sng" w="19050">
            <a:solidFill>
              <a:schemeClr val="dk2"/>
            </a:solidFill>
            <a:prstDash val="solid"/>
            <a:round/>
            <a:headEnd len="med" w="med" type="none"/>
            <a:tailEnd len="med" w="med" type="none"/>
          </a:ln>
        </p:spPr>
      </p:cxnSp>
      <p:cxnSp>
        <p:nvCxnSpPr>
          <p:cNvPr id="423" name="Google Shape;423;p56"/>
          <p:cNvCxnSpPr>
            <a:endCxn id="420" idx="1"/>
          </p:cNvCxnSpPr>
          <p:nvPr/>
        </p:nvCxnSpPr>
        <p:spPr>
          <a:xfrm>
            <a:off x="3857069" y="1106487"/>
            <a:ext cx="165600" cy="0"/>
          </a:xfrm>
          <a:prstGeom prst="straightConnector1">
            <a:avLst/>
          </a:prstGeom>
          <a:noFill/>
          <a:ln cap="flat" cmpd="sng" w="19050">
            <a:solidFill>
              <a:schemeClr val="dk2"/>
            </a:solidFill>
            <a:prstDash val="solid"/>
            <a:round/>
            <a:headEnd len="med" w="med" type="none"/>
            <a:tailEnd len="med" w="med" type="none"/>
          </a:ln>
        </p:spPr>
      </p:cxnSp>
      <p:cxnSp>
        <p:nvCxnSpPr>
          <p:cNvPr id="424" name="Google Shape;424;p56"/>
          <p:cNvCxnSpPr>
            <a:stCxn id="420" idx="3"/>
            <a:endCxn id="419" idx="1"/>
          </p:cNvCxnSpPr>
          <p:nvPr/>
        </p:nvCxnSpPr>
        <p:spPr>
          <a:xfrm>
            <a:off x="5075069" y="1106487"/>
            <a:ext cx="177900" cy="0"/>
          </a:xfrm>
          <a:prstGeom prst="straightConnector1">
            <a:avLst/>
          </a:prstGeom>
          <a:noFill/>
          <a:ln cap="flat" cmpd="sng" w="19050">
            <a:solidFill>
              <a:schemeClr val="dk2"/>
            </a:solidFill>
            <a:prstDash val="solid"/>
            <a:round/>
            <a:headEnd len="med" w="med" type="none"/>
            <a:tailEnd len="med" w="med" type="none"/>
          </a:ln>
        </p:spPr>
      </p:cxnSp>
      <p:cxnSp>
        <p:nvCxnSpPr>
          <p:cNvPr id="425" name="Google Shape;425;p56"/>
          <p:cNvCxnSpPr>
            <a:endCxn id="421" idx="1"/>
          </p:cNvCxnSpPr>
          <p:nvPr/>
        </p:nvCxnSpPr>
        <p:spPr>
          <a:xfrm flipH="1" rot="10800000">
            <a:off x="6339969" y="1104121"/>
            <a:ext cx="177900" cy="2400"/>
          </a:xfrm>
          <a:prstGeom prst="straightConnector1">
            <a:avLst/>
          </a:prstGeom>
          <a:noFill/>
          <a:ln cap="flat" cmpd="sng" w="19050">
            <a:solidFill>
              <a:schemeClr val="dk2"/>
            </a:solidFill>
            <a:prstDash val="solid"/>
            <a:round/>
            <a:headEnd len="med" w="med" type="none"/>
            <a:tailEnd len="med" w="med" type="none"/>
          </a:ln>
        </p:spPr>
      </p:cxnSp>
      <p:sp>
        <p:nvSpPr>
          <p:cNvPr id="426" name="Google Shape;426;p56"/>
          <p:cNvSpPr txBox="1"/>
          <p:nvPr>
            <p:ph idx="12" type="sldNum"/>
          </p:nvPr>
        </p:nvSpPr>
        <p:spPr>
          <a:xfrm>
            <a:off x="7424928" y="4837176"/>
            <a:ext cx="16002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sz="800">
                <a:solidFill>
                  <a:srgbClr val="5B6B5E"/>
                </a:solidFill>
              </a:rPr>
              <a:t>‹#›</a:t>
            </a:fld>
            <a:endParaRPr sz="800">
              <a:solidFill>
                <a:srgbClr val="5B6B5E"/>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0" name="Shape 430"/>
        <p:cNvGrpSpPr/>
        <p:nvPr/>
      </p:nvGrpSpPr>
      <p:grpSpPr>
        <a:xfrm>
          <a:off x="0" y="0"/>
          <a:ext cx="0" cy="0"/>
          <a:chOff x="0" y="0"/>
          <a:chExt cx="0" cy="0"/>
        </a:xfrm>
      </p:grpSpPr>
      <p:sp>
        <p:nvSpPr>
          <p:cNvPr id="431" name="Google Shape;431;p57"/>
          <p:cNvSpPr txBox="1"/>
          <p:nvPr/>
        </p:nvSpPr>
        <p:spPr>
          <a:xfrm>
            <a:off x="365750" y="201168"/>
            <a:ext cx="8412600" cy="3108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1900"/>
              <a:buFont typeface="Arial"/>
              <a:buNone/>
            </a:pPr>
            <a:r>
              <a:rPr b="1" lang="en" sz="1900">
                <a:solidFill>
                  <a:srgbClr val="1E4B2B"/>
                </a:solidFill>
                <a:latin typeface="Cambria"/>
                <a:ea typeface="Cambria"/>
                <a:cs typeface="Cambria"/>
                <a:sym typeface="Cambria"/>
              </a:rPr>
              <a:t>Two agents, one conversation</a:t>
            </a:r>
            <a:endParaRPr b="1" sz="1900">
              <a:solidFill>
                <a:srgbClr val="1E4B2B"/>
              </a:solidFill>
              <a:latin typeface="Cambria"/>
              <a:ea typeface="Cambria"/>
              <a:cs typeface="Cambria"/>
              <a:sym typeface="Cambria"/>
            </a:endParaRPr>
          </a:p>
        </p:txBody>
      </p:sp>
      <p:sp>
        <p:nvSpPr>
          <p:cNvPr id="432" name="Google Shape;432;p57"/>
          <p:cNvSpPr txBox="1"/>
          <p:nvPr/>
        </p:nvSpPr>
        <p:spPr>
          <a:xfrm>
            <a:off x="365710" y="512064"/>
            <a:ext cx="8229600" cy="14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i="1" lang="en" sz="950">
                <a:solidFill>
                  <a:srgbClr val="5B6B5E"/>
                </a:solidFill>
                <a:latin typeface="Calibri"/>
                <a:ea typeface="Calibri"/>
                <a:cs typeface="Calibri"/>
                <a:sym typeface="Calibri"/>
              </a:rPr>
              <a:t>What each agent is responsible for, and how the app remembers what you've already discussed</a:t>
            </a:r>
            <a:endParaRPr i="1" sz="950">
              <a:solidFill>
                <a:srgbClr val="5B6B5E"/>
              </a:solidFill>
              <a:latin typeface="Calibri"/>
              <a:ea typeface="Calibri"/>
              <a:cs typeface="Calibri"/>
              <a:sym typeface="Calibri"/>
            </a:endParaRPr>
          </a:p>
        </p:txBody>
      </p:sp>
      <p:sp>
        <p:nvSpPr>
          <p:cNvPr id="433" name="Google Shape;433;p57"/>
          <p:cNvSpPr/>
          <p:nvPr/>
        </p:nvSpPr>
        <p:spPr>
          <a:xfrm>
            <a:off x="365750" y="1367629"/>
            <a:ext cx="4526400" cy="2235600"/>
          </a:xfrm>
          <a:prstGeom prst="roundRect">
            <a:avLst>
              <a:gd fmla="val 2128" name="adj"/>
            </a:avLst>
          </a:prstGeom>
          <a:solidFill>
            <a:srgbClr val="F3F6F1"/>
          </a:solidFill>
          <a:ln cap="flat" cmpd="sng" w="12700">
            <a:solidFill>
              <a:srgbClr val="D9E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57"/>
          <p:cNvSpPr txBox="1"/>
          <p:nvPr/>
        </p:nvSpPr>
        <p:spPr>
          <a:xfrm>
            <a:off x="530352" y="1486494"/>
            <a:ext cx="41970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en" sz="1150" u="none" cap="none" strike="noStrike">
                <a:solidFill>
                  <a:srgbClr val="1E4B2B"/>
                </a:solidFill>
                <a:latin typeface="Cambria"/>
                <a:ea typeface="Cambria"/>
                <a:cs typeface="Cambria"/>
                <a:sym typeface="Cambria"/>
              </a:rPr>
              <a:t>Agent 1 — </a:t>
            </a:r>
            <a:r>
              <a:rPr b="1" i="0" lang="en" sz="1150" u="none" cap="none" strike="noStrike">
                <a:solidFill>
                  <a:srgbClr val="1E4B2B"/>
                </a:solidFill>
                <a:latin typeface="Cambria"/>
                <a:ea typeface="Cambria"/>
                <a:cs typeface="Cambria"/>
                <a:sym typeface="Cambria"/>
              </a:rPr>
              <a:t>Wildlife</a:t>
            </a:r>
            <a:r>
              <a:rPr b="1" i="0" lang="en" sz="1150" u="none" cap="none" strike="noStrike">
                <a:solidFill>
                  <a:srgbClr val="1E4B2B"/>
                </a:solidFill>
                <a:latin typeface="Cambria"/>
                <a:ea typeface="Cambria"/>
                <a:cs typeface="Cambria"/>
                <a:sym typeface="Cambria"/>
              </a:rPr>
              <a:t> Analyst</a:t>
            </a:r>
            <a:endParaRPr b="0" i="0" sz="1150" u="none" cap="none" strike="noStrike">
              <a:solidFill>
                <a:srgbClr val="000000"/>
              </a:solidFill>
              <a:latin typeface="Arial"/>
              <a:ea typeface="Arial"/>
              <a:cs typeface="Arial"/>
              <a:sym typeface="Arial"/>
            </a:endParaRPr>
          </a:p>
        </p:txBody>
      </p:sp>
      <p:sp>
        <p:nvSpPr>
          <p:cNvPr id="435" name="Google Shape;435;p57"/>
          <p:cNvSpPr txBox="1"/>
          <p:nvPr/>
        </p:nvSpPr>
        <p:spPr>
          <a:xfrm>
            <a:off x="530352" y="2387101"/>
            <a:ext cx="4197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i="0" lang="en" sz="700" u="none" cap="none" strike="noStrike">
                <a:solidFill>
                  <a:srgbClr val="17351F"/>
                </a:solidFill>
                <a:latin typeface="Calibri"/>
                <a:ea typeface="Calibri"/>
                <a:cs typeface="Calibri"/>
                <a:sym typeface="Calibri"/>
              </a:rPr>
              <a:t>Capabilities Tools:</a:t>
            </a:r>
            <a:endParaRPr i="0" sz="700" u="none" cap="none" strike="noStrike">
              <a:solidFill>
                <a:srgbClr val="000000"/>
              </a:solidFill>
            </a:endParaRPr>
          </a:p>
        </p:txBody>
      </p:sp>
      <p:sp>
        <p:nvSpPr>
          <p:cNvPr id="436" name="Google Shape;436;p57"/>
          <p:cNvSpPr txBox="1"/>
          <p:nvPr/>
        </p:nvSpPr>
        <p:spPr>
          <a:xfrm>
            <a:off x="530350" y="2588275"/>
            <a:ext cx="4197000" cy="1014900"/>
          </a:xfrm>
          <a:prstGeom prst="rect">
            <a:avLst/>
          </a:prstGeom>
          <a:noFill/>
          <a:ln>
            <a:noFill/>
          </a:ln>
        </p:spPr>
        <p:txBody>
          <a:bodyPr anchorCtr="0" anchor="t" bIns="0" lIns="0" spcFirstLastPara="1" rIns="0" wrap="square" tIns="0">
            <a:noAutofit/>
          </a:bodyPr>
          <a:lstStyle/>
          <a:p>
            <a:pPr indent="-90170" lvl="0" marL="274320" marR="0" rtl="0" algn="l">
              <a:lnSpc>
                <a:spcPct val="115000"/>
              </a:lnSpc>
              <a:spcBef>
                <a:spcPts val="300"/>
              </a:spcBef>
              <a:spcAft>
                <a:spcPts val="0"/>
              </a:spcAft>
              <a:buClr>
                <a:srgbClr val="17351F"/>
              </a:buClr>
              <a:buSzPts val="700"/>
              <a:buFont typeface="Roboto"/>
              <a:buChar char="●"/>
            </a:pPr>
            <a:r>
              <a:rPr b="0" i="0" lang="en" sz="700" u="none" cap="none" strike="noStrike">
                <a:solidFill>
                  <a:srgbClr val="17351F"/>
                </a:solidFill>
                <a:latin typeface="Calibri"/>
                <a:ea typeface="Calibri"/>
                <a:cs typeface="Calibri"/>
                <a:sym typeface="Calibri"/>
              </a:rPr>
              <a:t>retrieve_documents – fetches relevant passages from the vector store and must be called before answering any species‑specific question.</a:t>
            </a:r>
            <a:endParaRPr b="0" i="0" sz="700" u="none" cap="none" strike="noStrike">
              <a:solidFill>
                <a:srgbClr val="17351F"/>
              </a:solidFill>
              <a:latin typeface="Calibri"/>
              <a:ea typeface="Calibri"/>
              <a:cs typeface="Calibri"/>
              <a:sym typeface="Calibri"/>
            </a:endParaRPr>
          </a:p>
          <a:p>
            <a:pPr indent="-90170" lvl="0" marL="274320" marR="0" rtl="0" algn="l">
              <a:lnSpc>
                <a:spcPct val="115000"/>
              </a:lnSpc>
              <a:spcBef>
                <a:spcPts val="0"/>
              </a:spcBef>
              <a:spcAft>
                <a:spcPts val="0"/>
              </a:spcAft>
              <a:buClr>
                <a:srgbClr val="17351F"/>
              </a:buClr>
              <a:buSzPts val="700"/>
              <a:buFont typeface="Roboto"/>
              <a:buChar char="●"/>
            </a:pPr>
            <a:r>
              <a:rPr b="0" i="0" lang="en" sz="700" u="none" cap="none" strike="noStrike">
                <a:solidFill>
                  <a:srgbClr val="17351F"/>
                </a:solidFill>
                <a:latin typeface="Calibri"/>
                <a:ea typeface="Calibri"/>
                <a:cs typeface="Calibri"/>
                <a:sym typeface="Calibri"/>
              </a:rPr>
              <a:t>summarise_topic – produces up to  2000 words insightful account of a topic or species, ending with a concise summary.</a:t>
            </a:r>
            <a:endParaRPr b="0" i="0" sz="700" u="none" cap="none" strike="noStrike">
              <a:solidFill>
                <a:srgbClr val="17351F"/>
              </a:solidFill>
              <a:latin typeface="Calibri"/>
              <a:ea typeface="Calibri"/>
              <a:cs typeface="Calibri"/>
              <a:sym typeface="Calibri"/>
            </a:endParaRPr>
          </a:p>
          <a:p>
            <a:pPr indent="-90170" lvl="0" marL="274320" marR="0" rtl="0" algn="l">
              <a:lnSpc>
                <a:spcPct val="115000"/>
              </a:lnSpc>
              <a:spcBef>
                <a:spcPts val="0"/>
              </a:spcBef>
              <a:spcAft>
                <a:spcPts val="0"/>
              </a:spcAft>
              <a:buClr>
                <a:srgbClr val="17351F"/>
              </a:buClr>
              <a:buSzPts val="700"/>
              <a:buFont typeface="Roboto"/>
              <a:buChar char="●"/>
            </a:pPr>
            <a:r>
              <a:rPr b="0" i="0" lang="en" sz="700" u="none" cap="none" strike="noStrike">
                <a:solidFill>
                  <a:srgbClr val="17351F"/>
                </a:solidFill>
                <a:latin typeface="Calibri"/>
                <a:ea typeface="Calibri"/>
                <a:cs typeface="Calibri"/>
                <a:sym typeface="Calibri"/>
              </a:rPr>
              <a:t>compare_species – provides a side‑by‑side comparison of two species using the field‑guide data, like habitat, diet, behaviour, threats, status.</a:t>
            </a:r>
            <a:endParaRPr b="0" i="0" sz="700" u="none" cap="none" strike="noStrike">
              <a:solidFill>
                <a:srgbClr val="17351F"/>
              </a:solidFill>
              <a:latin typeface="Calibri"/>
              <a:ea typeface="Calibri"/>
              <a:cs typeface="Calibri"/>
              <a:sym typeface="Calibri"/>
            </a:endParaRPr>
          </a:p>
          <a:p>
            <a:pPr indent="-90170" lvl="0" marL="274320" marR="0" rtl="0" algn="l">
              <a:lnSpc>
                <a:spcPct val="115000"/>
              </a:lnSpc>
              <a:spcBef>
                <a:spcPts val="0"/>
              </a:spcBef>
              <a:spcAft>
                <a:spcPts val="0"/>
              </a:spcAft>
              <a:buClr>
                <a:srgbClr val="17351F"/>
              </a:buClr>
              <a:buSzPts val="700"/>
              <a:buFont typeface="Roboto"/>
              <a:buChar char="●"/>
            </a:pPr>
            <a:r>
              <a:rPr b="0" i="0" lang="en" sz="700" u="none" cap="none" strike="noStrike">
                <a:solidFill>
                  <a:srgbClr val="17351F"/>
                </a:solidFill>
                <a:latin typeface="Calibri"/>
                <a:ea typeface="Calibri"/>
                <a:cs typeface="Calibri"/>
                <a:sym typeface="Calibri"/>
              </a:rPr>
              <a:t>consult_safety_analyst – delegates conservation and invasive‑status checks to the dedicated safety expert, as this is agent-as-tool call into Agent.</a:t>
            </a:r>
            <a:endParaRPr b="0" i="0" sz="700" u="none" cap="none" strike="noStrike">
              <a:solidFill>
                <a:srgbClr val="17351F"/>
              </a:solidFill>
              <a:latin typeface="Calibri"/>
              <a:ea typeface="Calibri"/>
              <a:cs typeface="Calibri"/>
              <a:sym typeface="Calibri"/>
            </a:endParaRPr>
          </a:p>
        </p:txBody>
      </p:sp>
      <p:sp>
        <p:nvSpPr>
          <p:cNvPr id="437" name="Google Shape;437;p57"/>
          <p:cNvSpPr/>
          <p:nvPr/>
        </p:nvSpPr>
        <p:spPr>
          <a:xfrm>
            <a:off x="5120650" y="1367629"/>
            <a:ext cx="3657600" cy="2235600"/>
          </a:xfrm>
          <a:prstGeom prst="roundRect">
            <a:avLst>
              <a:gd fmla="val 2128" name="adj"/>
            </a:avLst>
          </a:prstGeom>
          <a:solidFill>
            <a:srgbClr val="F3F6F1"/>
          </a:solidFill>
          <a:ln cap="flat" cmpd="sng" w="12700">
            <a:solidFill>
              <a:srgbClr val="D9E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57"/>
          <p:cNvSpPr txBox="1"/>
          <p:nvPr/>
        </p:nvSpPr>
        <p:spPr>
          <a:xfrm>
            <a:off x="5266944" y="1486494"/>
            <a:ext cx="336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en" sz="1150" u="none" cap="none" strike="noStrike">
                <a:solidFill>
                  <a:srgbClr val="1E4B2B"/>
                </a:solidFill>
                <a:latin typeface="Cambria"/>
                <a:ea typeface="Cambria"/>
                <a:cs typeface="Cambria"/>
                <a:sym typeface="Cambria"/>
              </a:rPr>
              <a:t>Agent 2 — Safety Analyst</a:t>
            </a:r>
            <a:endParaRPr b="0" i="0" sz="1150" u="none" cap="none" strike="noStrike">
              <a:solidFill>
                <a:srgbClr val="000000"/>
              </a:solidFill>
              <a:latin typeface="Arial"/>
              <a:ea typeface="Arial"/>
              <a:cs typeface="Arial"/>
              <a:sym typeface="Arial"/>
            </a:endParaRPr>
          </a:p>
        </p:txBody>
      </p:sp>
      <p:sp>
        <p:nvSpPr>
          <p:cNvPr id="439" name="Google Shape;439;p57"/>
          <p:cNvSpPr txBox="1"/>
          <p:nvPr/>
        </p:nvSpPr>
        <p:spPr>
          <a:xfrm>
            <a:off x="5266944" y="2614625"/>
            <a:ext cx="3365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800"/>
              <a:buFont typeface="Arial"/>
              <a:buNone/>
            </a:pPr>
            <a:r>
              <a:rPr i="0" lang="en" sz="700" u="none" cap="none" strike="noStrike">
                <a:solidFill>
                  <a:srgbClr val="17351F"/>
                </a:solidFill>
                <a:latin typeface="Calibri"/>
                <a:ea typeface="Calibri"/>
                <a:cs typeface="Calibri"/>
                <a:sym typeface="Calibri"/>
              </a:rPr>
              <a:t>Capabilities Tools:</a:t>
            </a:r>
            <a:endParaRPr i="0" sz="700" u="none" cap="none" strike="noStrike">
              <a:solidFill>
                <a:srgbClr val="17351F"/>
              </a:solidFill>
              <a:latin typeface="Calibri"/>
              <a:ea typeface="Calibri"/>
              <a:cs typeface="Calibri"/>
              <a:sym typeface="Calibri"/>
            </a:endParaRPr>
          </a:p>
        </p:txBody>
      </p:sp>
      <p:sp>
        <p:nvSpPr>
          <p:cNvPr id="440" name="Google Shape;440;p57"/>
          <p:cNvSpPr txBox="1"/>
          <p:nvPr/>
        </p:nvSpPr>
        <p:spPr>
          <a:xfrm>
            <a:off x="5266950" y="2815786"/>
            <a:ext cx="3365100" cy="650400"/>
          </a:xfrm>
          <a:prstGeom prst="rect">
            <a:avLst/>
          </a:prstGeom>
          <a:noFill/>
          <a:ln>
            <a:noFill/>
          </a:ln>
        </p:spPr>
        <p:txBody>
          <a:bodyPr anchorCtr="0" anchor="t" bIns="0" lIns="0" spcFirstLastPara="1" rIns="0" wrap="square" tIns="0">
            <a:noAutofit/>
          </a:bodyPr>
          <a:lstStyle/>
          <a:p>
            <a:pPr indent="-90170" lvl="0" marL="274320" marR="0" rtl="0" algn="l">
              <a:lnSpc>
                <a:spcPct val="115000"/>
              </a:lnSpc>
              <a:spcBef>
                <a:spcPts val="300"/>
              </a:spcBef>
              <a:spcAft>
                <a:spcPts val="0"/>
              </a:spcAft>
              <a:buClr>
                <a:srgbClr val="17351F"/>
              </a:buClr>
              <a:buSzPts val="700"/>
              <a:buFont typeface="Calibri"/>
              <a:buChar char="●"/>
            </a:pPr>
            <a:r>
              <a:rPr b="0" i="0" lang="en" sz="700" u="none" cap="none" strike="noStrike">
                <a:solidFill>
                  <a:srgbClr val="17351F"/>
                </a:solidFill>
                <a:latin typeface="Calibri"/>
                <a:ea typeface="Calibri"/>
                <a:cs typeface="Calibri"/>
                <a:sym typeface="Calibri"/>
              </a:rPr>
              <a:t>extract_conservation_status – finds mentions of UK legal protection, etc., in the </a:t>
            </a:r>
            <a:r>
              <a:rPr lang="en" sz="700">
                <a:solidFill>
                  <a:srgbClr val="17351F"/>
                </a:solidFill>
                <a:latin typeface="Calibri"/>
                <a:ea typeface="Calibri"/>
                <a:cs typeface="Calibri"/>
                <a:sym typeface="Calibri"/>
              </a:rPr>
              <a:t>Invasive / Protected lists</a:t>
            </a:r>
            <a:r>
              <a:rPr b="0" i="0" lang="en" sz="700" u="none" cap="none" strike="noStrike">
                <a:solidFill>
                  <a:srgbClr val="17351F"/>
                </a:solidFill>
                <a:latin typeface="Calibri"/>
                <a:ea typeface="Calibri"/>
                <a:cs typeface="Calibri"/>
                <a:sym typeface="Calibri"/>
              </a:rPr>
              <a:t> database.</a:t>
            </a:r>
            <a:endParaRPr b="0" i="0" sz="700" u="none" cap="none" strike="noStrike">
              <a:solidFill>
                <a:srgbClr val="17351F"/>
              </a:solidFill>
              <a:latin typeface="Calibri"/>
              <a:ea typeface="Calibri"/>
              <a:cs typeface="Calibri"/>
              <a:sym typeface="Calibri"/>
            </a:endParaRPr>
          </a:p>
          <a:p>
            <a:pPr indent="-90170" lvl="0" marL="274320" marR="0" rtl="0" algn="l">
              <a:lnSpc>
                <a:spcPct val="115000"/>
              </a:lnSpc>
              <a:spcBef>
                <a:spcPts val="0"/>
              </a:spcBef>
              <a:spcAft>
                <a:spcPts val="0"/>
              </a:spcAft>
              <a:buClr>
                <a:srgbClr val="17351F"/>
              </a:buClr>
              <a:buSzPts val="700"/>
              <a:buFont typeface="Calibri"/>
              <a:buChar char="●"/>
            </a:pPr>
            <a:r>
              <a:rPr b="0" i="0" lang="en" sz="700" u="none" cap="none" strike="noStrike">
                <a:solidFill>
                  <a:srgbClr val="17351F"/>
                </a:solidFill>
                <a:latin typeface="Calibri"/>
                <a:ea typeface="Calibri"/>
                <a:cs typeface="Calibri"/>
                <a:sym typeface="Calibri"/>
              </a:rPr>
              <a:t>check_invasive_status – checks whether a species is flagged as invasive in a given region, first using a small reference table</a:t>
            </a:r>
            <a:r>
              <a:rPr lang="en" sz="700">
                <a:solidFill>
                  <a:srgbClr val="17351F"/>
                </a:solidFill>
                <a:latin typeface="Calibri"/>
                <a:ea typeface="Calibri"/>
                <a:cs typeface="Calibri"/>
                <a:sym typeface="Calibri"/>
              </a:rPr>
              <a:t>.</a:t>
            </a:r>
            <a:endParaRPr b="0" i="0" sz="700" u="none" cap="none" strike="noStrike">
              <a:solidFill>
                <a:srgbClr val="17351F"/>
              </a:solidFill>
              <a:latin typeface="Calibri"/>
              <a:ea typeface="Calibri"/>
              <a:cs typeface="Calibri"/>
              <a:sym typeface="Calibri"/>
            </a:endParaRPr>
          </a:p>
        </p:txBody>
      </p:sp>
      <p:sp>
        <p:nvSpPr>
          <p:cNvPr id="441" name="Google Shape;441;p57"/>
          <p:cNvSpPr txBox="1"/>
          <p:nvPr/>
        </p:nvSpPr>
        <p:spPr>
          <a:xfrm>
            <a:off x="6309360" y="4864608"/>
            <a:ext cx="2469000" cy="219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50"/>
              <a:buFont typeface="Arial"/>
              <a:buNone/>
            </a:pPr>
            <a:r>
              <a:rPr b="0" i="0" lang="en" sz="750" u="none" cap="none" strike="noStrike">
                <a:solidFill>
                  <a:srgbClr val="5B6B5E"/>
                </a:solidFill>
                <a:latin typeface="Calibri"/>
                <a:ea typeface="Calibri"/>
                <a:cs typeface="Calibri"/>
                <a:sym typeface="Calibri"/>
              </a:rPr>
              <a:t>The UK Field Guide — AI Engineering Bootcamp</a:t>
            </a:r>
            <a:endParaRPr b="0" i="0" sz="750" u="none" cap="none" strike="noStrike">
              <a:solidFill>
                <a:srgbClr val="000000"/>
              </a:solidFill>
              <a:latin typeface="Arial"/>
              <a:ea typeface="Arial"/>
              <a:cs typeface="Arial"/>
              <a:sym typeface="Arial"/>
            </a:endParaRPr>
          </a:p>
        </p:txBody>
      </p:sp>
      <p:sp>
        <p:nvSpPr>
          <p:cNvPr id="442" name="Google Shape;442;p57"/>
          <p:cNvSpPr/>
          <p:nvPr/>
        </p:nvSpPr>
        <p:spPr>
          <a:xfrm>
            <a:off x="365750" y="3696534"/>
            <a:ext cx="8412600" cy="1103700"/>
          </a:xfrm>
          <a:prstGeom prst="roundRect">
            <a:avLst>
              <a:gd fmla="val 1712" name="adj"/>
            </a:avLst>
          </a:prstGeom>
          <a:solidFill>
            <a:srgbClr val="F3F6F1"/>
          </a:solidFill>
          <a:ln cap="flat" cmpd="sng" w="12700">
            <a:solidFill>
              <a:srgbClr val="D9E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57"/>
          <p:cNvSpPr txBox="1"/>
          <p:nvPr/>
        </p:nvSpPr>
        <p:spPr>
          <a:xfrm>
            <a:off x="530353" y="3763819"/>
            <a:ext cx="3657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chemeClr val="dk1"/>
                </a:solidFill>
                <a:latin typeface="Cambria"/>
                <a:ea typeface="Cambria"/>
                <a:cs typeface="Cambria"/>
                <a:sym typeface="Cambria"/>
              </a:rPr>
              <a:t>Conversation memory — Hybrid Approach</a:t>
            </a:r>
            <a:endParaRPr b="0" i="0" sz="1050" u="none" cap="none" strike="noStrike">
              <a:solidFill>
                <a:schemeClr val="dk1"/>
              </a:solidFill>
              <a:latin typeface="Arial"/>
              <a:ea typeface="Arial"/>
              <a:cs typeface="Arial"/>
              <a:sym typeface="Arial"/>
            </a:endParaRPr>
          </a:p>
        </p:txBody>
      </p:sp>
      <p:sp>
        <p:nvSpPr>
          <p:cNvPr id="444" name="Google Shape;444;p57"/>
          <p:cNvSpPr txBox="1"/>
          <p:nvPr/>
        </p:nvSpPr>
        <p:spPr>
          <a:xfrm>
            <a:off x="530450" y="1719552"/>
            <a:ext cx="4197000" cy="6504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300"/>
              </a:spcBef>
              <a:spcAft>
                <a:spcPts val="0"/>
              </a:spcAft>
              <a:buClr>
                <a:srgbClr val="000000"/>
              </a:buClr>
              <a:buSzPts val="700"/>
              <a:buFont typeface="Arial"/>
              <a:buNone/>
            </a:pPr>
            <a:r>
              <a:rPr b="0" i="0" lang="en" sz="700" u="none" cap="none" strike="noStrike">
                <a:solidFill>
                  <a:srgbClr val="17351F"/>
                </a:solidFill>
                <a:latin typeface="Calibri"/>
                <a:ea typeface="Calibri"/>
                <a:cs typeface="Calibri"/>
                <a:sym typeface="Calibri"/>
              </a:rPr>
              <a:t>The agent is the primary user-facing assistant. It acts as a knowledgeable and safety-conscious </a:t>
            </a:r>
            <a:r>
              <a:rPr lang="en" sz="700">
                <a:solidFill>
                  <a:srgbClr val="17351F"/>
                </a:solidFill>
                <a:latin typeface="Calibri"/>
                <a:ea typeface="Calibri"/>
                <a:cs typeface="Calibri"/>
                <a:sym typeface="Calibri"/>
              </a:rPr>
              <a:t>wildlife expert</a:t>
            </a:r>
            <a:r>
              <a:rPr b="0" i="0" lang="en" sz="700" u="none" cap="none" strike="noStrike">
                <a:solidFill>
                  <a:srgbClr val="17351F"/>
                </a:solidFill>
                <a:latin typeface="Calibri"/>
                <a:ea typeface="Calibri"/>
                <a:cs typeface="Calibri"/>
                <a:sym typeface="Calibri"/>
              </a:rPr>
              <a:t>. Its job is to answer the user’s questions about wildlife, like species identification, ecology, threats, etc., by grounding every factual claim in the field‑guide database.</a:t>
            </a:r>
            <a:endParaRPr b="0" i="0" sz="700" u="none" cap="none" strike="noStrike">
              <a:solidFill>
                <a:srgbClr val="17351F"/>
              </a:solidFill>
              <a:latin typeface="Calibri"/>
              <a:ea typeface="Calibri"/>
              <a:cs typeface="Calibri"/>
              <a:sym typeface="Calibri"/>
            </a:endParaRPr>
          </a:p>
          <a:p>
            <a:pPr indent="0" lvl="0" marL="0" marR="0" rtl="0" algn="l">
              <a:lnSpc>
                <a:spcPct val="108000"/>
              </a:lnSpc>
              <a:spcBef>
                <a:spcPts val="300"/>
              </a:spcBef>
              <a:spcAft>
                <a:spcPts val="0"/>
              </a:spcAft>
              <a:buClr>
                <a:srgbClr val="000000"/>
              </a:buClr>
              <a:buSzPts val="700"/>
              <a:buFont typeface="Arial"/>
              <a:buNone/>
            </a:pPr>
            <a:r>
              <a:rPr b="0" i="0" lang="en" sz="700" u="none" cap="none" strike="noStrike">
                <a:solidFill>
                  <a:srgbClr val="17351F"/>
                </a:solidFill>
                <a:latin typeface="Calibri"/>
                <a:ea typeface="Calibri"/>
                <a:cs typeface="Calibri"/>
                <a:sym typeface="Calibri"/>
              </a:rPr>
              <a:t>This agent is instructed not to claim that an image‑based identification is verified, to answer clearly and actionably, and to say explicitly when the retrieved context does not support an answer.</a:t>
            </a:r>
            <a:endParaRPr b="0" i="0" sz="700" u="none" cap="none" strike="noStrike">
              <a:solidFill>
                <a:srgbClr val="17351F"/>
              </a:solidFill>
              <a:latin typeface="Calibri"/>
              <a:ea typeface="Calibri"/>
              <a:cs typeface="Calibri"/>
              <a:sym typeface="Calibri"/>
            </a:endParaRPr>
          </a:p>
        </p:txBody>
      </p:sp>
      <p:sp>
        <p:nvSpPr>
          <p:cNvPr id="445" name="Google Shape;445;p57"/>
          <p:cNvSpPr txBox="1"/>
          <p:nvPr/>
        </p:nvSpPr>
        <p:spPr>
          <a:xfrm>
            <a:off x="5266950" y="1729851"/>
            <a:ext cx="3257400" cy="858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300"/>
              </a:spcBef>
              <a:spcAft>
                <a:spcPts val="0"/>
              </a:spcAft>
              <a:buClr>
                <a:srgbClr val="000000"/>
              </a:buClr>
              <a:buSzPts val="700"/>
              <a:buFont typeface="Arial"/>
              <a:buNone/>
            </a:pPr>
            <a:r>
              <a:rPr b="0" i="0" lang="en" sz="700" u="none" cap="none" strike="noStrike">
                <a:solidFill>
                  <a:srgbClr val="17351F"/>
                </a:solidFill>
                <a:latin typeface="Calibri"/>
                <a:ea typeface="Calibri"/>
                <a:cs typeface="Calibri"/>
                <a:sym typeface="Calibri"/>
              </a:rPr>
              <a:t>The agent is a specialist safety expert, never seen directly by the end user. It is consulted by Agent 1 whenever the conversation touches on legal protection, invasive status, or conservation status. Its role is to provide clear, cited, and actionable status checks.</a:t>
            </a:r>
            <a:endParaRPr b="0" i="0" sz="700" u="none" cap="none" strike="noStrike">
              <a:solidFill>
                <a:srgbClr val="17351F"/>
              </a:solidFill>
              <a:latin typeface="Calibri"/>
              <a:ea typeface="Calibri"/>
              <a:cs typeface="Calibri"/>
              <a:sym typeface="Calibri"/>
            </a:endParaRPr>
          </a:p>
          <a:p>
            <a:pPr indent="0" lvl="0" marL="0" marR="0" rtl="0" algn="l">
              <a:lnSpc>
                <a:spcPct val="108000"/>
              </a:lnSpc>
              <a:spcBef>
                <a:spcPts val="300"/>
              </a:spcBef>
              <a:spcAft>
                <a:spcPts val="0"/>
              </a:spcAft>
              <a:buClr>
                <a:srgbClr val="000000"/>
              </a:buClr>
              <a:buSzPts val="700"/>
              <a:buFont typeface="Arial"/>
              <a:buNone/>
            </a:pPr>
            <a:r>
              <a:rPr b="0" i="0" lang="en" sz="700" u="none" cap="none" strike="noStrike">
                <a:solidFill>
                  <a:srgbClr val="17351F"/>
                </a:solidFill>
                <a:latin typeface="Calibri"/>
                <a:ea typeface="Calibri"/>
                <a:cs typeface="Calibri"/>
                <a:sym typeface="Calibri"/>
              </a:rPr>
              <a:t>This agent keeps its answers brief, in just a few sentences, because its output is used as input for Agent 1’s final reply, not as the final answer to the user. It must also clearly state when the retrieved context does not support an answer and must not claim that an image‑based identification is verified.</a:t>
            </a:r>
            <a:endParaRPr b="0" i="0" sz="700" u="none" cap="none" strike="noStrike">
              <a:solidFill>
                <a:srgbClr val="17351F"/>
              </a:solidFill>
              <a:latin typeface="Calibri"/>
              <a:ea typeface="Calibri"/>
              <a:cs typeface="Calibri"/>
              <a:sym typeface="Calibri"/>
            </a:endParaRPr>
          </a:p>
        </p:txBody>
      </p:sp>
      <p:sp>
        <p:nvSpPr>
          <p:cNvPr id="446" name="Google Shape;446;p57"/>
          <p:cNvSpPr txBox="1"/>
          <p:nvPr/>
        </p:nvSpPr>
        <p:spPr>
          <a:xfrm>
            <a:off x="374998" y="704400"/>
            <a:ext cx="8412600" cy="594300"/>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chemeClr val="dk1"/>
              </a:buClr>
              <a:buSzPts val="930"/>
              <a:buFont typeface="Arial"/>
              <a:buNone/>
            </a:pPr>
            <a:r>
              <a:rPr lang="en" sz="900">
                <a:solidFill>
                  <a:srgbClr val="17351F"/>
                </a:solidFill>
                <a:latin typeface="Calibri"/>
                <a:ea typeface="Calibri"/>
                <a:cs typeface="Calibri"/>
                <a:sym typeface="Calibri"/>
              </a:rPr>
              <a:t>Two agents share the work, one answers your questions by looking up facts in the field guide, and hands off to a dedicated safety expert for protected-species or invasiveness checks.</a:t>
            </a:r>
            <a:endParaRPr i="0" sz="900" u="none" cap="none" strike="noStrike">
              <a:solidFill>
                <a:srgbClr val="17351F"/>
              </a:solidFill>
              <a:latin typeface="Calibri"/>
              <a:ea typeface="Calibri"/>
              <a:cs typeface="Calibri"/>
              <a:sym typeface="Calibri"/>
            </a:endParaRPr>
          </a:p>
          <a:p>
            <a:pPr indent="0" lvl="0" marL="0" marR="0" rtl="0" algn="l">
              <a:lnSpc>
                <a:spcPct val="114000"/>
              </a:lnSpc>
              <a:spcBef>
                <a:spcPts val="0"/>
              </a:spcBef>
              <a:spcAft>
                <a:spcPts val="0"/>
              </a:spcAft>
              <a:buClr>
                <a:schemeClr val="dk1"/>
              </a:buClr>
              <a:buSzPts val="750"/>
              <a:buFont typeface="Arial"/>
              <a:buNone/>
            </a:pPr>
            <a:r>
              <a:rPr i="0" lang="en" sz="900" u="none" cap="none" strike="noStrike">
                <a:solidFill>
                  <a:srgbClr val="17351F"/>
                </a:solidFill>
                <a:latin typeface="Calibri"/>
                <a:ea typeface="Calibri"/>
                <a:cs typeface="Calibri"/>
                <a:sym typeface="Calibri"/>
              </a:rPr>
              <a:t>The system keeps the conversation flowing smoothly by remembering only the most recent exchanges and a short summary of everything before that, so it never gets overwhelmed by a long chat.</a:t>
            </a:r>
            <a:endParaRPr i="0" sz="900" u="none" cap="none" strike="noStrike">
              <a:solidFill>
                <a:srgbClr val="17351F"/>
              </a:solidFill>
              <a:latin typeface="Calibri"/>
              <a:ea typeface="Calibri"/>
              <a:cs typeface="Calibri"/>
              <a:sym typeface="Calibri"/>
            </a:endParaRPr>
          </a:p>
        </p:txBody>
      </p:sp>
      <p:sp>
        <p:nvSpPr>
          <p:cNvPr id="447" name="Google Shape;447;p57"/>
          <p:cNvSpPr txBox="1"/>
          <p:nvPr/>
        </p:nvSpPr>
        <p:spPr>
          <a:xfrm>
            <a:off x="498800" y="4039809"/>
            <a:ext cx="3102300" cy="639900"/>
          </a:xfrm>
          <a:prstGeom prst="rect">
            <a:avLst/>
          </a:prstGeom>
          <a:noFill/>
          <a:ln>
            <a:noFill/>
          </a:ln>
        </p:spPr>
        <p:txBody>
          <a:bodyPr anchorCtr="0" anchor="t" bIns="0" lIns="0" spcFirstLastPara="1" rIns="0" wrap="square" tIns="0">
            <a:noAutofit/>
          </a:bodyPr>
          <a:lstStyle/>
          <a:p>
            <a:pPr indent="-86995" lvl="0" marL="137160" marR="0" rtl="0" algn="l">
              <a:lnSpc>
                <a:spcPct val="108000"/>
              </a:lnSpc>
              <a:spcBef>
                <a:spcPts val="0"/>
              </a:spcBef>
              <a:spcAft>
                <a:spcPts val="0"/>
              </a:spcAft>
              <a:buClr>
                <a:srgbClr val="000000"/>
              </a:buClr>
              <a:buSzPts val="650"/>
              <a:buFont typeface="Arial"/>
              <a:buChar char="•"/>
            </a:pPr>
            <a:r>
              <a:rPr b="1" i="0" lang="en" sz="650" u="none" cap="none" strike="noStrike">
                <a:solidFill>
                  <a:srgbClr val="17351F"/>
                </a:solidFill>
                <a:latin typeface="Calibri"/>
                <a:ea typeface="Calibri"/>
                <a:cs typeface="Calibri"/>
                <a:sym typeface="Calibri"/>
              </a:rPr>
              <a:t>Window: </a:t>
            </a:r>
            <a:r>
              <a:rPr b="0" i="0" lang="en" sz="650" u="none" cap="none" strike="noStrike">
                <a:solidFill>
                  <a:srgbClr val="17351F"/>
                </a:solidFill>
                <a:latin typeface="Calibri"/>
                <a:ea typeface="Calibri"/>
                <a:cs typeface="Calibri"/>
                <a:sym typeface="Calibri"/>
              </a:rPr>
              <a:t>last 3 messages kept verbatim</a:t>
            </a:r>
            <a:endParaRPr b="0" i="0" sz="1400" u="none" cap="none" strike="noStrike">
              <a:solidFill>
                <a:srgbClr val="000000"/>
              </a:solidFill>
              <a:latin typeface="Arial"/>
              <a:ea typeface="Arial"/>
              <a:cs typeface="Arial"/>
              <a:sym typeface="Arial"/>
            </a:endParaRPr>
          </a:p>
          <a:p>
            <a:pPr indent="-86995" lvl="0" marL="137160" marR="0" rtl="0" algn="l">
              <a:lnSpc>
                <a:spcPct val="108000"/>
              </a:lnSpc>
              <a:spcBef>
                <a:spcPts val="200"/>
              </a:spcBef>
              <a:spcAft>
                <a:spcPts val="0"/>
              </a:spcAft>
              <a:buClr>
                <a:srgbClr val="000000"/>
              </a:buClr>
              <a:buSzPts val="650"/>
              <a:buFont typeface="Arial"/>
              <a:buChar char="•"/>
            </a:pPr>
            <a:r>
              <a:rPr b="1" i="0" lang="en" sz="650" u="none" cap="none" strike="noStrike">
                <a:solidFill>
                  <a:srgbClr val="17351F"/>
                </a:solidFill>
                <a:latin typeface="Calibri"/>
                <a:ea typeface="Calibri"/>
                <a:cs typeface="Calibri"/>
                <a:sym typeface="Calibri"/>
              </a:rPr>
              <a:t>Archiving trigger: </a:t>
            </a:r>
            <a:r>
              <a:rPr b="0" i="0" lang="en" sz="650" u="none" cap="none" strike="noStrike">
                <a:solidFill>
                  <a:srgbClr val="17351F"/>
                </a:solidFill>
                <a:latin typeface="Calibri"/>
                <a:ea typeface="Calibri"/>
                <a:cs typeface="Calibri"/>
                <a:sym typeface="Calibri"/>
              </a:rPr>
              <a:t>oldest message folded 1-by-1 into running summary</a:t>
            </a:r>
            <a:endParaRPr b="0" i="0" sz="1400" u="none" cap="none" strike="noStrike">
              <a:solidFill>
                <a:srgbClr val="000000"/>
              </a:solidFill>
              <a:latin typeface="Arial"/>
              <a:ea typeface="Arial"/>
              <a:cs typeface="Arial"/>
              <a:sym typeface="Arial"/>
            </a:endParaRPr>
          </a:p>
          <a:p>
            <a:pPr indent="-86995" lvl="0" marL="137160" marR="0" rtl="0" algn="l">
              <a:lnSpc>
                <a:spcPct val="108000"/>
              </a:lnSpc>
              <a:spcBef>
                <a:spcPts val="200"/>
              </a:spcBef>
              <a:spcAft>
                <a:spcPts val="0"/>
              </a:spcAft>
              <a:buClr>
                <a:srgbClr val="000000"/>
              </a:buClr>
              <a:buSzPts val="650"/>
              <a:buFont typeface="Arial"/>
              <a:buChar char="•"/>
            </a:pPr>
            <a:r>
              <a:rPr b="1" i="0" lang="en" sz="650" u="none" cap="none" strike="noStrike">
                <a:solidFill>
                  <a:srgbClr val="17351F"/>
                </a:solidFill>
                <a:latin typeface="Calibri"/>
                <a:ea typeface="Calibri"/>
                <a:cs typeface="Calibri"/>
                <a:sym typeface="Calibri"/>
              </a:rPr>
              <a:t>Cost: </a:t>
            </a:r>
            <a:r>
              <a:rPr b="0" i="0" lang="en" sz="650" u="none" cap="none" strike="noStrike">
                <a:solidFill>
                  <a:srgbClr val="17351F"/>
                </a:solidFill>
                <a:latin typeface="Calibri"/>
                <a:ea typeface="Calibri"/>
                <a:cs typeface="Calibri"/>
                <a:sym typeface="Calibri"/>
              </a:rPr>
              <a:t>summariser touches 1 message and summary, never full history</a:t>
            </a:r>
            <a:endParaRPr b="0" i="0" sz="650" u="none" cap="none" strike="noStrike">
              <a:solidFill>
                <a:srgbClr val="17351F"/>
              </a:solidFill>
              <a:latin typeface="Calibri"/>
              <a:ea typeface="Calibri"/>
              <a:cs typeface="Calibri"/>
              <a:sym typeface="Calibri"/>
            </a:endParaRPr>
          </a:p>
          <a:p>
            <a:pPr indent="-86995" lvl="0" marL="137160" marR="0" rtl="0" algn="l">
              <a:lnSpc>
                <a:spcPct val="108000"/>
              </a:lnSpc>
              <a:spcBef>
                <a:spcPts val="200"/>
              </a:spcBef>
              <a:spcAft>
                <a:spcPts val="0"/>
              </a:spcAft>
              <a:buClr>
                <a:srgbClr val="17351F"/>
              </a:buClr>
              <a:buSzPts val="650"/>
              <a:buFont typeface="Calibri"/>
              <a:buChar char="•"/>
            </a:pPr>
            <a:r>
              <a:rPr b="1" i="0" lang="en" sz="650" u="none" cap="none" strike="noStrike">
                <a:solidFill>
                  <a:srgbClr val="17351F"/>
                </a:solidFill>
                <a:latin typeface="Calibri"/>
                <a:ea typeface="Calibri"/>
                <a:cs typeface="Calibri"/>
                <a:sym typeface="Calibri"/>
              </a:rPr>
              <a:t>Token efficiency</a:t>
            </a:r>
            <a:r>
              <a:rPr b="0" i="0" lang="en" sz="650" u="none" cap="none" strike="noStrike">
                <a:solidFill>
                  <a:srgbClr val="17351F"/>
                </a:solidFill>
                <a:latin typeface="Calibri"/>
                <a:ea typeface="Calibri"/>
                <a:cs typeface="Calibri"/>
                <a:sym typeface="Calibri"/>
              </a:rPr>
              <a:t>: context size remains roughly flat regardless of conversation length</a:t>
            </a:r>
            <a:endParaRPr b="0" i="0" sz="650" u="none" cap="none" strike="noStrike">
              <a:solidFill>
                <a:srgbClr val="17351F"/>
              </a:solidFill>
              <a:latin typeface="Calibri"/>
              <a:ea typeface="Calibri"/>
              <a:cs typeface="Calibri"/>
              <a:sym typeface="Calibri"/>
            </a:endParaRPr>
          </a:p>
          <a:p>
            <a:pPr indent="-86995" lvl="0" marL="137160" marR="0" rtl="0" algn="l">
              <a:lnSpc>
                <a:spcPct val="108000"/>
              </a:lnSpc>
              <a:spcBef>
                <a:spcPts val="200"/>
              </a:spcBef>
              <a:spcAft>
                <a:spcPts val="0"/>
              </a:spcAft>
              <a:buClr>
                <a:srgbClr val="000000"/>
              </a:buClr>
              <a:buSzPts val="650"/>
              <a:buFont typeface="Arial"/>
              <a:buChar char="•"/>
            </a:pPr>
            <a:r>
              <a:rPr b="1" i="0" lang="en" sz="650" u="none" cap="none" strike="noStrike">
                <a:solidFill>
                  <a:srgbClr val="17351F"/>
                </a:solidFill>
                <a:latin typeface="Calibri"/>
                <a:ea typeface="Calibri"/>
                <a:cs typeface="Calibri"/>
                <a:sym typeface="Calibri"/>
              </a:rPr>
              <a:t>Context order:</a:t>
            </a:r>
            <a:r>
              <a:rPr b="1" i="0" lang="en" sz="600" u="none" cap="none" strike="noStrike">
                <a:solidFill>
                  <a:srgbClr val="17351F"/>
                </a:solidFill>
                <a:latin typeface="Calibri"/>
                <a:ea typeface="Calibri"/>
                <a:cs typeface="Calibri"/>
                <a:sym typeface="Calibri"/>
              </a:rPr>
              <a:t> </a:t>
            </a:r>
            <a:r>
              <a:rPr b="0" i="0" lang="en" sz="600" u="none" cap="none" strike="noStrike">
                <a:solidFill>
                  <a:srgbClr val="17351F"/>
                </a:solidFill>
                <a:latin typeface="Calibri"/>
                <a:ea typeface="Calibri"/>
                <a:cs typeface="Calibri"/>
                <a:sym typeface="Calibri"/>
              </a:rPr>
              <a:t>agent receives System Prompt → Archived Summary → Recent 3 messages</a:t>
            </a:r>
            <a:endParaRPr b="0" i="0" sz="600" u="none" cap="none" strike="noStrike">
              <a:solidFill>
                <a:srgbClr val="17351F"/>
              </a:solidFill>
              <a:latin typeface="Calibri"/>
              <a:ea typeface="Calibri"/>
              <a:cs typeface="Calibri"/>
              <a:sym typeface="Calibri"/>
            </a:endParaRPr>
          </a:p>
        </p:txBody>
      </p:sp>
      <p:sp>
        <p:nvSpPr>
          <p:cNvPr id="448" name="Google Shape;448;p57"/>
          <p:cNvSpPr txBox="1"/>
          <p:nvPr/>
        </p:nvSpPr>
        <p:spPr>
          <a:xfrm>
            <a:off x="3732827" y="4033984"/>
            <a:ext cx="24999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 sz="750" u="none" cap="none" strike="noStrike">
                <a:solidFill>
                  <a:srgbClr val="1E4B2B"/>
                </a:solidFill>
                <a:latin typeface="Cambria"/>
                <a:ea typeface="Cambria"/>
                <a:cs typeface="Cambria"/>
                <a:sym typeface="Cambria"/>
              </a:rPr>
              <a:t>✓ Pros</a:t>
            </a:r>
            <a:endParaRPr b="0" i="0" sz="750" u="none" cap="none" strike="noStrike">
              <a:solidFill>
                <a:srgbClr val="000000"/>
              </a:solidFill>
              <a:latin typeface="Cambria"/>
              <a:ea typeface="Cambria"/>
              <a:cs typeface="Cambria"/>
              <a:sym typeface="Cambria"/>
            </a:endParaRPr>
          </a:p>
        </p:txBody>
      </p:sp>
      <p:sp>
        <p:nvSpPr>
          <p:cNvPr id="449" name="Google Shape;449;p57"/>
          <p:cNvSpPr txBox="1"/>
          <p:nvPr/>
        </p:nvSpPr>
        <p:spPr>
          <a:xfrm>
            <a:off x="3732827" y="4200210"/>
            <a:ext cx="2499900" cy="600000"/>
          </a:xfrm>
          <a:prstGeom prst="rect">
            <a:avLst/>
          </a:prstGeom>
          <a:noFill/>
          <a:ln>
            <a:noFill/>
          </a:ln>
        </p:spPr>
        <p:txBody>
          <a:bodyPr anchorCtr="0" anchor="t" bIns="0" lIns="0" spcFirstLastPara="1" rIns="0" wrap="square" tIns="0">
            <a:noAutofit/>
          </a:bodyPr>
          <a:lstStyle/>
          <a:p>
            <a:pPr indent="-86995" lvl="0" marL="137160" marR="0" rtl="0" algn="l">
              <a:lnSpc>
                <a:spcPct val="118000"/>
              </a:lnSpc>
              <a:spcBef>
                <a:spcPts val="0"/>
              </a:spcBef>
              <a:spcAft>
                <a:spcPts val="0"/>
              </a:spcAft>
              <a:buClr>
                <a:srgbClr val="000000"/>
              </a:buClr>
              <a:buSzPts val="650"/>
              <a:buFont typeface="Arial"/>
              <a:buChar char="•"/>
            </a:pPr>
            <a:r>
              <a:rPr b="1" i="0" lang="en" sz="650" u="none" cap="none" strike="noStrike">
                <a:solidFill>
                  <a:srgbClr val="17351F"/>
                </a:solidFill>
                <a:latin typeface="Calibri"/>
                <a:ea typeface="Calibri"/>
                <a:cs typeface="Calibri"/>
                <a:sym typeface="Calibri"/>
              </a:rPr>
              <a:t>Bounded cost: </a:t>
            </a:r>
            <a:r>
              <a:rPr b="0" i="0" lang="en" sz="650" u="none" cap="none" strike="noStrike">
                <a:solidFill>
                  <a:srgbClr val="17351F"/>
                </a:solidFill>
                <a:latin typeface="Calibri"/>
                <a:ea typeface="Calibri"/>
                <a:cs typeface="Calibri"/>
                <a:sym typeface="Calibri"/>
              </a:rPr>
              <a:t>context stays near-flat as chats grow</a:t>
            </a:r>
            <a:endParaRPr b="0" i="0" sz="1400" u="none" cap="none" strike="noStrike">
              <a:solidFill>
                <a:srgbClr val="000000"/>
              </a:solidFill>
              <a:latin typeface="Arial"/>
              <a:ea typeface="Arial"/>
              <a:cs typeface="Arial"/>
              <a:sym typeface="Arial"/>
            </a:endParaRPr>
          </a:p>
          <a:p>
            <a:pPr indent="-86995" lvl="0" marL="137160" marR="0" rtl="0" algn="l">
              <a:lnSpc>
                <a:spcPct val="118000"/>
              </a:lnSpc>
              <a:spcBef>
                <a:spcPts val="200"/>
              </a:spcBef>
              <a:spcAft>
                <a:spcPts val="0"/>
              </a:spcAft>
              <a:buClr>
                <a:srgbClr val="000000"/>
              </a:buClr>
              <a:buSzPts val="650"/>
              <a:buFont typeface="Arial"/>
              <a:buChar char="•"/>
            </a:pPr>
            <a:r>
              <a:rPr b="1" i="0" lang="en" sz="650" u="none" cap="none" strike="noStrike">
                <a:solidFill>
                  <a:srgbClr val="17351F"/>
                </a:solidFill>
                <a:latin typeface="Calibri"/>
                <a:ea typeface="Calibri"/>
                <a:cs typeface="Calibri"/>
                <a:sym typeface="Calibri"/>
              </a:rPr>
              <a:t>Sharp recency: </a:t>
            </a:r>
            <a:r>
              <a:rPr b="0" i="0" lang="en" sz="650" u="none" cap="none" strike="noStrike">
                <a:solidFill>
                  <a:srgbClr val="17351F"/>
                </a:solidFill>
                <a:latin typeface="Calibri"/>
                <a:ea typeface="Calibri"/>
                <a:cs typeface="Calibri"/>
                <a:sym typeface="Calibri"/>
              </a:rPr>
              <a:t>exact wording kept for last 3 turns</a:t>
            </a:r>
            <a:endParaRPr b="0" i="0" sz="1400" u="none" cap="none" strike="noStrike">
              <a:solidFill>
                <a:srgbClr val="000000"/>
              </a:solidFill>
              <a:latin typeface="Arial"/>
              <a:ea typeface="Arial"/>
              <a:cs typeface="Arial"/>
              <a:sym typeface="Arial"/>
            </a:endParaRPr>
          </a:p>
          <a:p>
            <a:pPr indent="-86995" lvl="0" marL="137160" marR="0" rtl="0" algn="l">
              <a:lnSpc>
                <a:spcPct val="118000"/>
              </a:lnSpc>
              <a:spcBef>
                <a:spcPts val="200"/>
              </a:spcBef>
              <a:spcAft>
                <a:spcPts val="0"/>
              </a:spcAft>
              <a:buClr>
                <a:srgbClr val="000000"/>
              </a:buClr>
              <a:buSzPts val="650"/>
              <a:buFont typeface="Arial"/>
              <a:buChar char="•"/>
            </a:pPr>
            <a:r>
              <a:rPr b="1" i="0" lang="en" sz="650" u="none" cap="none" strike="noStrike">
                <a:solidFill>
                  <a:srgbClr val="17351F"/>
                </a:solidFill>
                <a:latin typeface="Calibri"/>
                <a:ea typeface="Calibri"/>
                <a:cs typeface="Calibri"/>
                <a:sym typeface="Calibri"/>
              </a:rPr>
              <a:t>Light footprint: </a:t>
            </a:r>
            <a:r>
              <a:rPr b="0" i="0" lang="en" sz="650" u="none" cap="none" strike="noStrike">
                <a:solidFill>
                  <a:srgbClr val="17351F"/>
                </a:solidFill>
                <a:latin typeface="Calibri"/>
                <a:ea typeface="Calibri"/>
                <a:cs typeface="Calibri"/>
                <a:sym typeface="Calibri"/>
              </a:rPr>
              <a:t>1 message summarised at a time, low latency</a:t>
            </a:r>
            <a:endParaRPr b="0" i="0" sz="1400" u="none" cap="none" strike="noStrike">
              <a:solidFill>
                <a:srgbClr val="000000"/>
              </a:solidFill>
              <a:latin typeface="Arial"/>
              <a:ea typeface="Arial"/>
              <a:cs typeface="Arial"/>
              <a:sym typeface="Arial"/>
            </a:endParaRPr>
          </a:p>
        </p:txBody>
      </p:sp>
      <p:sp>
        <p:nvSpPr>
          <p:cNvPr id="450" name="Google Shape;450;p57"/>
          <p:cNvSpPr txBox="1"/>
          <p:nvPr/>
        </p:nvSpPr>
        <p:spPr>
          <a:xfrm>
            <a:off x="6190000" y="4033984"/>
            <a:ext cx="24999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 sz="750" u="none" cap="none" strike="noStrike">
                <a:solidFill>
                  <a:srgbClr val="8A3B2E"/>
                </a:solidFill>
                <a:latin typeface="Cambria"/>
                <a:ea typeface="Cambria"/>
                <a:cs typeface="Cambria"/>
                <a:sym typeface="Cambria"/>
              </a:rPr>
              <a:t>✕ Cons</a:t>
            </a:r>
            <a:endParaRPr b="0" i="0" sz="750" u="none" cap="none" strike="noStrike">
              <a:solidFill>
                <a:srgbClr val="000000"/>
              </a:solidFill>
              <a:latin typeface="Cambria"/>
              <a:ea typeface="Cambria"/>
              <a:cs typeface="Cambria"/>
              <a:sym typeface="Cambria"/>
            </a:endParaRPr>
          </a:p>
        </p:txBody>
      </p:sp>
      <p:sp>
        <p:nvSpPr>
          <p:cNvPr id="451" name="Google Shape;451;p57"/>
          <p:cNvSpPr txBox="1"/>
          <p:nvPr/>
        </p:nvSpPr>
        <p:spPr>
          <a:xfrm>
            <a:off x="6190000" y="4200209"/>
            <a:ext cx="2406600" cy="620100"/>
          </a:xfrm>
          <a:prstGeom prst="rect">
            <a:avLst/>
          </a:prstGeom>
          <a:noFill/>
          <a:ln>
            <a:noFill/>
          </a:ln>
        </p:spPr>
        <p:txBody>
          <a:bodyPr anchorCtr="0" anchor="t" bIns="0" lIns="0" spcFirstLastPara="1" rIns="0" wrap="square" tIns="0">
            <a:noAutofit/>
          </a:bodyPr>
          <a:lstStyle/>
          <a:p>
            <a:pPr indent="-86995" lvl="0" marL="137160" marR="0" rtl="0" algn="l">
              <a:lnSpc>
                <a:spcPct val="112000"/>
              </a:lnSpc>
              <a:spcBef>
                <a:spcPts val="0"/>
              </a:spcBef>
              <a:spcAft>
                <a:spcPts val="0"/>
              </a:spcAft>
              <a:buClr>
                <a:srgbClr val="000000"/>
              </a:buClr>
              <a:buSzPts val="650"/>
              <a:buFont typeface="Arial"/>
              <a:buChar char="•"/>
            </a:pPr>
            <a:r>
              <a:rPr b="1" i="0" lang="en" sz="650" u="none" cap="none" strike="noStrike">
                <a:solidFill>
                  <a:srgbClr val="17351F"/>
                </a:solidFill>
                <a:latin typeface="Calibri"/>
                <a:ea typeface="Calibri"/>
                <a:cs typeface="Calibri"/>
                <a:sym typeface="Calibri"/>
              </a:rPr>
              <a:t>Lossy over time: </a:t>
            </a:r>
            <a:r>
              <a:rPr b="0" i="0" lang="en" sz="650" u="none" cap="none" strike="noStrike">
                <a:solidFill>
                  <a:srgbClr val="17351F"/>
                </a:solidFill>
                <a:latin typeface="Calibri"/>
                <a:ea typeface="Calibri"/>
                <a:cs typeface="Calibri"/>
                <a:sym typeface="Calibri"/>
              </a:rPr>
              <a:t>nuance and caveats get compressed away</a:t>
            </a:r>
            <a:endParaRPr b="0" i="0" sz="1400" u="none" cap="none" strike="noStrike">
              <a:solidFill>
                <a:srgbClr val="000000"/>
              </a:solidFill>
              <a:latin typeface="Arial"/>
              <a:ea typeface="Arial"/>
              <a:cs typeface="Arial"/>
              <a:sym typeface="Arial"/>
            </a:endParaRPr>
          </a:p>
          <a:p>
            <a:pPr indent="-86995" lvl="0" marL="137160" marR="0" rtl="0" algn="l">
              <a:lnSpc>
                <a:spcPct val="112000"/>
              </a:lnSpc>
              <a:spcBef>
                <a:spcPts val="150"/>
              </a:spcBef>
              <a:spcAft>
                <a:spcPts val="0"/>
              </a:spcAft>
              <a:buClr>
                <a:srgbClr val="000000"/>
              </a:buClr>
              <a:buSzPts val="650"/>
              <a:buFont typeface="Arial"/>
              <a:buChar char="•"/>
            </a:pPr>
            <a:r>
              <a:rPr b="1" i="0" lang="en" sz="650" u="none" cap="none" strike="noStrike">
                <a:solidFill>
                  <a:srgbClr val="17351F"/>
                </a:solidFill>
                <a:latin typeface="Calibri"/>
                <a:ea typeface="Calibri"/>
                <a:cs typeface="Calibri"/>
                <a:sym typeface="Calibri"/>
              </a:rPr>
              <a:t>Summary drift: </a:t>
            </a:r>
            <a:r>
              <a:rPr b="0" i="0" lang="en" sz="650" u="none" cap="none" strike="noStrike">
                <a:solidFill>
                  <a:srgbClr val="17351F"/>
                </a:solidFill>
                <a:latin typeface="Calibri"/>
                <a:ea typeface="Calibri"/>
                <a:cs typeface="Calibri"/>
                <a:sym typeface="Calibri"/>
              </a:rPr>
              <a:t>re-summarising can compound small errors</a:t>
            </a:r>
            <a:endParaRPr b="0" i="0" sz="1400" u="none" cap="none" strike="noStrike">
              <a:solidFill>
                <a:srgbClr val="000000"/>
              </a:solidFill>
              <a:latin typeface="Arial"/>
              <a:ea typeface="Arial"/>
              <a:cs typeface="Arial"/>
              <a:sym typeface="Arial"/>
            </a:endParaRPr>
          </a:p>
          <a:p>
            <a:pPr indent="-86995" lvl="0" marL="137160" marR="0" rtl="0" algn="l">
              <a:lnSpc>
                <a:spcPct val="112000"/>
              </a:lnSpc>
              <a:spcBef>
                <a:spcPts val="150"/>
              </a:spcBef>
              <a:spcAft>
                <a:spcPts val="0"/>
              </a:spcAft>
              <a:buClr>
                <a:srgbClr val="000000"/>
              </a:buClr>
              <a:buSzPts val="650"/>
              <a:buFont typeface="Arial"/>
              <a:buChar char="•"/>
            </a:pPr>
            <a:r>
              <a:rPr b="1" i="0" lang="en" sz="650" u="none" cap="none" strike="noStrike">
                <a:solidFill>
                  <a:srgbClr val="17351F"/>
                </a:solidFill>
                <a:latin typeface="Calibri"/>
                <a:ea typeface="Calibri"/>
                <a:cs typeface="Calibri"/>
                <a:sym typeface="Calibri"/>
              </a:rPr>
              <a:t>Fixed 3-msg window: </a:t>
            </a:r>
            <a:r>
              <a:rPr b="0" i="0" lang="en" sz="650" u="none" cap="none" strike="noStrike">
                <a:solidFill>
                  <a:srgbClr val="17351F"/>
                </a:solidFill>
                <a:latin typeface="Calibri"/>
                <a:ea typeface="Calibri"/>
                <a:cs typeface="Calibri"/>
                <a:sym typeface="Calibri"/>
              </a:rPr>
              <a:t>one static summary, as there is no lookback if a detail is asked about later</a:t>
            </a:r>
            <a:endParaRPr b="0" i="0" sz="1400" u="none" cap="none" strike="noStrike">
              <a:solidFill>
                <a:srgbClr val="000000"/>
              </a:solidFill>
              <a:latin typeface="Arial"/>
              <a:ea typeface="Arial"/>
              <a:cs typeface="Arial"/>
              <a:sym typeface="Arial"/>
            </a:endParaRPr>
          </a:p>
        </p:txBody>
      </p:sp>
      <p:sp>
        <p:nvSpPr>
          <p:cNvPr id="452" name="Google Shape;452;p57"/>
          <p:cNvSpPr/>
          <p:nvPr/>
        </p:nvSpPr>
        <p:spPr>
          <a:xfrm>
            <a:off x="371198" y="1371365"/>
            <a:ext cx="4508100" cy="41100"/>
          </a:xfrm>
          <a:prstGeom prst="rect">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7"/>
          <p:cNvSpPr/>
          <p:nvPr/>
        </p:nvSpPr>
        <p:spPr>
          <a:xfrm>
            <a:off x="371198" y="3696515"/>
            <a:ext cx="8412600" cy="41100"/>
          </a:xfrm>
          <a:prstGeom prst="rect">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7"/>
          <p:cNvSpPr/>
          <p:nvPr/>
        </p:nvSpPr>
        <p:spPr>
          <a:xfrm>
            <a:off x="5120648" y="1372053"/>
            <a:ext cx="3657600" cy="41100"/>
          </a:xfrm>
          <a:prstGeom prst="rect">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7"/>
          <p:cNvSpPr txBox="1"/>
          <p:nvPr>
            <p:ph idx="12" type="sldNum"/>
          </p:nvPr>
        </p:nvSpPr>
        <p:spPr>
          <a:xfrm>
            <a:off x="7424928" y="4837176"/>
            <a:ext cx="16002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sz="800">
                <a:solidFill>
                  <a:srgbClr val="5B6B5E"/>
                </a:solidFill>
              </a:rPr>
              <a:t>‹#›</a:t>
            </a:fld>
            <a:endParaRPr sz="800">
              <a:solidFill>
                <a:srgbClr val="5B6B5E"/>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9" name="Shape 459"/>
        <p:cNvGrpSpPr/>
        <p:nvPr/>
      </p:nvGrpSpPr>
      <p:grpSpPr>
        <a:xfrm>
          <a:off x="0" y="0"/>
          <a:ext cx="0" cy="0"/>
          <a:chOff x="0" y="0"/>
          <a:chExt cx="0" cy="0"/>
        </a:xfrm>
      </p:grpSpPr>
      <p:sp>
        <p:nvSpPr>
          <p:cNvPr id="460" name="Google Shape;460;p58"/>
          <p:cNvSpPr/>
          <p:nvPr/>
        </p:nvSpPr>
        <p:spPr>
          <a:xfrm>
            <a:off x="365750" y="3272003"/>
            <a:ext cx="8412600" cy="665400"/>
          </a:xfrm>
          <a:prstGeom prst="rect">
            <a:avLst/>
          </a:prstGeom>
          <a:solidFill>
            <a:srgbClr val="F3F6F1"/>
          </a:solidFill>
          <a:ln cap="flat" cmpd="sng" w="9525">
            <a:solidFill>
              <a:srgbClr val="D9E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58"/>
          <p:cNvSpPr txBox="1"/>
          <p:nvPr/>
        </p:nvSpPr>
        <p:spPr>
          <a:xfrm>
            <a:off x="365760" y="201168"/>
            <a:ext cx="8412600" cy="3108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1900"/>
              <a:buFont typeface="Arial"/>
              <a:buNone/>
            </a:pPr>
            <a:r>
              <a:rPr b="1" lang="en" sz="1900">
                <a:solidFill>
                  <a:srgbClr val="1E4B2B"/>
                </a:solidFill>
                <a:latin typeface="Cambria"/>
                <a:ea typeface="Cambria"/>
                <a:cs typeface="Cambria"/>
                <a:sym typeface="Cambria"/>
              </a:rPr>
              <a:t>System settings comparison</a:t>
            </a:r>
            <a:endParaRPr b="1" sz="1900">
              <a:solidFill>
                <a:srgbClr val="1E4B2B"/>
              </a:solidFill>
              <a:latin typeface="Cambria"/>
              <a:ea typeface="Cambria"/>
              <a:cs typeface="Cambria"/>
              <a:sym typeface="Cambria"/>
            </a:endParaRPr>
          </a:p>
        </p:txBody>
      </p:sp>
      <p:sp>
        <p:nvSpPr>
          <p:cNvPr id="462" name="Google Shape;462;p58"/>
          <p:cNvSpPr txBox="1"/>
          <p:nvPr/>
        </p:nvSpPr>
        <p:spPr>
          <a:xfrm>
            <a:off x="365760" y="512064"/>
            <a:ext cx="8229600" cy="14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i="1" lang="en" sz="950">
                <a:solidFill>
                  <a:srgbClr val="5B6B5E"/>
                </a:solidFill>
                <a:latin typeface="Calibri"/>
                <a:ea typeface="Calibri"/>
                <a:cs typeface="Calibri"/>
                <a:sym typeface="Calibri"/>
              </a:rPr>
              <a:t>Comparing today's setup against the changes we think will make it better</a:t>
            </a:r>
            <a:endParaRPr i="1" sz="950">
              <a:solidFill>
                <a:srgbClr val="5B6B5E"/>
              </a:solidFill>
              <a:latin typeface="Calibri"/>
              <a:ea typeface="Calibri"/>
              <a:cs typeface="Calibri"/>
              <a:sym typeface="Calibri"/>
            </a:endParaRPr>
          </a:p>
        </p:txBody>
      </p:sp>
      <p:sp>
        <p:nvSpPr>
          <p:cNvPr id="463" name="Google Shape;463;p58"/>
          <p:cNvSpPr/>
          <p:nvPr/>
        </p:nvSpPr>
        <p:spPr>
          <a:xfrm>
            <a:off x="365760" y="1648412"/>
            <a:ext cx="8412600" cy="292500"/>
          </a:xfrm>
          <a:prstGeom prst="rect">
            <a:avLst/>
          </a:prstGeom>
          <a:solidFill>
            <a:srgbClr val="1B2B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8"/>
          <p:cNvSpPr txBox="1"/>
          <p:nvPr/>
        </p:nvSpPr>
        <p:spPr>
          <a:xfrm>
            <a:off x="457200" y="1648412"/>
            <a:ext cx="1417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 sz="850" u="none" cap="none" strike="noStrike">
                <a:solidFill>
                  <a:srgbClr val="FFFFFF"/>
                </a:solidFill>
                <a:latin typeface="Calibri"/>
                <a:ea typeface="Calibri"/>
                <a:cs typeface="Calibri"/>
                <a:sym typeface="Calibri"/>
              </a:rPr>
              <a:t>Setting</a:t>
            </a:r>
            <a:endParaRPr b="0" i="0" sz="850" u="none" cap="none" strike="noStrike">
              <a:solidFill>
                <a:srgbClr val="000000"/>
              </a:solidFill>
              <a:latin typeface="Arial"/>
              <a:ea typeface="Arial"/>
              <a:cs typeface="Arial"/>
              <a:sym typeface="Arial"/>
            </a:endParaRPr>
          </a:p>
        </p:txBody>
      </p:sp>
      <p:sp>
        <p:nvSpPr>
          <p:cNvPr id="465" name="Google Shape;465;p58"/>
          <p:cNvSpPr txBox="1"/>
          <p:nvPr/>
        </p:nvSpPr>
        <p:spPr>
          <a:xfrm>
            <a:off x="2057400" y="1648412"/>
            <a:ext cx="1783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 sz="850" u="none" cap="none" strike="noStrike">
                <a:solidFill>
                  <a:srgbClr val="FFFFFF"/>
                </a:solidFill>
                <a:latin typeface="Calibri"/>
                <a:ea typeface="Calibri"/>
                <a:cs typeface="Calibri"/>
                <a:sym typeface="Calibri"/>
              </a:rPr>
              <a:t>Baseline (current)</a:t>
            </a:r>
            <a:endParaRPr b="0" i="0" sz="850" u="none" cap="none" strike="noStrike">
              <a:solidFill>
                <a:srgbClr val="000000"/>
              </a:solidFill>
              <a:latin typeface="Arial"/>
              <a:ea typeface="Arial"/>
              <a:cs typeface="Arial"/>
              <a:sym typeface="Arial"/>
            </a:endParaRPr>
          </a:p>
        </p:txBody>
      </p:sp>
      <p:sp>
        <p:nvSpPr>
          <p:cNvPr id="466" name="Google Shape;466;p58"/>
          <p:cNvSpPr txBox="1"/>
          <p:nvPr/>
        </p:nvSpPr>
        <p:spPr>
          <a:xfrm>
            <a:off x="4023360" y="1648412"/>
            <a:ext cx="1783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 sz="850" u="none" cap="none" strike="noStrike">
                <a:solidFill>
                  <a:srgbClr val="FFFFFF"/>
                </a:solidFill>
                <a:latin typeface="Calibri"/>
                <a:ea typeface="Calibri"/>
                <a:cs typeface="Calibri"/>
                <a:sym typeface="Calibri"/>
              </a:rPr>
              <a:t>Improved (to test)</a:t>
            </a:r>
            <a:endParaRPr b="0" i="0" sz="850" u="none" cap="none" strike="noStrike">
              <a:solidFill>
                <a:srgbClr val="000000"/>
              </a:solidFill>
              <a:latin typeface="Arial"/>
              <a:ea typeface="Arial"/>
              <a:cs typeface="Arial"/>
              <a:sym typeface="Arial"/>
            </a:endParaRPr>
          </a:p>
        </p:txBody>
      </p:sp>
      <p:sp>
        <p:nvSpPr>
          <p:cNvPr id="467" name="Google Shape;467;p58"/>
          <p:cNvSpPr txBox="1"/>
          <p:nvPr/>
        </p:nvSpPr>
        <p:spPr>
          <a:xfrm>
            <a:off x="5989320" y="1648412"/>
            <a:ext cx="2697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 sz="850" u="none" cap="none" strike="noStrike">
                <a:solidFill>
                  <a:srgbClr val="FFFFFF"/>
                </a:solidFill>
                <a:latin typeface="Calibri"/>
                <a:ea typeface="Calibri"/>
                <a:cs typeface="Calibri"/>
                <a:sym typeface="Calibri"/>
              </a:rPr>
              <a:t>Why it matters</a:t>
            </a:r>
            <a:endParaRPr b="0" i="0" sz="850" u="none" cap="none" strike="noStrike">
              <a:solidFill>
                <a:srgbClr val="000000"/>
              </a:solidFill>
              <a:latin typeface="Arial"/>
              <a:ea typeface="Arial"/>
              <a:cs typeface="Arial"/>
              <a:sym typeface="Arial"/>
            </a:endParaRPr>
          </a:p>
        </p:txBody>
      </p:sp>
      <p:sp>
        <p:nvSpPr>
          <p:cNvPr id="468" name="Google Shape;468;p58"/>
          <p:cNvSpPr/>
          <p:nvPr/>
        </p:nvSpPr>
        <p:spPr>
          <a:xfrm>
            <a:off x="365750" y="1941015"/>
            <a:ext cx="8412600" cy="665400"/>
          </a:xfrm>
          <a:prstGeom prst="rect">
            <a:avLst/>
          </a:prstGeom>
          <a:solidFill>
            <a:srgbClr val="F3F6F1"/>
          </a:solidFill>
          <a:ln cap="flat" cmpd="sng" w="9525">
            <a:solidFill>
              <a:srgbClr val="D9E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58"/>
          <p:cNvSpPr txBox="1"/>
          <p:nvPr/>
        </p:nvSpPr>
        <p:spPr>
          <a:xfrm>
            <a:off x="457200" y="1941020"/>
            <a:ext cx="1417200" cy="627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839"/>
              <a:buFont typeface="Arial"/>
              <a:buNone/>
            </a:pPr>
            <a:r>
              <a:rPr b="1" i="0" lang="en" sz="840" u="none" cap="none" strike="noStrike">
                <a:solidFill>
                  <a:srgbClr val="1E4B2B"/>
                </a:solidFill>
                <a:latin typeface="Calibri"/>
                <a:ea typeface="Calibri"/>
                <a:cs typeface="Calibri"/>
                <a:sym typeface="Calibri"/>
              </a:rPr>
              <a:t>LLM model</a:t>
            </a:r>
            <a:endParaRPr b="0" i="0" sz="840" u="none" cap="none" strike="noStrike">
              <a:solidFill>
                <a:srgbClr val="000000"/>
              </a:solidFill>
              <a:latin typeface="Arial"/>
              <a:ea typeface="Arial"/>
              <a:cs typeface="Arial"/>
              <a:sym typeface="Arial"/>
            </a:endParaRPr>
          </a:p>
        </p:txBody>
      </p:sp>
      <p:sp>
        <p:nvSpPr>
          <p:cNvPr id="470" name="Google Shape;470;p58"/>
          <p:cNvSpPr txBox="1"/>
          <p:nvPr/>
        </p:nvSpPr>
        <p:spPr>
          <a:xfrm>
            <a:off x="2057400" y="1941020"/>
            <a:ext cx="1783200" cy="627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760"/>
              <a:buFont typeface="Arial"/>
              <a:buNone/>
            </a:pPr>
            <a:r>
              <a:rPr i="0" lang="en" sz="800" u="none" cap="none" strike="noStrike">
                <a:solidFill>
                  <a:srgbClr val="17351F"/>
                </a:solidFill>
                <a:latin typeface="Calibri"/>
                <a:ea typeface="Calibri"/>
                <a:cs typeface="Calibri"/>
                <a:sym typeface="Calibri"/>
              </a:rPr>
              <a:t>g</a:t>
            </a:r>
            <a:r>
              <a:rPr i="0" lang="en" sz="800" u="none" cap="none" strike="noStrike">
                <a:solidFill>
                  <a:srgbClr val="17351F"/>
                </a:solidFill>
                <a:latin typeface="Calibri"/>
                <a:ea typeface="Calibri"/>
                <a:cs typeface="Calibri"/>
                <a:sym typeface="Calibri"/>
              </a:rPr>
              <a:t>pt-4o-min</a:t>
            </a:r>
            <a:endParaRPr i="0" sz="800" u="none" cap="none" strike="noStrike">
              <a:solidFill>
                <a:srgbClr val="17351F"/>
              </a:solidFill>
              <a:latin typeface="Calibri"/>
              <a:ea typeface="Calibri"/>
              <a:cs typeface="Calibri"/>
              <a:sym typeface="Calibri"/>
            </a:endParaRPr>
          </a:p>
          <a:p>
            <a:pPr indent="0" lvl="0" marL="0" marR="0" rtl="0" algn="l">
              <a:lnSpc>
                <a:spcPct val="105000"/>
              </a:lnSpc>
              <a:spcBef>
                <a:spcPts val="0"/>
              </a:spcBef>
              <a:spcAft>
                <a:spcPts val="0"/>
              </a:spcAft>
              <a:buClr>
                <a:srgbClr val="000000"/>
              </a:buClr>
              <a:buSzPts val="760"/>
              <a:buFont typeface="Arial"/>
              <a:buNone/>
            </a:pPr>
            <a:r>
              <a:rPr lang="en" sz="800">
                <a:solidFill>
                  <a:srgbClr val="17351F"/>
                </a:solidFill>
                <a:latin typeface="Calibri"/>
                <a:ea typeface="Calibri"/>
                <a:cs typeface="Calibri"/>
                <a:sym typeface="Calibri"/>
              </a:rPr>
              <a:t>(fallback model claude-sonnet-5)</a:t>
            </a:r>
            <a:endParaRPr i="0" sz="800" u="none" cap="none" strike="noStrike">
              <a:solidFill>
                <a:srgbClr val="17351F"/>
              </a:solidFill>
              <a:latin typeface="Calibri"/>
              <a:ea typeface="Calibri"/>
              <a:cs typeface="Calibri"/>
              <a:sym typeface="Calibri"/>
            </a:endParaRPr>
          </a:p>
        </p:txBody>
      </p:sp>
      <p:sp>
        <p:nvSpPr>
          <p:cNvPr id="471" name="Google Shape;471;p58"/>
          <p:cNvSpPr txBox="1"/>
          <p:nvPr/>
        </p:nvSpPr>
        <p:spPr>
          <a:xfrm>
            <a:off x="4023360" y="1941020"/>
            <a:ext cx="1783200" cy="627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400"/>
              </a:spcBef>
              <a:spcAft>
                <a:spcPts val="400"/>
              </a:spcAft>
              <a:buClr>
                <a:schemeClr val="dk1"/>
              </a:buClr>
              <a:buSzPts val="1100"/>
              <a:buFont typeface="Arial"/>
              <a:buNone/>
            </a:pPr>
            <a:r>
              <a:rPr b="1" lang="en" sz="800">
                <a:solidFill>
                  <a:srgbClr val="5C8A5A"/>
                </a:solidFill>
                <a:latin typeface="Calibri"/>
                <a:ea typeface="Calibri"/>
                <a:cs typeface="Calibri"/>
                <a:sym typeface="Calibri"/>
              </a:rPr>
              <a:t>gpt-5.6-Luna with max effort modes</a:t>
            </a:r>
            <a:endParaRPr b="1" sz="800">
              <a:solidFill>
                <a:srgbClr val="5C8A5A"/>
              </a:solidFill>
              <a:latin typeface="Calibri"/>
              <a:ea typeface="Calibri"/>
              <a:cs typeface="Calibri"/>
              <a:sym typeface="Calibri"/>
            </a:endParaRPr>
          </a:p>
        </p:txBody>
      </p:sp>
      <p:sp>
        <p:nvSpPr>
          <p:cNvPr id="472" name="Google Shape;472;p58"/>
          <p:cNvSpPr txBox="1"/>
          <p:nvPr/>
        </p:nvSpPr>
        <p:spPr>
          <a:xfrm>
            <a:off x="5989320" y="1941020"/>
            <a:ext cx="2697600" cy="627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720"/>
              <a:buFont typeface="Arial"/>
              <a:buNone/>
            </a:pPr>
            <a:r>
              <a:rPr lang="en" sz="700">
                <a:solidFill>
                  <a:srgbClr val="17351F"/>
                </a:solidFill>
                <a:latin typeface="Calibri"/>
                <a:ea typeface="Calibri"/>
                <a:cs typeface="Calibri"/>
                <a:sym typeface="Calibri"/>
              </a:rPr>
              <a:t>This is the mode that b</a:t>
            </a:r>
            <a:r>
              <a:rPr lang="en" sz="700" u="none" cap="none" strike="noStrike">
                <a:solidFill>
                  <a:srgbClr val="17351F"/>
                </a:solidFill>
                <a:latin typeface="Calibri"/>
                <a:ea typeface="Calibri"/>
                <a:cs typeface="Calibri"/>
                <a:sym typeface="Calibri"/>
              </a:rPr>
              <a:t>oth agents run.</a:t>
            </a:r>
            <a:endParaRPr sz="700" u="none" cap="none" strike="noStrike">
              <a:solidFill>
                <a:srgbClr val="17351F"/>
              </a:solidFill>
              <a:latin typeface="Calibri"/>
              <a:ea typeface="Calibri"/>
              <a:cs typeface="Calibri"/>
              <a:sym typeface="Calibri"/>
            </a:endParaRPr>
          </a:p>
          <a:p>
            <a:pPr indent="0" lvl="0" marL="0" marR="0" rtl="0" algn="l">
              <a:lnSpc>
                <a:spcPct val="105000"/>
              </a:lnSpc>
              <a:spcBef>
                <a:spcPts val="0"/>
              </a:spcBef>
              <a:spcAft>
                <a:spcPts val="0"/>
              </a:spcAft>
              <a:buClr>
                <a:srgbClr val="000000"/>
              </a:buClr>
              <a:buSzPts val="720"/>
              <a:buFont typeface="Arial"/>
              <a:buNone/>
            </a:pPr>
            <a:r>
              <a:rPr lang="en" sz="700">
                <a:solidFill>
                  <a:srgbClr val="17351F"/>
                </a:solidFill>
                <a:latin typeface="Calibri"/>
                <a:ea typeface="Calibri"/>
                <a:cs typeface="Calibri"/>
                <a:sym typeface="Calibri"/>
              </a:rPr>
              <a:t>The baseline model is fast and cheap but can misstep on multi-tool reasoning. A newer and more powerful model, as the one selected in the  improved settings, may reason better through multi-tool turns, understand complex queries, and reduce hallucination rates, </a:t>
            </a:r>
            <a:r>
              <a:rPr lang="en" sz="700">
                <a:solidFill>
                  <a:srgbClr val="17351F"/>
                </a:solidFill>
                <a:latin typeface="Calibri"/>
                <a:ea typeface="Calibri"/>
                <a:cs typeface="Calibri"/>
                <a:sym typeface="Calibri"/>
              </a:rPr>
              <a:t>even though</a:t>
            </a:r>
            <a:r>
              <a:rPr lang="en" sz="700">
                <a:solidFill>
                  <a:srgbClr val="17351F"/>
                </a:solidFill>
                <a:latin typeface="Calibri"/>
                <a:ea typeface="Calibri"/>
                <a:cs typeface="Calibri"/>
                <a:sym typeface="Calibri"/>
              </a:rPr>
              <a:t> at a higher cost and latency is </a:t>
            </a:r>
            <a:r>
              <a:rPr lang="en" sz="700">
                <a:solidFill>
                  <a:srgbClr val="17351F"/>
                </a:solidFill>
                <a:latin typeface="Calibri"/>
                <a:ea typeface="Calibri"/>
                <a:cs typeface="Calibri"/>
                <a:sym typeface="Calibri"/>
              </a:rPr>
              <a:t>expected</a:t>
            </a:r>
            <a:r>
              <a:rPr lang="en" sz="700">
                <a:solidFill>
                  <a:srgbClr val="17351F"/>
                </a:solidFill>
                <a:latin typeface="Calibri"/>
                <a:ea typeface="Calibri"/>
                <a:cs typeface="Calibri"/>
                <a:sym typeface="Calibri"/>
              </a:rPr>
              <a:t>.</a:t>
            </a:r>
            <a:endParaRPr sz="700">
              <a:solidFill>
                <a:srgbClr val="17351F"/>
              </a:solidFill>
              <a:latin typeface="Calibri"/>
              <a:ea typeface="Calibri"/>
              <a:cs typeface="Calibri"/>
              <a:sym typeface="Calibri"/>
            </a:endParaRPr>
          </a:p>
        </p:txBody>
      </p:sp>
      <p:sp>
        <p:nvSpPr>
          <p:cNvPr id="473" name="Google Shape;473;p58"/>
          <p:cNvSpPr/>
          <p:nvPr/>
        </p:nvSpPr>
        <p:spPr>
          <a:xfrm>
            <a:off x="365750" y="2606509"/>
            <a:ext cx="8412600" cy="665400"/>
          </a:xfrm>
          <a:prstGeom prst="rect">
            <a:avLst/>
          </a:prstGeom>
          <a:solidFill>
            <a:srgbClr val="FFFFFF"/>
          </a:solidFill>
          <a:ln cap="flat" cmpd="sng" w="9525">
            <a:solidFill>
              <a:srgbClr val="D9E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58"/>
          <p:cNvSpPr txBox="1"/>
          <p:nvPr/>
        </p:nvSpPr>
        <p:spPr>
          <a:xfrm>
            <a:off x="457188" y="2622705"/>
            <a:ext cx="1417200" cy="627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839"/>
              <a:buFont typeface="Arial"/>
              <a:buNone/>
            </a:pPr>
            <a:r>
              <a:rPr b="1" i="0" lang="en" sz="840" u="none" cap="none" strike="noStrike">
                <a:solidFill>
                  <a:srgbClr val="1E4B2B"/>
                </a:solidFill>
                <a:latin typeface="Calibri"/>
                <a:ea typeface="Calibri"/>
                <a:cs typeface="Calibri"/>
                <a:sym typeface="Calibri"/>
              </a:rPr>
              <a:t>Reranker threshold</a:t>
            </a:r>
            <a:endParaRPr b="0" i="0" sz="840" u="none" cap="none" strike="noStrike">
              <a:solidFill>
                <a:srgbClr val="000000"/>
              </a:solidFill>
              <a:latin typeface="Arial"/>
              <a:ea typeface="Arial"/>
              <a:cs typeface="Arial"/>
              <a:sym typeface="Arial"/>
            </a:endParaRPr>
          </a:p>
        </p:txBody>
      </p:sp>
      <p:sp>
        <p:nvSpPr>
          <p:cNvPr id="475" name="Google Shape;475;p58"/>
          <p:cNvSpPr txBox="1"/>
          <p:nvPr/>
        </p:nvSpPr>
        <p:spPr>
          <a:xfrm>
            <a:off x="2057388" y="2622705"/>
            <a:ext cx="1783200" cy="627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760"/>
              <a:buFont typeface="Arial"/>
              <a:buNone/>
            </a:pPr>
            <a:r>
              <a:rPr lang="en" sz="800">
                <a:solidFill>
                  <a:srgbClr val="17351F"/>
                </a:solidFill>
                <a:latin typeface="Calibri"/>
                <a:ea typeface="Calibri"/>
                <a:cs typeface="Calibri"/>
                <a:sym typeface="Calibri"/>
              </a:rPr>
              <a:t>S</a:t>
            </a:r>
            <a:r>
              <a:rPr i="0" lang="en" sz="800" u="none" cap="none" strike="noStrike">
                <a:solidFill>
                  <a:srgbClr val="17351F"/>
                </a:solidFill>
                <a:latin typeface="Calibri"/>
                <a:ea typeface="Calibri"/>
                <a:cs typeface="Calibri"/>
                <a:sym typeface="Calibri"/>
              </a:rPr>
              <a:t>cor</a:t>
            </a:r>
            <a:r>
              <a:rPr lang="en" sz="800">
                <a:solidFill>
                  <a:srgbClr val="17351F"/>
                </a:solidFill>
                <a:latin typeface="Calibri"/>
                <a:ea typeface="Calibri"/>
                <a:cs typeface="Calibri"/>
                <a:sym typeface="Calibri"/>
              </a:rPr>
              <a:t>e T</a:t>
            </a:r>
            <a:r>
              <a:rPr i="0" lang="en" sz="800" u="none" cap="none" strike="noStrike">
                <a:solidFill>
                  <a:srgbClr val="17351F"/>
                </a:solidFill>
                <a:latin typeface="Calibri"/>
                <a:ea typeface="Calibri"/>
                <a:cs typeface="Calibri"/>
                <a:sym typeface="Calibri"/>
              </a:rPr>
              <a:t>hreshold = 0.7</a:t>
            </a:r>
            <a:endParaRPr i="0" sz="800" u="none" cap="none" strike="noStrike">
              <a:solidFill>
                <a:srgbClr val="17351F"/>
              </a:solidFill>
              <a:latin typeface="Calibri"/>
              <a:ea typeface="Calibri"/>
              <a:cs typeface="Calibri"/>
              <a:sym typeface="Calibri"/>
            </a:endParaRPr>
          </a:p>
        </p:txBody>
      </p:sp>
      <p:sp>
        <p:nvSpPr>
          <p:cNvPr id="476" name="Google Shape;476;p58"/>
          <p:cNvSpPr txBox="1"/>
          <p:nvPr/>
        </p:nvSpPr>
        <p:spPr>
          <a:xfrm>
            <a:off x="4023348" y="2622705"/>
            <a:ext cx="1783200" cy="627300"/>
          </a:xfrm>
          <a:prstGeom prst="rect">
            <a:avLst/>
          </a:prstGeom>
          <a:noFill/>
          <a:ln>
            <a:noFill/>
          </a:ln>
        </p:spPr>
        <p:txBody>
          <a:bodyPr anchorCtr="0" anchor="ctr" bIns="0" lIns="0" spcFirstLastPara="1" rIns="0" wrap="square" tIns="0">
            <a:noAutofit/>
          </a:bodyPr>
          <a:lstStyle/>
          <a:p>
            <a:pPr indent="0" lvl="0" marL="0" rtl="0" algn="l">
              <a:lnSpc>
                <a:spcPct val="105000"/>
              </a:lnSpc>
              <a:spcBef>
                <a:spcPts val="0"/>
              </a:spcBef>
              <a:spcAft>
                <a:spcPts val="0"/>
              </a:spcAft>
              <a:buClr>
                <a:schemeClr val="dk1"/>
              </a:buClr>
              <a:buSzPts val="760"/>
              <a:buFont typeface="Arial"/>
              <a:buNone/>
            </a:pPr>
            <a:r>
              <a:rPr b="1" lang="en" sz="800">
                <a:solidFill>
                  <a:srgbClr val="5C8A5A"/>
                </a:solidFill>
                <a:latin typeface="Calibri"/>
                <a:ea typeface="Calibri"/>
                <a:cs typeface="Calibri"/>
                <a:sym typeface="Calibri"/>
              </a:rPr>
              <a:t>S</a:t>
            </a:r>
            <a:r>
              <a:rPr b="1" lang="en" sz="800">
                <a:solidFill>
                  <a:srgbClr val="5C8A5A"/>
                </a:solidFill>
                <a:latin typeface="Calibri"/>
                <a:ea typeface="Calibri"/>
                <a:cs typeface="Calibri"/>
                <a:sym typeface="Calibri"/>
              </a:rPr>
              <a:t>core Threshold = 0.6</a:t>
            </a:r>
            <a:endParaRPr b="1" sz="800">
              <a:solidFill>
                <a:srgbClr val="5C8A5A"/>
              </a:solidFill>
              <a:latin typeface="Calibri"/>
              <a:ea typeface="Calibri"/>
              <a:cs typeface="Calibri"/>
              <a:sym typeface="Calibri"/>
            </a:endParaRPr>
          </a:p>
        </p:txBody>
      </p:sp>
      <p:sp>
        <p:nvSpPr>
          <p:cNvPr id="477" name="Google Shape;477;p58"/>
          <p:cNvSpPr txBox="1"/>
          <p:nvPr/>
        </p:nvSpPr>
        <p:spPr>
          <a:xfrm>
            <a:off x="5989308" y="2622705"/>
            <a:ext cx="2697600" cy="627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720"/>
              <a:buFont typeface="Arial"/>
              <a:buNone/>
            </a:pPr>
            <a:r>
              <a:rPr lang="en" sz="700">
                <a:solidFill>
                  <a:srgbClr val="17351F"/>
                </a:solidFill>
                <a:latin typeface="Calibri"/>
                <a:ea typeface="Calibri"/>
                <a:cs typeface="Calibri"/>
                <a:sym typeface="Calibri"/>
              </a:rPr>
              <a:t>The score threshold of 0.7 is the untuned default and may be discarding useful passages that fall just below the cutoff. Lowering it to 0.6 lets more context through, but a lower threshold means more but lower quality chunks.</a:t>
            </a:r>
            <a:endParaRPr sz="700" u="none" cap="none" strike="noStrike">
              <a:solidFill>
                <a:srgbClr val="17351F"/>
              </a:solidFill>
              <a:latin typeface="Calibri"/>
              <a:ea typeface="Calibri"/>
              <a:cs typeface="Calibri"/>
              <a:sym typeface="Calibri"/>
            </a:endParaRPr>
          </a:p>
        </p:txBody>
      </p:sp>
      <p:sp>
        <p:nvSpPr>
          <p:cNvPr id="478" name="Google Shape;478;p58"/>
          <p:cNvSpPr txBox="1"/>
          <p:nvPr/>
        </p:nvSpPr>
        <p:spPr>
          <a:xfrm>
            <a:off x="6309360" y="4864608"/>
            <a:ext cx="2469000" cy="219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50"/>
              <a:buFont typeface="Arial"/>
              <a:buNone/>
            </a:pPr>
            <a:r>
              <a:rPr b="0" i="0" lang="en" sz="750" u="none" cap="none" strike="noStrike">
                <a:solidFill>
                  <a:srgbClr val="5B6B5E"/>
                </a:solidFill>
                <a:latin typeface="Calibri"/>
                <a:ea typeface="Calibri"/>
                <a:cs typeface="Calibri"/>
                <a:sym typeface="Calibri"/>
              </a:rPr>
              <a:t>The UK Field Guide — AI Engineering Bootcamp</a:t>
            </a:r>
            <a:endParaRPr b="0" i="0" sz="750" u="none" cap="none" strike="noStrike">
              <a:solidFill>
                <a:srgbClr val="000000"/>
              </a:solidFill>
              <a:latin typeface="Arial"/>
              <a:ea typeface="Arial"/>
              <a:cs typeface="Arial"/>
              <a:sym typeface="Arial"/>
            </a:endParaRPr>
          </a:p>
        </p:txBody>
      </p:sp>
      <p:sp>
        <p:nvSpPr>
          <p:cNvPr id="479" name="Google Shape;479;p58"/>
          <p:cNvSpPr txBox="1"/>
          <p:nvPr/>
        </p:nvSpPr>
        <p:spPr>
          <a:xfrm>
            <a:off x="457176" y="3290817"/>
            <a:ext cx="1417200" cy="627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839"/>
              <a:buFont typeface="Arial"/>
              <a:buNone/>
            </a:pPr>
            <a:r>
              <a:rPr b="1" lang="en" sz="840">
                <a:solidFill>
                  <a:srgbClr val="1E4B2B"/>
                </a:solidFill>
                <a:latin typeface="Calibri"/>
                <a:ea typeface="Calibri"/>
                <a:cs typeface="Calibri"/>
                <a:sym typeface="Calibri"/>
              </a:rPr>
              <a:t>Retrieval K-values</a:t>
            </a:r>
            <a:endParaRPr b="0" i="0" sz="840" u="none" cap="none" strike="noStrike">
              <a:solidFill>
                <a:srgbClr val="000000"/>
              </a:solidFill>
              <a:latin typeface="Arial"/>
              <a:ea typeface="Arial"/>
              <a:cs typeface="Arial"/>
              <a:sym typeface="Arial"/>
            </a:endParaRPr>
          </a:p>
        </p:txBody>
      </p:sp>
      <p:sp>
        <p:nvSpPr>
          <p:cNvPr id="480" name="Google Shape;480;p58"/>
          <p:cNvSpPr txBox="1"/>
          <p:nvPr/>
        </p:nvSpPr>
        <p:spPr>
          <a:xfrm>
            <a:off x="2057376" y="3290817"/>
            <a:ext cx="1783200" cy="627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760"/>
              <a:buFont typeface="Arial"/>
              <a:buNone/>
            </a:pPr>
            <a:r>
              <a:rPr lang="en" sz="800">
                <a:solidFill>
                  <a:srgbClr val="17351F"/>
                </a:solidFill>
                <a:latin typeface="Calibri"/>
                <a:ea typeface="Calibri"/>
                <a:cs typeface="Calibri"/>
                <a:sym typeface="Calibri"/>
              </a:rPr>
              <a:t>Initial retrieval = 15</a:t>
            </a:r>
            <a:endParaRPr sz="800">
              <a:solidFill>
                <a:srgbClr val="17351F"/>
              </a:solidFill>
              <a:latin typeface="Calibri"/>
              <a:ea typeface="Calibri"/>
              <a:cs typeface="Calibri"/>
              <a:sym typeface="Calibri"/>
            </a:endParaRPr>
          </a:p>
          <a:p>
            <a:pPr indent="0" lvl="0" marL="0" marR="0" rtl="0" algn="l">
              <a:lnSpc>
                <a:spcPct val="105000"/>
              </a:lnSpc>
              <a:spcBef>
                <a:spcPts val="0"/>
              </a:spcBef>
              <a:spcAft>
                <a:spcPts val="0"/>
              </a:spcAft>
              <a:buClr>
                <a:srgbClr val="000000"/>
              </a:buClr>
              <a:buSzPts val="760"/>
              <a:buFont typeface="Arial"/>
              <a:buNone/>
            </a:pPr>
            <a:r>
              <a:rPr lang="en" sz="800">
                <a:solidFill>
                  <a:srgbClr val="17351F"/>
                </a:solidFill>
                <a:latin typeface="Calibri"/>
                <a:ea typeface="Calibri"/>
                <a:cs typeface="Calibri"/>
                <a:sym typeface="Calibri"/>
              </a:rPr>
              <a:t>Final </a:t>
            </a:r>
            <a:r>
              <a:rPr lang="en" sz="800">
                <a:solidFill>
                  <a:srgbClr val="17351F"/>
                </a:solidFill>
                <a:latin typeface="Calibri"/>
                <a:ea typeface="Calibri"/>
                <a:cs typeface="Calibri"/>
                <a:sym typeface="Calibri"/>
              </a:rPr>
              <a:t>retrieval </a:t>
            </a:r>
            <a:r>
              <a:rPr lang="en" sz="800">
                <a:solidFill>
                  <a:srgbClr val="17351F"/>
                </a:solidFill>
                <a:latin typeface="Calibri"/>
                <a:ea typeface="Calibri"/>
                <a:cs typeface="Calibri"/>
                <a:sym typeface="Calibri"/>
              </a:rPr>
              <a:t>= 7</a:t>
            </a:r>
            <a:endParaRPr i="0" sz="800" u="none" cap="none" strike="noStrike">
              <a:solidFill>
                <a:srgbClr val="17351F"/>
              </a:solidFill>
              <a:latin typeface="Calibri"/>
              <a:ea typeface="Calibri"/>
              <a:cs typeface="Calibri"/>
              <a:sym typeface="Calibri"/>
            </a:endParaRPr>
          </a:p>
        </p:txBody>
      </p:sp>
      <p:sp>
        <p:nvSpPr>
          <p:cNvPr id="481" name="Google Shape;481;p58"/>
          <p:cNvSpPr txBox="1"/>
          <p:nvPr/>
        </p:nvSpPr>
        <p:spPr>
          <a:xfrm>
            <a:off x="4023336" y="3290817"/>
            <a:ext cx="1783200" cy="627300"/>
          </a:xfrm>
          <a:prstGeom prst="rect">
            <a:avLst/>
          </a:prstGeom>
          <a:noFill/>
          <a:ln>
            <a:noFill/>
          </a:ln>
        </p:spPr>
        <p:txBody>
          <a:bodyPr anchorCtr="0" anchor="ctr" bIns="0" lIns="0" spcFirstLastPara="1" rIns="0" wrap="square" tIns="0">
            <a:noAutofit/>
          </a:bodyPr>
          <a:lstStyle/>
          <a:p>
            <a:pPr indent="0" lvl="0" marL="0" rtl="0" algn="l">
              <a:lnSpc>
                <a:spcPct val="105000"/>
              </a:lnSpc>
              <a:spcBef>
                <a:spcPts val="0"/>
              </a:spcBef>
              <a:spcAft>
                <a:spcPts val="0"/>
              </a:spcAft>
              <a:buClr>
                <a:schemeClr val="dk1"/>
              </a:buClr>
              <a:buSzPts val="760"/>
              <a:buFont typeface="Arial"/>
              <a:buNone/>
            </a:pPr>
            <a:r>
              <a:rPr b="1" lang="en" sz="800">
                <a:solidFill>
                  <a:srgbClr val="5C8A5A"/>
                </a:solidFill>
                <a:latin typeface="Calibri"/>
                <a:ea typeface="Calibri"/>
                <a:cs typeface="Calibri"/>
                <a:sym typeface="Calibri"/>
              </a:rPr>
              <a:t>Initial retrieval = 30</a:t>
            </a:r>
            <a:endParaRPr b="1" sz="800">
              <a:solidFill>
                <a:srgbClr val="5C8A5A"/>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760"/>
              <a:buFont typeface="Arial"/>
              <a:buNone/>
            </a:pPr>
            <a:r>
              <a:rPr b="1" lang="en" sz="800">
                <a:solidFill>
                  <a:srgbClr val="5C8A5A"/>
                </a:solidFill>
                <a:latin typeface="Calibri"/>
                <a:ea typeface="Calibri"/>
                <a:cs typeface="Calibri"/>
                <a:sym typeface="Calibri"/>
              </a:rPr>
              <a:t>Final retrieval = 10</a:t>
            </a:r>
            <a:endParaRPr b="1" sz="800">
              <a:solidFill>
                <a:srgbClr val="5C8A5A"/>
              </a:solidFill>
              <a:latin typeface="Calibri"/>
              <a:ea typeface="Calibri"/>
              <a:cs typeface="Calibri"/>
              <a:sym typeface="Calibri"/>
            </a:endParaRPr>
          </a:p>
        </p:txBody>
      </p:sp>
      <p:sp>
        <p:nvSpPr>
          <p:cNvPr id="482" name="Google Shape;482;p58"/>
          <p:cNvSpPr txBox="1"/>
          <p:nvPr/>
        </p:nvSpPr>
        <p:spPr>
          <a:xfrm>
            <a:off x="5989296" y="3290817"/>
            <a:ext cx="2697600" cy="627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720"/>
              <a:buFont typeface="Arial"/>
              <a:buNone/>
            </a:pPr>
            <a:r>
              <a:rPr lang="en" sz="700">
                <a:solidFill>
                  <a:srgbClr val="17351F"/>
                </a:solidFill>
                <a:latin typeface="Calibri"/>
                <a:ea typeface="Calibri"/>
                <a:cs typeface="Calibri"/>
                <a:sym typeface="Calibri"/>
              </a:rPr>
              <a:t>With the baseline setup, the agent only ever sees 7 passages out of 15 candidates, which is fine for simple questions, but potentially too narrow for harder ones. Widening the search to 30 </a:t>
            </a:r>
            <a:r>
              <a:rPr lang="en" sz="700">
                <a:solidFill>
                  <a:srgbClr val="17351F"/>
                </a:solidFill>
                <a:latin typeface="Calibri"/>
                <a:ea typeface="Calibri"/>
                <a:cs typeface="Calibri"/>
                <a:sym typeface="Calibri"/>
              </a:rPr>
              <a:t>candidates</a:t>
            </a:r>
            <a:r>
              <a:rPr lang="en" sz="700">
                <a:solidFill>
                  <a:srgbClr val="17351F"/>
                </a:solidFill>
                <a:latin typeface="Calibri"/>
                <a:ea typeface="Calibri"/>
                <a:cs typeface="Calibri"/>
                <a:sym typeface="Calibri"/>
              </a:rPr>
              <a:t> and keeping the top 10 gives the reranker more to choose from, at the cost of extra latency.</a:t>
            </a:r>
            <a:endParaRPr sz="700" u="none" cap="none" strike="noStrike">
              <a:solidFill>
                <a:srgbClr val="17351F"/>
              </a:solidFill>
              <a:latin typeface="Calibri"/>
              <a:ea typeface="Calibri"/>
              <a:cs typeface="Calibri"/>
              <a:sym typeface="Calibri"/>
            </a:endParaRPr>
          </a:p>
        </p:txBody>
      </p:sp>
      <p:sp>
        <p:nvSpPr>
          <p:cNvPr id="483" name="Google Shape;483;p58"/>
          <p:cNvSpPr txBox="1"/>
          <p:nvPr/>
        </p:nvSpPr>
        <p:spPr>
          <a:xfrm>
            <a:off x="365800" y="721300"/>
            <a:ext cx="8412600" cy="970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900">
                <a:solidFill>
                  <a:srgbClr val="17351F"/>
                </a:solidFill>
                <a:latin typeface="Calibri"/>
                <a:ea typeface="Calibri"/>
                <a:cs typeface="Calibri"/>
                <a:sym typeface="Calibri"/>
              </a:rPr>
              <a:t>We want to know whether upgrading four core settings at once, the LLM, the reranker threshold, and the retrieval k-values, produces a meaningfully better assistant, not just a marginally different one. </a:t>
            </a:r>
            <a:endParaRPr sz="900">
              <a:solidFill>
                <a:srgbClr val="17351F"/>
              </a:solidFill>
              <a:latin typeface="Calibri"/>
              <a:ea typeface="Calibri"/>
              <a:cs typeface="Calibri"/>
              <a:sym typeface="Calibri"/>
            </a:endParaRPr>
          </a:p>
          <a:p>
            <a:pPr indent="0" lvl="0" marL="0" rtl="0" algn="l">
              <a:spcBef>
                <a:spcPts val="0"/>
              </a:spcBef>
              <a:spcAft>
                <a:spcPts val="0"/>
              </a:spcAft>
              <a:buNone/>
            </a:pPr>
            <a:r>
              <a:rPr lang="en" sz="900">
                <a:solidFill>
                  <a:srgbClr val="17351F"/>
                </a:solidFill>
                <a:latin typeface="Calibri"/>
                <a:ea typeface="Calibri"/>
                <a:cs typeface="Calibri"/>
                <a:sym typeface="Calibri"/>
              </a:rPr>
              <a:t>The baseline and improved configurations are each run once against the same 30-question benchmark, under identical conditions, so both are scored on exactly the same questions.</a:t>
            </a:r>
            <a:endParaRPr sz="900">
              <a:solidFill>
                <a:srgbClr val="17351F"/>
              </a:solidFill>
              <a:latin typeface="Calibri"/>
              <a:ea typeface="Calibri"/>
              <a:cs typeface="Calibri"/>
              <a:sym typeface="Calibri"/>
            </a:endParaRPr>
          </a:p>
          <a:p>
            <a:pPr indent="0" lvl="0" marL="0" rtl="0" algn="l">
              <a:spcBef>
                <a:spcPts val="0"/>
              </a:spcBef>
              <a:spcAft>
                <a:spcPts val="0"/>
              </a:spcAft>
              <a:buNone/>
            </a:pPr>
            <a:r>
              <a:rPr lang="en" sz="900">
                <a:solidFill>
                  <a:srgbClr val="17351F"/>
                </a:solidFill>
                <a:latin typeface="Calibri"/>
                <a:ea typeface="Calibri"/>
                <a:cs typeface="Calibri"/>
                <a:sym typeface="Calibri"/>
              </a:rPr>
              <a:t>The improved configuration is expected to raise faithfulness and retrieval quality, but likely at the cost of higher latency and spend. The LLM is stronger, and the retrieval pool is wider, and this combination adds processing time and cost.</a:t>
            </a:r>
            <a:endParaRPr sz="900">
              <a:solidFill>
                <a:srgbClr val="17351F"/>
              </a:solidFill>
              <a:latin typeface="Calibri"/>
              <a:ea typeface="Calibri"/>
              <a:cs typeface="Calibri"/>
              <a:sym typeface="Calibri"/>
            </a:endParaRPr>
          </a:p>
          <a:p>
            <a:pPr indent="0" lvl="0" marL="0" rtl="0" algn="l">
              <a:spcBef>
                <a:spcPts val="0"/>
              </a:spcBef>
              <a:spcAft>
                <a:spcPts val="0"/>
              </a:spcAft>
              <a:buNone/>
            </a:pPr>
            <a:r>
              <a:rPr lang="en" sz="900">
                <a:solidFill>
                  <a:srgbClr val="17351F"/>
                </a:solidFill>
                <a:latin typeface="Calibri"/>
                <a:ea typeface="Calibri"/>
                <a:cs typeface="Calibri"/>
                <a:sym typeface="Calibri"/>
              </a:rPr>
              <a:t>Because all four settings change together, though, this test can only show whether the bundle works as a whole, not which individual setting is responsible.</a:t>
            </a:r>
            <a:endParaRPr sz="900">
              <a:solidFill>
                <a:srgbClr val="FF0000"/>
              </a:solidFill>
              <a:latin typeface="Calibri"/>
              <a:ea typeface="Calibri"/>
              <a:cs typeface="Calibri"/>
              <a:sym typeface="Calibri"/>
            </a:endParaRPr>
          </a:p>
        </p:txBody>
      </p:sp>
      <p:sp>
        <p:nvSpPr>
          <p:cNvPr id="484" name="Google Shape;484;p58"/>
          <p:cNvSpPr txBox="1"/>
          <p:nvPr>
            <p:ph idx="12" type="sldNum"/>
          </p:nvPr>
        </p:nvSpPr>
        <p:spPr>
          <a:xfrm>
            <a:off x="7424928" y="4837176"/>
            <a:ext cx="16002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sz="800">
                <a:solidFill>
                  <a:srgbClr val="5B6B5E"/>
                </a:solidFill>
              </a:rPr>
              <a:t>‹#›</a:t>
            </a:fld>
            <a:endParaRPr sz="800">
              <a:solidFill>
                <a:srgbClr val="5B6B5E"/>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9"/>
          <p:cNvSpPr txBox="1"/>
          <p:nvPr/>
        </p:nvSpPr>
        <p:spPr>
          <a:xfrm>
            <a:off x="365760" y="201168"/>
            <a:ext cx="8412600" cy="3108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1900"/>
              <a:buFont typeface="Arial"/>
              <a:buNone/>
            </a:pPr>
            <a:r>
              <a:rPr b="1" lang="en" sz="1900">
                <a:solidFill>
                  <a:srgbClr val="1E4B2B"/>
                </a:solidFill>
                <a:latin typeface="Cambria"/>
                <a:ea typeface="Cambria"/>
                <a:cs typeface="Cambria"/>
                <a:sym typeface="Cambria"/>
              </a:rPr>
              <a:t>30 question-answer set</a:t>
            </a:r>
            <a:endParaRPr b="1" sz="1900">
              <a:solidFill>
                <a:srgbClr val="1E4B2B"/>
              </a:solidFill>
              <a:latin typeface="Cambria"/>
              <a:ea typeface="Cambria"/>
              <a:cs typeface="Cambria"/>
              <a:sym typeface="Cambria"/>
            </a:endParaRPr>
          </a:p>
        </p:txBody>
      </p:sp>
      <p:sp>
        <p:nvSpPr>
          <p:cNvPr id="490" name="Google Shape;490;p59"/>
          <p:cNvSpPr txBox="1"/>
          <p:nvPr/>
        </p:nvSpPr>
        <p:spPr>
          <a:xfrm>
            <a:off x="365760" y="512064"/>
            <a:ext cx="8229900" cy="146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1100"/>
              <a:buNone/>
            </a:pPr>
            <a:r>
              <a:rPr i="1" lang="en" sz="950">
                <a:solidFill>
                  <a:srgbClr val="5B6B5E"/>
                </a:solidFill>
                <a:latin typeface="Calibri"/>
                <a:ea typeface="Calibri"/>
                <a:cs typeface="Calibri"/>
                <a:sym typeface="Calibri"/>
              </a:rPr>
              <a:t>Samples of exchanges between the user and the model assistant in the four conversations, spanning topics used for benchmarking</a:t>
            </a:r>
            <a:endParaRPr i="1" sz="950">
              <a:solidFill>
                <a:srgbClr val="5B6B5E"/>
              </a:solidFill>
              <a:latin typeface="Calibri"/>
              <a:ea typeface="Calibri"/>
              <a:cs typeface="Calibri"/>
              <a:sym typeface="Calibri"/>
            </a:endParaRPr>
          </a:p>
        </p:txBody>
      </p:sp>
      <p:sp>
        <p:nvSpPr>
          <p:cNvPr id="491" name="Google Shape;491;p59"/>
          <p:cNvSpPr txBox="1"/>
          <p:nvPr/>
        </p:nvSpPr>
        <p:spPr>
          <a:xfrm>
            <a:off x="445782" y="4301504"/>
            <a:ext cx="82299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700">
                <a:solidFill>
                  <a:srgbClr val="5A666C"/>
                </a:solidFill>
                <a:latin typeface="Calibri"/>
                <a:ea typeface="Calibri"/>
                <a:cs typeface="Calibri"/>
                <a:sym typeface="Calibri"/>
              </a:rPr>
              <a:t>Note</a:t>
            </a:r>
            <a:r>
              <a:rPr b="0" i="0" lang="en" sz="700" u="none" cap="none" strike="noStrike">
                <a:solidFill>
                  <a:srgbClr val="5A666C"/>
                </a:solidFill>
                <a:latin typeface="Calibri"/>
                <a:ea typeface="Calibri"/>
                <a:cs typeface="Calibri"/>
                <a:sym typeface="Calibri"/>
              </a:rPr>
              <a:t>: </a:t>
            </a:r>
            <a:r>
              <a:rPr lang="en" sz="700">
                <a:solidFill>
                  <a:srgbClr val="5A666C"/>
                </a:solidFill>
                <a:latin typeface="Calibri"/>
                <a:ea typeface="Calibri"/>
                <a:cs typeface="Calibri"/>
                <a:sym typeface="Calibri"/>
              </a:rPr>
              <a:t>All the question-Answer used for </a:t>
            </a:r>
            <a:r>
              <a:rPr lang="en" sz="700">
                <a:solidFill>
                  <a:srgbClr val="5A666C"/>
                </a:solidFill>
                <a:latin typeface="Calibri"/>
                <a:ea typeface="Calibri"/>
                <a:cs typeface="Calibri"/>
                <a:sym typeface="Calibri"/>
              </a:rPr>
              <a:t>benchmark can be find in the appendix.</a:t>
            </a:r>
            <a:endParaRPr sz="1100"/>
          </a:p>
        </p:txBody>
      </p:sp>
      <p:sp>
        <p:nvSpPr>
          <p:cNvPr id="492" name="Google Shape;492;p59"/>
          <p:cNvSpPr/>
          <p:nvPr/>
        </p:nvSpPr>
        <p:spPr>
          <a:xfrm>
            <a:off x="460950" y="862025"/>
            <a:ext cx="4025400" cy="1617900"/>
          </a:xfrm>
          <a:prstGeom prst="roundRect">
            <a:avLst>
              <a:gd fmla="val 4651" name="adj"/>
            </a:avLst>
          </a:prstGeom>
          <a:solidFill>
            <a:srgbClr val="F4F6F7"/>
          </a:solidFill>
          <a:ln cap="flat" cmpd="sng" w="16325">
            <a:solidFill>
              <a:srgbClr val="162B39"/>
            </a:solidFill>
            <a:prstDash val="solid"/>
            <a:round/>
            <a:headEnd len="sm" w="sm" type="none"/>
            <a:tailEnd len="sm" w="sm" type="none"/>
          </a:ln>
          <a:effectLst>
            <a:outerShdw blurRad="65318" rotWithShape="0" algn="bl" dir="5400000" dist="26127">
              <a:srgbClr val="000000">
                <a:alpha val="21960"/>
              </a:srgbClr>
            </a:outerShdw>
          </a:effectLst>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493" name="Google Shape;493;p59"/>
          <p:cNvSpPr txBox="1"/>
          <p:nvPr/>
        </p:nvSpPr>
        <p:spPr>
          <a:xfrm>
            <a:off x="583224" y="918460"/>
            <a:ext cx="3781200" cy="16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74"/>
              <a:buFont typeface="Arial"/>
              <a:buNone/>
            </a:pPr>
            <a:r>
              <a:rPr b="1" i="0" lang="en" sz="874" u="none" cap="none" strike="noStrike">
                <a:solidFill>
                  <a:srgbClr val="162B39"/>
                </a:solidFill>
                <a:latin typeface="Calibri"/>
                <a:ea typeface="Calibri"/>
                <a:cs typeface="Calibri"/>
                <a:sym typeface="Calibri"/>
              </a:rPr>
              <a:t>American Bullfrog  ·  Q1–8</a:t>
            </a:r>
            <a:endParaRPr b="0" i="0" sz="874" u="none" cap="none" strike="noStrike">
              <a:solidFill>
                <a:srgbClr val="000000"/>
              </a:solidFill>
              <a:latin typeface="Arial"/>
              <a:ea typeface="Arial"/>
              <a:cs typeface="Arial"/>
              <a:sym typeface="Arial"/>
            </a:endParaRPr>
          </a:p>
        </p:txBody>
      </p:sp>
      <p:sp>
        <p:nvSpPr>
          <p:cNvPr id="494" name="Google Shape;494;p59"/>
          <p:cNvSpPr/>
          <p:nvPr/>
        </p:nvSpPr>
        <p:spPr>
          <a:xfrm>
            <a:off x="1394752" y="1125387"/>
            <a:ext cx="2979300" cy="155100"/>
          </a:xfrm>
          <a:prstGeom prst="roundRect">
            <a:avLst>
              <a:gd fmla="val 21212" name="adj"/>
            </a:avLst>
          </a:prstGeom>
          <a:solidFill>
            <a:srgbClr val="DCF8C6"/>
          </a:solidFill>
          <a:ln>
            <a:noFill/>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495" name="Google Shape;495;p59"/>
          <p:cNvSpPr txBox="1"/>
          <p:nvPr/>
        </p:nvSpPr>
        <p:spPr>
          <a:xfrm>
            <a:off x="1469997" y="1125387"/>
            <a:ext cx="2828400" cy="1551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Why is it called a “bullfrog”?</a:t>
            </a:r>
            <a:endParaRPr b="0" i="0" sz="669" u="none" cap="none" strike="noStrike">
              <a:solidFill>
                <a:srgbClr val="000000"/>
              </a:solidFill>
              <a:latin typeface="Arial"/>
              <a:ea typeface="Arial"/>
              <a:cs typeface="Arial"/>
              <a:sym typeface="Arial"/>
            </a:endParaRPr>
          </a:p>
        </p:txBody>
      </p:sp>
      <p:sp>
        <p:nvSpPr>
          <p:cNvPr id="496" name="Google Shape;496;p59"/>
          <p:cNvSpPr/>
          <p:nvPr/>
        </p:nvSpPr>
        <p:spPr>
          <a:xfrm>
            <a:off x="573819" y="1332315"/>
            <a:ext cx="2979300" cy="352500"/>
          </a:xfrm>
          <a:prstGeom prst="roundRect">
            <a:avLst>
              <a:gd fmla="val 9333" name="adj"/>
            </a:avLst>
          </a:prstGeom>
          <a:solidFill>
            <a:srgbClr val="FFFFFF"/>
          </a:solidFill>
          <a:ln cap="flat" cmpd="sng" w="9775">
            <a:solidFill>
              <a:srgbClr val="D8D8D8"/>
            </a:solidFill>
            <a:prstDash val="solid"/>
            <a:round/>
            <a:headEnd len="sm" w="sm" type="none"/>
            <a:tailEnd len="sm" w="sm" type="none"/>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497" name="Google Shape;497;p59"/>
          <p:cNvSpPr txBox="1"/>
          <p:nvPr/>
        </p:nvSpPr>
        <p:spPr>
          <a:xfrm>
            <a:off x="649065" y="1332315"/>
            <a:ext cx="2828400" cy="3525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It gets its name from the sound the male makes during breeding season, which resembles a bull bellowing.</a:t>
            </a:r>
            <a:endParaRPr b="0" i="0" sz="669" u="none" cap="none" strike="noStrike">
              <a:solidFill>
                <a:srgbClr val="000000"/>
              </a:solidFill>
              <a:latin typeface="Arial"/>
              <a:ea typeface="Arial"/>
              <a:cs typeface="Arial"/>
              <a:sym typeface="Arial"/>
            </a:endParaRPr>
          </a:p>
        </p:txBody>
      </p:sp>
      <p:sp>
        <p:nvSpPr>
          <p:cNvPr id="498" name="Google Shape;498;p59"/>
          <p:cNvSpPr/>
          <p:nvPr/>
        </p:nvSpPr>
        <p:spPr>
          <a:xfrm>
            <a:off x="1394752" y="1760279"/>
            <a:ext cx="2979300" cy="155100"/>
          </a:xfrm>
          <a:prstGeom prst="roundRect">
            <a:avLst>
              <a:gd fmla="val 21212" name="adj"/>
            </a:avLst>
          </a:prstGeom>
          <a:solidFill>
            <a:srgbClr val="DCF8C6"/>
          </a:solidFill>
          <a:ln>
            <a:noFill/>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499" name="Google Shape;499;p59"/>
          <p:cNvSpPr txBox="1"/>
          <p:nvPr/>
        </p:nvSpPr>
        <p:spPr>
          <a:xfrm>
            <a:off x="1469997" y="1760279"/>
            <a:ext cx="2828400" cy="1551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Is it considered invasive?</a:t>
            </a:r>
            <a:endParaRPr b="0" i="0" sz="669" u="none" cap="none" strike="noStrike">
              <a:solidFill>
                <a:srgbClr val="000000"/>
              </a:solidFill>
              <a:latin typeface="Arial"/>
              <a:ea typeface="Arial"/>
              <a:cs typeface="Arial"/>
              <a:sym typeface="Arial"/>
            </a:endParaRPr>
          </a:p>
        </p:txBody>
      </p:sp>
      <p:sp>
        <p:nvSpPr>
          <p:cNvPr id="500" name="Google Shape;500;p59"/>
          <p:cNvSpPr/>
          <p:nvPr/>
        </p:nvSpPr>
        <p:spPr>
          <a:xfrm>
            <a:off x="573819" y="1967207"/>
            <a:ext cx="2979300" cy="352500"/>
          </a:xfrm>
          <a:prstGeom prst="roundRect">
            <a:avLst>
              <a:gd fmla="val 9333" name="adj"/>
            </a:avLst>
          </a:prstGeom>
          <a:solidFill>
            <a:srgbClr val="FFFFFF"/>
          </a:solidFill>
          <a:ln cap="flat" cmpd="sng" w="9775">
            <a:solidFill>
              <a:srgbClr val="D8D8D8"/>
            </a:solidFill>
            <a:prstDash val="solid"/>
            <a:round/>
            <a:headEnd len="sm" w="sm" type="none"/>
            <a:tailEnd len="sm" w="sm" type="none"/>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01" name="Google Shape;501;p59"/>
          <p:cNvSpPr txBox="1"/>
          <p:nvPr/>
        </p:nvSpPr>
        <p:spPr>
          <a:xfrm>
            <a:off x="649065" y="1967207"/>
            <a:ext cx="2828400" cy="3525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Yes — introduced to the Western US, South America, Western Europe, China, Japan, and Southeast Asia.</a:t>
            </a:r>
            <a:endParaRPr b="0" i="0" sz="669" u="none" cap="none" strike="noStrike">
              <a:solidFill>
                <a:srgbClr val="000000"/>
              </a:solidFill>
              <a:latin typeface="Arial"/>
              <a:ea typeface="Arial"/>
              <a:cs typeface="Arial"/>
              <a:sym typeface="Arial"/>
            </a:endParaRPr>
          </a:p>
        </p:txBody>
      </p:sp>
      <p:sp>
        <p:nvSpPr>
          <p:cNvPr id="502" name="Google Shape;502;p59"/>
          <p:cNvSpPr/>
          <p:nvPr/>
        </p:nvSpPr>
        <p:spPr>
          <a:xfrm>
            <a:off x="4665316" y="862025"/>
            <a:ext cx="4025400" cy="1617900"/>
          </a:xfrm>
          <a:prstGeom prst="roundRect">
            <a:avLst>
              <a:gd fmla="val 4651" name="adj"/>
            </a:avLst>
          </a:prstGeom>
          <a:solidFill>
            <a:srgbClr val="F4F6F7"/>
          </a:solidFill>
          <a:ln cap="flat" cmpd="sng" w="16325">
            <a:solidFill>
              <a:srgbClr val="162B39"/>
            </a:solidFill>
            <a:prstDash val="solid"/>
            <a:round/>
            <a:headEnd len="sm" w="sm" type="none"/>
            <a:tailEnd len="sm" w="sm" type="none"/>
          </a:ln>
          <a:effectLst>
            <a:outerShdw blurRad="65318" rotWithShape="0" algn="bl" dir="5400000" dist="26127">
              <a:srgbClr val="000000">
                <a:alpha val="21960"/>
              </a:srgbClr>
            </a:outerShdw>
          </a:effectLst>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03" name="Google Shape;503;p59"/>
          <p:cNvSpPr txBox="1"/>
          <p:nvPr/>
        </p:nvSpPr>
        <p:spPr>
          <a:xfrm>
            <a:off x="4787591" y="918460"/>
            <a:ext cx="3781200" cy="16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74"/>
              <a:buFont typeface="Arial"/>
              <a:buNone/>
            </a:pPr>
            <a:r>
              <a:rPr b="1" i="0" lang="en" sz="874" u="none" cap="none" strike="noStrike">
                <a:solidFill>
                  <a:srgbClr val="162B39"/>
                </a:solidFill>
                <a:latin typeface="Calibri"/>
                <a:ea typeface="Calibri"/>
                <a:cs typeface="Calibri"/>
                <a:sym typeface="Calibri"/>
              </a:rPr>
              <a:t>Small Emperor Moth  ·  Q9–15</a:t>
            </a:r>
            <a:endParaRPr b="0" i="0" sz="874" u="none" cap="none" strike="noStrike">
              <a:solidFill>
                <a:srgbClr val="000000"/>
              </a:solidFill>
              <a:latin typeface="Arial"/>
              <a:ea typeface="Arial"/>
              <a:cs typeface="Arial"/>
              <a:sym typeface="Arial"/>
            </a:endParaRPr>
          </a:p>
        </p:txBody>
      </p:sp>
      <p:sp>
        <p:nvSpPr>
          <p:cNvPr id="504" name="Google Shape;504;p59"/>
          <p:cNvSpPr/>
          <p:nvPr/>
        </p:nvSpPr>
        <p:spPr>
          <a:xfrm>
            <a:off x="5599118" y="1125387"/>
            <a:ext cx="2979300" cy="254100"/>
          </a:xfrm>
          <a:prstGeom prst="roundRect">
            <a:avLst>
              <a:gd fmla="val 12963" name="adj"/>
            </a:avLst>
          </a:prstGeom>
          <a:solidFill>
            <a:srgbClr val="DCF8C6"/>
          </a:solidFill>
          <a:ln>
            <a:noFill/>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05" name="Google Shape;505;p59"/>
          <p:cNvSpPr txBox="1"/>
          <p:nvPr/>
        </p:nvSpPr>
        <p:spPr>
          <a:xfrm>
            <a:off x="5674364" y="1125387"/>
            <a:ext cx="2828400" cy="2541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When do males fly and what do they look for?</a:t>
            </a:r>
            <a:endParaRPr b="0" i="0" sz="669" u="none" cap="none" strike="noStrike">
              <a:solidFill>
                <a:srgbClr val="000000"/>
              </a:solidFill>
              <a:latin typeface="Arial"/>
              <a:ea typeface="Arial"/>
              <a:cs typeface="Arial"/>
              <a:sym typeface="Arial"/>
            </a:endParaRPr>
          </a:p>
        </p:txBody>
      </p:sp>
      <p:sp>
        <p:nvSpPr>
          <p:cNvPr id="506" name="Google Shape;506;p59"/>
          <p:cNvSpPr/>
          <p:nvPr/>
        </p:nvSpPr>
        <p:spPr>
          <a:xfrm>
            <a:off x="4778185" y="1431076"/>
            <a:ext cx="2979300" cy="352500"/>
          </a:xfrm>
          <a:prstGeom prst="roundRect">
            <a:avLst>
              <a:gd fmla="val 9333" name="adj"/>
            </a:avLst>
          </a:prstGeom>
          <a:solidFill>
            <a:srgbClr val="FFFFFF"/>
          </a:solidFill>
          <a:ln cap="flat" cmpd="sng" w="9775">
            <a:solidFill>
              <a:srgbClr val="D8D8D8"/>
            </a:solidFill>
            <a:prstDash val="solid"/>
            <a:round/>
            <a:headEnd len="sm" w="sm" type="none"/>
            <a:tailEnd len="sm" w="sm" type="none"/>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07" name="Google Shape;507;p59"/>
          <p:cNvSpPr txBox="1"/>
          <p:nvPr/>
        </p:nvSpPr>
        <p:spPr>
          <a:xfrm>
            <a:off x="4853431" y="1431076"/>
            <a:ext cx="2828400" cy="3525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Males fly rapidly by day from mid-April to late June, searching for sluggish, mostly nocturnal females.</a:t>
            </a:r>
            <a:endParaRPr b="0" i="0" sz="669" u="none" cap="none" strike="noStrike">
              <a:solidFill>
                <a:srgbClr val="000000"/>
              </a:solidFill>
              <a:latin typeface="Arial"/>
              <a:ea typeface="Arial"/>
              <a:cs typeface="Arial"/>
              <a:sym typeface="Arial"/>
            </a:endParaRPr>
          </a:p>
        </p:txBody>
      </p:sp>
      <p:sp>
        <p:nvSpPr>
          <p:cNvPr id="508" name="Google Shape;508;p59"/>
          <p:cNvSpPr/>
          <p:nvPr/>
        </p:nvSpPr>
        <p:spPr>
          <a:xfrm>
            <a:off x="5599118" y="1859040"/>
            <a:ext cx="2979300" cy="155100"/>
          </a:xfrm>
          <a:prstGeom prst="roundRect">
            <a:avLst>
              <a:gd fmla="val 21212" name="adj"/>
            </a:avLst>
          </a:prstGeom>
          <a:solidFill>
            <a:srgbClr val="DCF8C6"/>
          </a:solidFill>
          <a:ln>
            <a:noFill/>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09" name="Google Shape;509;p59"/>
          <p:cNvSpPr txBox="1"/>
          <p:nvPr/>
        </p:nvSpPr>
        <p:spPr>
          <a:xfrm>
            <a:off x="5674364" y="1859040"/>
            <a:ext cx="2828400" cy="1551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What habitat does this moth prefer?</a:t>
            </a:r>
            <a:endParaRPr b="0" i="0" sz="669" u="none" cap="none" strike="noStrike">
              <a:solidFill>
                <a:srgbClr val="000000"/>
              </a:solidFill>
              <a:latin typeface="Arial"/>
              <a:ea typeface="Arial"/>
              <a:cs typeface="Arial"/>
              <a:sym typeface="Arial"/>
            </a:endParaRPr>
          </a:p>
        </p:txBody>
      </p:sp>
      <p:sp>
        <p:nvSpPr>
          <p:cNvPr id="510" name="Google Shape;510;p59"/>
          <p:cNvSpPr/>
          <p:nvPr/>
        </p:nvSpPr>
        <p:spPr>
          <a:xfrm>
            <a:off x="4778185" y="2065968"/>
            <a:ext cx="2979300" cy="254100"/>
          </a:xfrm>
          <a:prstGeom prst="roundRect">
            <a:avLst>
              <a:gd fmla="val 12963" name="adj"/>
            </a:avLst>
          </a:prstGeom>
          <a:solidFill>
            <a:srgbClr val="FFFFFF"/>
          </a:solidFill>
          <a:ln cap="flat" cmpd="sng" w="9775">
            <a:solidFill>
              <a:srgbClr val="D8D8D8"/>
            </a:solidFill>
            <a:prstDash val="solid"/>
            <a:round/>
            <a:headEnd len="sm" w="sm" type="none"/>
            <a:tailEnd len="sm" w="sm" type="none"/>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11" name="Google Shape;511;p59"/>
          <p:cNvSpPr txBox="1"/>
          <p:nvPr/>
        </p:nvSpPr>
        <p:spPr>
          <a:xfrm>
            <a:off x="4853431" y="2065968"/>
            <a:ext cx="2828400" cy="2541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It's most often associated with heathland and moorland.</a:t>
            </a:r>
            <a:endParaRPr b="0" i="0" sz="669" u="none" cap="none" strike="noStrike">
              <a:solidFill>
                <a:srgbClr val="000000"/>
              </a:solidFill>
              <a:latin typeface="Arial"/>
              <a:ea typeface="Arial"/>
              <a:cs typeface="Arial"/>
              <a:sym typeface="Arial"/>
            </a:endParaRPr>
          </a:p>
        </p:txBody>
      </p:sp>
      <p:sp>
        <p:nvSpPr>
          <p:cNvPr id="512" name="Google Shape;512;p59"/>
          <p:cNvSpPr/>
          <p:nvPr/>
        </p:nvSpPr>
        <p:spPr>
          <a:xfrm>
            <a:off x="460950" y="2611504"/>
            <a:ext cx="4025400" cy="1617900"/>
          </a:xfrm>
          <a:prstGeom prst="roundRect">
            <a:avLst>
              <a:gd fmla="val 4651" name="adj"/>
            </a:avLst>
          </a:prstGeom>
          <a:solidFill>
            <a:srgbClr val="F4F6F7"/>
          </a:solidFill>
          <a:ln cap="flat" cmpd="sng" w="16325">
            <a:solidFill>
              <a:srgbClr val="162B39"/>
            </a:solidFill>
            <a:prstDash val="solid"/>
            <a:round/>
            <a:headEnd len="sm" w="sm" type="none"/>
            <a:tailEnd len="sm" w="sm" type="none"/>
          </a:ln>
          <a:effectLst>
            <a:outerShdw blurRad="65318" rotWithShape="0" algn="bl" dir="5400000" dist="26127">
              <a:srgbClr val="000000">
                <a:alpha val="21960"/>
              </a:srgbClr>
            </a:outerShdw>
          </a:effectLst>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13" name="Google Shape;513;p59"/>
          <p:cNvSpPr txBox="1"/>
          <p:nvPr/>
        </p:nvSpPr>
        <p:spPr>
          <a:xfrm>
            <a:off x="583224" y="2667939"/>
            <a:ext cx="3781200" cy="16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74"/>
              <a:buFont typeface="Arial"/>
              <a:buNone/>
            </a:pPr>
            <a:r>
              <a:rPr b="1" i="0" lang="en" sz="874" u="none" cap="none" strike="noStrike">
                <a:solidFill>
                  <a:srgbClr val="162B39"/>
                </a:solidFill>
                <a:latin typeface="Calibri"/>
                <a:ea typeface="Calibri"/>
                <a:cs typeface="Calibri"/>
                <a:sym typeface="Calibri"/>
              </a:rPr>
              <a:t>Swedish Whitebeam  ·  Q16–22</a:t>
            </a:r>
            <a:endParaRPr b="0" i="0" sz="874" u="none" cap="none" strike="noStrike">
              <a:solidFill>
                <a:srgbClr val="000000"/>
              </a:solidFill>
              <a:latin typeface="Arial"/>
              <a:ea typeface="Arial"/>
              <a:cs typeface="Arial"/>
              <a:sym typeface="Arial"/>
            </a:endParaRPr>
          </a:p>
        </p:txBody>
      </p:sp>
      <p:sp>
        <p:nvSpPr>
          <p:cNvPr id="514" name="Google Shape;514;p59"/>
          <p:cNvSpPr/>
          <p:nvPr/>
        </p:nvSpPr>
        <p:spPr>
          <a:xfrm>
            <a:off x="1394752" y="2874867"/>
            <a:ext cx="2979300" cy="254100"/>
          </a:xfrm>
          <a:prstGeom prst="roundRect">
            <a:avLst>
              <a:gd fmla="val 12963" name="adj"/>
            </a:avLst>
          </a:prstGeom>
          <a:solidFill>
            <a:srgbClr val="DCF8C6"/>
          </a:solidFill>
          <a:ln>
            <a:noFill/>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15" name="Google Shape;515;p59"/>
          <p:cNvSpPr txBox="1"/>
          <p:nvPr/>
        </p:nvSpPr>
        <p:spPr>
          <a:xfrm>
            <a:off x="1469997" y="2874867"/>
            <a:ext cx="2828400" cy="2541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How tall does it grow and what does its trunk look like?</a:t>
            </a:r>
            <a:endParaRPr b="0" i="0" sz="669" u="none" cap="none" strike="noStrike">
              <a:solidFill>
                <a:srgbClr val="000000"/>
              </a:solidFill>
              <a:latin typeface="Arial"/>
              <a:ea typeface="Arial"/>
              <a:cs typeface="Arial"/>
              <a:sym typeface="Arial"/>
            </a:endParaRPr>
          </a:p>
        </p:txBody>
      </p:sp>
      <p:sp>
        <p:nvSpPr>
          <p:cNvPr id="516" name="Google Shape;516;p59"/>
          <p:cNvSpPr/>
          <p:nvPr/>
        </p:nvSpPr>
        <p:spPr>
          <a:xfrm>
            <a:off x="573819" y="3180555"/>
            <a:ext cx="2979300" cy="352500"/>
          </a:xfrm>
          <a:prstGeom prst="roundRect">
            <a:avLst>
              <a:gd fmla="val 9333" name="adj"/>
            </a:avLst>
          </a:prstGeom>
          <a:solidFill>
            <a:srgbClr val="FFFFFF"/>
          </a:solidFill>
          <a:ln cap="flat" cmpd="sng" w="9775">
            <a:solidFill>
              <a:srgbClr val="D8D8D8"/>
            </a:solidFill>
            <a:prstDash val="solid"/>
            <a:round/>
            <a:headEnd len="sm" w="sm" type="none"/>
            <a:tailEnd len="sm" w="sm" type="none"/>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17" name="Google Shape;517;p59"/>
          <p:cNvSpPr txBox="1"/>
          <p:nvPr/>
        </p:nvSpPr>
        <p:spPr>
          <a:xfrm>
            <a:off x="649065" y="3180555"/>
            <a:ext cx="2828400" cy="3525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It grows 10–20 m tall with a stout trunk, usually up to 60 cm in diameter, and grey bark.</a:t>
            </a:r>
            <a:endParaRPr b="0" i="0" sz="669" u="none" cap="none" strike="noStrike">
              <a:solidFill>
                <a:srgbClr val="000000"/>
              </a:solidFill>
              <a:latin typeface="Arial"/>
              <a:ea typeface="Arial"/>
              <a:cs typeface="Arial"/>
              <a:sym typeface="Arial"/>
            </a:endParaRPr>
          </a:p>
        </p:txBody>
      </p:sp>
      <p:sp>
        <p:nvSpPr>
          <p:cNvPr id="518" name="Google Shape;518;p59"/>
          <p:cNvSpPr/>
          <p:nvPr/>
        </p:nvSpPr>
        <p:spPr>
          <a:xfrm>
            <a:off x="1394752" y="3608519"/>
            <a:ext cx="2979300" cy="155100"/>
          </a:xfrm>
          <a:prstGeom prst="roundRect">
            <a:avLst>
              <a:gd fmla="val 21212" name="adj"/>
            </a:avLst>
          </a:prstGeom>
          <a:solidFill>
            <a:srgbClr val="DCF8C6"/>
          </a:solidFill>
          <a:ln>
            <a:noFill/>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19" name="Google Shape;519;p59"/>
          <p:cNvSpPr txBox="1"/>
          <p:nvPr/>
        </p:nvSpPr>
        <p:spPr>
          <a:xfrm>
            <a:off x="1469997" y="3608519"/>
            <a:ext cx="2828400" cy="1551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What color do the leaves turn in autumn?</a:t>
            </a:r>
            <a:endParaRPr b="0" i="0" sz="669" u="none" cap="none" strike="noStrike">
              <a:solidFill>
                <a:srgbClr val="000000"/>
              </a:solidFill>
              <a:latin typeface="Arial"/>
              <a:ea typeface="Arial"/>
              <a:cs typeface="Arial"/>
              <a:sym typeface="Arial"/>
            </a:endParaRPr>
          </a:p>
        </p:txBody>
      </p:sp>
      <p:sp>
        <p:nvSpPr>
          <p:cNvPr id="520" name="Google Shape;520;p59"/>
          <p:cNvSpPr/>
          <p:nvPr/>
        </p:nvSpPr>
        <p:spPr>
          <a:xfrm>
            <a:off x="573819" y="3815447"/>
            <a:ext cx="2979300" cy="155100"/>
          </a:xfrm>
          <a:prstGeom prst="roundRect">
            <a:avLst>
              <a:gd fmla="val 21212" name="adj"/>
            </a:avLst>
          </a:prstGeom>
          <a:solidFill>
            <a:srgbClr val="FFFFFF"/>
          </a:solidFill>
          <a:ln cap="flat" cmpd="sng" w="9775">
            <a:solidFill>
              <a:srgbClr val="D8D8D8"/>
            </a:solidFill>
            <a:prstDash val="solid"/>
            <a:round/>
            <a:headEnd len="sm" w="sm" type="none"/>
            <a:tailEnd len="sm" w="sm" type="none"/>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21" name="Google Shape;521;p59"/>
          <p:cNvSpPr txBox="1"/>
          <p:nvPr/>
        </p:nvSpPr>
        <p:spPr>
          <a:xfrm>
            <a:off x="649065" y="3815447"/>
            <a:ext cx="2828400" cy="1551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Dull yellowish to grey-brown.</a:t>
            </a:r>
            <a:endParaRPr b="0" i="0" sz="669" u="none" cap="none" strike="noStrike">
              <a:solidFill>
                <a:srgbClr val="000000"/>
              </a:solidFill>
              <a:latin typeface="Arial"/>
              <a:ea typeface="Arial"/>
              <a:cs typeface="Arial"/>
              <a:sym typeface="Arial"/>
            </a:endParaRPr>
          </a:p>
        </p:txBody>
      </p:sp>
      <p:sp>
        <p:nvSpPr>
          <p:cNvPr id="522" name="Google Shape;522;p59"/>
          <p:cNvSpPr/>
          <p:nvPr/>
        </p:nvSpPr>
        <p:spPr>
          <a:xfrm>
            <a:off x="4665316" y="2611504"/>
            <a:ext cx="4025400" cy="1617900"/>
          </a:xfrm>
          <a:prstGeom prst="roundRect">
            <a:avLst>
              <a:gd fmla="val 4651" name="adj"/>
            </a:avLst>
          </a:prstGeom>
          <a:solidFill>
            <a:srgbClr val="F4F6F7"/>
          </a:solidFill>
          <a:ln cap="flat" cmpd="sng" w="16325">
            <a:solidFill>
              <a:srgbClr val="162B39"/>
            </a:solidFill>
            <a:prstDash val="solid"/>
            <a:round/>
            <a:headEnd len="sm" w="sm" type="none"/>
            <a:tailEnd len="sm" w="sm" type="none"/>
          </a:ln>
          <a:effectLst>
            <a:outerShdw blurRad="65318" rotWithShape="0" algn="bl" dir="5400000" dist="26127">
              <a:srgbClr val="000000">
                <a:alpha val="21960"/>
              </a:srgbClr>
            </a:outerShdw>
          </a:effectLst>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23" name="Google Shape;523;p59"/>
          <p:cNvSpPr txBox="1"/>
          <p:nvPr/>
        </p:nvSpPr>
        <p:spPr>
          <a:xfrm>
            <a:off x="4787591" y="2667939"/>
            <a:ext cx="3781200" cy="169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74"/>
              <a:buFont typeface="Arial"/>
              <a:buNone/>
            </a:pPr>
            <a:r>
              <a:rPr b="1" i="0" lang="en" sz="874" u="none" cap="none" strike="noStrike">
                <a:solidFill>
                  <a:srgbClr val="162B39"/>
                </a:solidFill>
                <a:latin typeface="Calibri"/>
                <a:ea typeface="Calibri"/>
                <a:cs typeface="Calibri"/>
                <a:sym typeface="Calibri"/>
              </a:rPr>
              <a:t>Dogs vs Cats  ·  Q23–30</a:t>
            </a:r>
            <a:endParaRPr b="0" i="0" sz="874" u="none" cap="none" strike="noStrike">
              <a:solidFill>
                <a:srgbClr val="000000"/>
              </a:solidFill>
              <a:latin typeface="Arial"/>
              <a:ea typeface="Arial"/>
              <a:cs typeface="Arial"/>
              <a:sym typeface="Arial"/>
            </a:endParaRPr>
          </a:p>
        </p:txBody>
      </p:sp>
      <p:sp>
        <p:nvSpPr>
          <p:cNvPr id="524" name="Google Shape;524;p59"/>
          <p:cNvSpPr/>
          <p:nvPr/>
        </p:nvSpPr>
        <p:spPr>
          <a:xfrm>
            <a:off x="5599118" y="2874867"/>
            <a:ext cx="2979300" cy="254100"/>
          </a:xfrm>
          <a:prstGeom prst="roundRect">
            <a:avLst>
              <a:gd fmla="val 12963" name="adj"/>
            </a:avLst>
          </a:prstGeom>
          <a:solidFill>
            <a:srgbClr val="DCF8C6"/>
          </a:solidFill>
          <a:ln>
            <a:noFill/>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25" name="Google Shape;525;p59"/>
          <p:cNvSpPr txBox="1"/>
          <p:nvPr/>
        </p:nvSpPr>
        <p:spPr>
          <a:xfrm>
            <a:off x="5674364" y="2874867"/>
            <a:ext cx="2828400" cy="2541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How do they differ in communication styles?</a:t>
            </a:r>
            <a:endParaRPr b="0" i="0" sz="669" u="none" cap="none" strike="noStrike">
              <a:solidFill>
                <a:srgbClr val="000000"/>
              </a:solidFill>
              <a:latin typeface="Arial"/>
              <a:ea typeface="Arial"/>
              <a:cs typeface="Arial"/>
              <a:sym typeface="Arial"/>
            </a:endParaRPr>
          </a:p>
        </p:txBody>
      </p:sp>
      <p:sp>
        <p:nvSpPr>
          <p:cNvPr id="526" name="Google Shape;526;p59"/>
          <p:cNvSpPr/>
          <p:nvPr/>
        </p:nvSpPr>
        <p:spPr>
          <a:xfrm>
            <a:off x="4778185" y="3180555"/>
            <a:ext cx="2979300" cy="352500"/>
          </a:xfrm>
          <a:prstGeom prst="roundRect">
            <a:avLst>
              <a:gd fmla="val 9333" name="adj"/>
            </a:avLst>
          </a:prstGeom>
          <a:solidFill>
            <a:srgbClr val="FFFFFF"/>
          </a:solidFill>
          <a:ln cap="flat" cmpd="sng" w="9775">
            <a:solidFill>
              <a:srgbClr val="D8D8D8"/>
            </a:solidFill>
            <a:prstDash val="solid"/>
            <a:round/>
            <a:headEnd len="sm" w="sm" type="none"/>
            <a:tailEnd len="sm" w="sm" type="none"/>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27" name="Google Shape;527;p59"/>
          <p:cNvSpPr txBox="1"/>
          <p:nvPr/>
        </p:nvSpPr>
        <p:spPr>
          <a:xfrm>
            <a:off x="4853431" y="3180555"/>
            <a:ext cx="2828400" cy="3525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Dogs are overt and expressive (barking, tail wagging); cats use subtler signals like purring and ear movement.</a:t>
            </a:r>
            <a:endParaRPr b="0" i="0" sz="669" u="none" cap="none" strike="noStrike">
              <a:solidFill>
                <a:srgbClr val="000000"/>
              </a:solidFill>
              <a:latin typeface="Arial"/>
              <a:ea typeface="Arial"/>
              <a:cs typeface="Arial"/>
              <a:sym typeface="Arial"/>
            </a:endParaRPr>
          </a:p>
        </p:txBody>
      </p:sp>
      <p:sp>
        <p:nvSpPr>
          <p:cNvPr id="528" name="Google Shape;528;p59"/>
          <p:cNvSpPr/>
          <p:nvPr/>
        </p:nvSpPr>
        <p:spPr>
          <a:xfrm>
            <a:off x="5599118" y="3608519"/>
            <a:ext cx="2979300" cy="155100"/>
          </a:xfrm>
          <a:prstGeom prst="roundRect">
            <a:avLst>
              <a:gd fmla="val 21212" name="adj"/>
            </a:avLst>
          </a:prstGeom>
          <a:solidFill>
            <a:srgbClr val="DCF8C6"/>
          </a:solidFill>
          <a:ln>
            <a:noFill/>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29" name="Google Shape;529;p59"/>
          <p:cNvSpPr txBox="1"/>
          <p:nvPr/>
        </p:nvSpPr>
        <p:spPr>
          <a:xfrm>
            <a:off x="5674364" y="3608519"/>
            <a:ext cx="2828400" cy="1551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How do they differ in sensory abilities?</a:t>
            </a:r>
            <a:endParaRPr b="0" i="0" sz="669" u="none" cap="none" strike="noStrike">
              <a:solidFill>
                <a:srgbClr val="000000"/>
              </a:solidFill>
              <a:latin typeface="Arial"/>
              <a:ea typeface="Arial"/>
              <a:cs typeface="Arial"/>
              <a:sym typeface="Arial"/>
            </a:endParaRPr>
          </a:p>
        </p:txBody>
      </p:sp>
      <p:sp>
        <p:nvSpPr>
          <p:cNvPr id="530" name="Google Shape;530;p59"/>
          <p:cNvSpPr/>
          <p:nvPr/>
        </p:nvSpPr>
        <p:spPr>
          <a:xfrm>
            <a:off x="4778185" y="3815447"/>
            <a:ext cx="2979300" cy="254100"/>
          </a:xfrm>
          <a:prstGeom prst="roundRect">
            <a:avLst>
              <a:gd fmla="val 12963" name="adj"/>
            </a:avLst>
          </a:prstGeom>
          <a:solidFill>
            <a:srgbClr val="FFFFFF"/>
          </a:solidFill>
          <a:ln cap="flat" cmpd="sng" w="9775">
            <a:solidFill>
              <a:srgbClr val="D8D8D8"/>
            </a:solidFill>
            <a:prstDash val="solid"/>
            <a:round/>
            <a:headEnd len="sm" w="sm" type="none"/>
            <a:tailEnd len="sm" w="sm" type="none"/>
          </a:ln>
        </p:spPr>
        <p:txBody>
          <a:bodyPr anchorCtr="0" anchor="ctr" bIns="94025" lIns="94025" spcFirstLastPara="1" rIns="94025" wrap="square" tIns="94025">
            <a:noAutofit/>
          </a:bodyPr>
          <a:lstStyle/>
          <a:p>
            <a:pPr indent="0" lvl="0" marL="0" rtl="0" algn="l">
              <a:spcBef>
                <a:spcPts val="0"/>
              </a:spcBef>
              <a:spcAft>
                <a:spcPts val="0"/>
              </a:spcAft>
              <a:buNone/>
            </a:pPr>
            <a:r>
              <a:t/>
            </a:r>
            <a:endParaRPr sz="1440"/>
          </a:p>
        </p:txBody>
      </p:sp>
      <p:sp>
        <p:nvSpPr>
          <p:cNvPr id="531" name="Google Shape;531;p59"/>
          <p:cNvSpPr txBox="1"/>
          <p:nvPr/>
        </p:nvSpPr>
        <p:spPr>
          <a:xfrm>
            <a:off x="4853431" y="3815447"/>
            <a:ext cx="2828400" cy="2541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669"/>
              <a:buFont typeface="Arial"/>
              <a:buNone/>
            </a:pPr>
            <a:r>
              <a:rPr b="0" i="0" lang="en" sz="669" u="none" cap="none" strike="noStrike">
                <a:solidFill>
                  <a:srgbClr val="1F1F1F"/>
                </a:solidFill>
                <a:latin typeface="Calibri"/>
                <a:ea typeface="Calibri"/>
                <a:cs typeface="Calibri"/>
                <a:sym typeface="Calibri"/>
              </a:rPr>
              <a:t>Dogs have a far superior sense of smell; cats have better night vision and hearing.</a:t>
            </a:r>
            <a:endParaRPr b="0" i="0" sz="669" u="none" cap="none" strike="noStrike">
              <a:solidFill>
                <a:srgbClr val="000000"/>
              </a:solidFill>
              <a:latin typeface="Arial"/>
              <a:ea typeface="Arial"/>
              <a:cs typeface="Arial"/>
              <a:sym typeface="Arial"/>
            </a:endParaRPr>
          </a:p>
        </p:txBody>
      </p:sp>
      <p:sp>
        <p:nvSpPr>
          <p:cNvPr id="532" name="Google Shape;532;p59"/>
          <p:cNvSpPr txBox="1"/>
          <p:nvPr/>
        </p:nvSpPr>
        <p:spPr>
          <a:xfrm>
            <a:off x="6309360" y="4864608"/>
            <a:ext cx="2469000" cy="219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50"/>
              <a:buFont typeface="Arial"/>
              <a:buNone/>
            </a:pPr>
            <a:r>
              <a:rPr b="0" i="0" lang="en" sz="750" u="none" cap="none" strike="noStrike">
                <a:solidFill>
                  <a:srgbClr val="5B6B5E"/>
                </a:solidFill>
                <a:latin typeface="Calibri"/>
                <a:ea typeface="Calibri"/>
                <a:cs typeface="Calibri"/>
                <a:sym typeface="Calibri"/>
              </a:rPr>
              <a:t>The UK Field Guide — AI Engineering Bootcamp</a:t>
            </a:r>
            <a:endParaRPr b="0" i="0" sz="750" u="none" cap="none" strike="noStrike">
              <a:solidFill>
                <a:srgbClr val="000000"/>
              </a:solidFill>
              <a:latin typeface="Arial"/>
              <a:ea typeface="Arial"/>
              <a:cs typeface="Arial"/>
              <a:sym typeface="Arial"/>
            </a:endParaRPr>
          </a:p>
        </p:txBody>
      </p:sp>
      <p:sp>
        <p:nvSpPr>
          <p:cNvPr id="533" name="Google Shape;533;p59"/>
          <p:cNvSpPr txBox="1"/>
          <p:nvPr>
            <p:ph idx="12" type="sldNum"/>
          </p:nvPr>
        </p:nvSpPr>
        <p:spPr>
          <a:xfrm>
            <a:off x="7424928" y="4837176"/>
            <a:ext cx="16002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sz="800">
                <a:solidFill>
                  <a:srgbClr val="5B6B5E"/>
                </a:solidFill>
              </a:rPr>
              <a:t>‹#›</a:t>
            </a:fld>
            <a:endParaRPr sz="700">
              <a:solidFill>
                <a:srgbClr val="5B6B5E"/>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0"/>
          <p:cNvSpPr txBox="1"/>
          <p:nvPr/>
        </p:nvSpPr>
        <p:spPr>
          <a:xfrm>
            <a:off x="365760" y="201168"/>
            <a:ext cx="8412600" cy="3108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1900"/>
              <a:buFont typeface="Arial"/>
              <a:buNone/>
            </a:pPr>
            <a:r>
              <a:rPr b="1" i="0" lang="en" sz="1900" u="none" cap="none" strike="noStrike">
                <a:solidFill>
                  <a:srgbClr val="1E4B2B"/>
                </a:solidFill>
                <a:latin typeface="Cambria"/>
                <a:ea typeface="Cambria"/>
                <a:cs typeface="Cambria"/>
                <a:sym typeface="Cambria"/>
              </a:rPr>
              <a:t>Observability results</a:t>
            </a:r>
            <a:endParaRPr b="1" i="0" sz="1900" u="none" cap="none" strike="noStrike">
              <a:solidFill>
                <a:srgbClr val="1E4B2B"/>
              </a:solidFill>
              <a:latin typeface="Cambria"/>
              <a:ea typeface="Cambria"/>
              <a:cs typeface="Cambria"/>
              <a:sym typeface="Cambria"/>
            </a:endParaRPr>
          </a:p>
        </p:txBody>
      </p:sp>
      <p:sp>
        <p:nvSpPr>
          <p:cNvPr id="539" name="Google Shape;539;p60"/>
          <p:cNvSpPr txBox="1"/>
          <p:nvPr/>
        </p:nvSpPr>
        <p:spPr>
          <a:xfrm>
            <a:off x="365760" y="512064"/>
            <a:ext cx="82299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i="1" lang="en" sz="950">
                <a:solidFill>
                  <a:srgbClr val="5B6B5E"/>
                </a:solidFill>
                <a:latin typeface="Calibri"/>
                <a:ea typeface="Calibri"/>
                <a:cs typeface="Calibri"/>
                <a:sym typeface="Calibri"/>
              </a:rPr>
              <a:t>Live performance metrics</a:t>
            </a:r>
            <a:r>
              <a:rPr b="0" i="1" lang="en" sz="950" u="none" cap="none" strike="noStrike">
                <a:solidFill>
                  <a:srgbClr val="5B6B5E"/>
                </a:solidFill>
                <a:latin typeface="Calibri"/>
                <a:ea typeface="Calibri"/>
                <a:cs typeface="Calibri"/>
                <a:sym typeface="Calibri"/>
              </a:rPr>
              <a:t>, tracked with LangSmith</a:t>
            </a:r>
            <a:endParaRPr b="0" i="1" sz="950" u="none" cap="none" strike="noStrike">
              <a:solidFill>
                <a:srgbClr val="5B6B5E"/>
              </a:solidFill>
              <a:latin typeface="Calibri"/>
              <a:ea typeface="Calibri"/>
              <a:cs typeface="Calibri"/>
              <a:sym typeface="Calibri"/>
            </a:endParaRPr>
          </a:p>
        </p:txBody>
      </p:sp>
      <p:sp>
        <p:nvSpPr>
          <p:cNvPr id="540" name="Google Shape;540;p60"/>
          <p:cNvSpPr/>
          <p:nvPr/>
        </p:nvSpPr>
        <p:spPr>
          <a:xfrm>
            <a:off x="363930" y="1622800"/>
            <a:ext cx="2057400" cy="329100"/>
          </a:xfrm>
          <a:prstGeom prst="rect">
            <a:avLst/>
          </a:prstGeom>
          <a:solidFill>
            <a:srgbClr val="162B3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Metric</a:t>
            </a:r>
            <a:endParaRPr b="0" i="0" sz="1100" u="none" cap="none" strike="noStrike">
              <a:solidFill>
                <a:srgbClr val="000000"/>
              </a:solidFill>
              <a:latin typeface="Arial"/>
              <a:ea typeface="Arial"/>
              <a:cs typeface="Arial"/>
              <a:sym typeface="Arial"/>
            </a:endParaRPr>
          </a:p>
        </p:txBody>
      </p:sp>
      <p:sp>
        <p:nvSpPr>
          <p:cNvPr id="541" name="Google Shape;541;p60"/>
          <p:cNvSpPr/>
          <p:nvPr/>
        </p:nvSpPr>
        <p:spPr>
          <a:xfrm>
            <a:off x="2421385" y="1622800"/>
            <a:ext cx="1748700" cy="329100"/>
          </a:xfrm>
          <a:prstGeom prst="rect">
            <a:avLst/>
          </a:prstGeom>
          <a:solidFill>
            <a:srgbClr val="162B3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Baseline</a:t>
            </a:r>
            <a:endParaRPr b="0" i="0" sz="1100" u="none" cap="none" strike="noStrike">
              <a:solidFill>
                <a:srgbClr val="000000"/>
              </a:solidFill>
              <a:latin typeface="Arial"/>
              <a:ea typeface="Arial"/>
              <a:cs typeface="Arial"/>
              <a:sym typeface="Arial"/>
            </a:endParaRPr>
          </a:p>
        </p:txBody>
      </p:sp>
      <p:sp>
        <p:nvSpPr>
          <p:cNvPr id="542" name="Google Shape;542;p60"/>
          <p:cNvSpPr/>
          <p:nvPr/>
        </p:nvSpPr>
        <p:spPr>
          <a:xfrm>
            <a:off x="4170221" y="1622800"/>
            <a:ext cx="1748700" cy="329100"/>
          </a:xfrm>
          <a:prstGeom prst="rect">
            <a:avLst/>
          </a:prstGeom>
          <a:solidFill>
            <a:srgbClr val="162B3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Improved</a:t>
            </a:r>
            <a:endParaRPr b="0" i="0" sz="1100" u="none" cap="none" strike="noStrike">
              <a:solidFill>
                <a:srgbClr val="000000"/>
              </a:solidFill>
              <a:latin typeface="Arial"/>
              <a:ea typeface="Arial"/>
              <a:cs typeface="Arial"/>
              <a:sym typeface="Arial"/>
            </a:endParaRPr>
          </a:p>
        </p:txBody>
      </p:sp>
      <p:sp>
        <p:nvSpPr>
          <p:cNvPr id="543" name="Google Shape;543;p60"/>
          <p:cNvSpPr/>
          <p:nvPr/>
        </p:nvSpPr>
        <p:spPr>
          <a:xfrm>
            <a:off x="5919058" y="1622800"/>
            <a:ext cx="2743200" cy="329100"/>
          </a:xfrm>
          <a:prstGeom prst="rect">
            <a:avLst/>
          </a:prstGeom>
          <a:solidFill>
            <a:srgbClr val="162B3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Notes</a:t>
            </a:r>
            <a:endParaRPr b="0" i="0" sz="1100" u="none" cap="none" strike="noStrike">
              <a:solidFill>
                <a:srgbClr val="000000"/>
              </a:solidFill>
              <a:latin typeface="Arial"/>
              <a:ea typeface="Arial"/>
              <a:cs typeface="Arial"/>
              <a:sym typeface="Arial"/>
            </a:endParaRPr>
          </a:p>
        </p:txBody>
      </p:sp>
      <p:sp>
        <p:nvSpPr>
          <p:cNvPr id="544" name="Google Shape;544;p60"/>
          <p:cNvSpPr/>
          <p:nvPr/>
        </p:nvSpPr>
        <p:spPr>
          <a:xfrm>
            <a:off x="363930" y="1959508"/>
            <a:ext cx="2057400" cy="329100"/>
          </a:xfrm>
          <a:prstGeom prst="rect">
            <a:avLst/>
          </a:prstGeom>
          <a:solidFill>
            <a:srgbClr val="FFFFFF"/>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20"/>
              <a:buFont typeface="Arial"/>
              <a:buNone/>
            </a:pPr>
            <a:r>
              <a:rPr b="1" lang="en" sz="820">
                <a:solidFill>
                  <a:srgbClr val="17351F"/>
                </a:solidFill>
                <a:latin typeface="Calibri"/>
                <a:ea typeface="Calibri"/>
                <a:cs typeface="Calibri"/>
                <a:sym typeface="Calibri"/>
              </a:rPr>
              <a:t>Total</a:t>
            </a:r>
            <a:r>
              <a:rPr b="1" i="0" lang="en" sz="820" u="none" cap="none" strike="noStrike">
                <a:solidFill>
                  <a:srgbClr val="17351F"/>
                </a:solidFill>
                <a:latin typeface="Calibri"/>
                <a:ea typeface="Calibri"/>
                <a:cs typeface="Calibri"/>
                <a:sym typeface="Calibri"/>
              </a:rPr>
              <a:t> tokens</a:t>
            </a:r>
            <a:endParaRPr b="1" i="0" sz="800" u="none" cap="none" strike="noStrike">
              <a:solidFill>
                <a:srgbClr val="162B39"/>
              </a:solidFill>
              <a:latin typeface="Calibri"/>
              <a:ea typeface="Calibri"/>
              <a:cs typeface="Calibri"/>
              <a:sym typeface="Calibri"/>
            </a:endParaRPr>
          </a:p>
        </p:txBody>
      </p:sp>
      <p:sp>
        <p:nvSpPr>
          <p:cNvPr id="545" name="Google Shape;545;p60"/>
          <p:cNvSpPr/>
          <p:nvPr/>
        </p:nvSpPr>
        <p:spPr>
          <a:xfrm>
            <a:off x="2421385" y="1959508"/>
            <a:ext cx="1748700" cy="329100"/>
          </a:xfrm>
          <a:prstGeom prst="rect">
            <a:avLst/>
          </a:prstGeom>
          <a:solidFill>
            <a:srgbClr val="FFFFFF"/>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lang="en" sz="800">
                <a:solidFill>
                  <a:srgbClr val="162B39"/>
                </a:solidFill>
                <a:latin typeface="Calibri"/>
                <a:ea typeface="Calibri"/>
                <a:cs typeface="Calibri"/>
                <a:sym typeface="Calibri"/>
              </a:rPr>
              <a:t>236</a:t>
            </a:r>
            <a:r>
              <a:rPr b="1" lang="en" sz="800">
                <a:solidFill>
                  <a:srgbClr val="162B39"/>
                </a:solidFill>
                <a:latin typeface="Calibri"/>
                <a:ea typeface="Calibri"/>
                <a:cs typeface="Calibri"/>
                <a:sym typeface="Calibri"/>
              </a:rPr>
              <a:t>.</a:t>
            </a:r>
            <a:r>
              <a:rPr lang="en" sz="800">
                <a:solidFill>
                  <a:srgbClr val="162B39"/>
                </a:solidFill>
                <a:latin typeface="Calibri"/>
                <a:ea typeface="Calibri"/>
                <a:cs typeface="Calibri"/>
                <a:sym typeface="Calibri"/>
              </a:rPr>
              <a:t>7K</a:t>
            </a:r>
            <a:endParaRPr i="0" sz="800" u="none" cap="none" strike="noStrike">
              <a:solidFill>
                <a:srgbClr val="162B39"/>
              </a:solidFill>
              <a:latin typeface="Calibri"/>
              <a:ea typeface="Calibri"/>
              <a:cs typeface="Calibri"/>
              <a:sym typeface="Calibri"/>
            </a:endParaRPr>
          </a:p>
        </p:txBody>
      </p:sp>
      <p:sp>
        <p:nvSpPr>
          <p:cNvPr id="546" name="Google Shape;546;p60"/>
          <p:cNvSpPr/>
          <p:nvPr/>
        </p:nvSpPr>
        <p:spPr>
          <a:xfrm>
            <a:off x="4170221" y="1959508"/>
            <a:ext cx="1748700" cy="329100"/>
          </a:xfrm>
          <a:prstGeom prst="rect">
            <a:avLst/>
          </a:prstGeom>
          <a:solidFill>
            <a:srgbClr val="FFFFFF"/>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lang="en" sz="800">
                <a:solidFill>
                  <a:srgbClr val="162B39"/>
                </a:solidFill>
                <a:latin typeface="Calibri"/>
                <a:ea typeface="Calibri"/>
                <a:cs typeface="Calibri"/>
                <a:sym typeface="Calibri"/>
              </a:rPr>
              <a:t>382.8K</a:t>
            </a:r>
            <a:endParaRPr i="0" sz="800" u="none" cap="none" strike="noStrike">
              <a:solidFill>
                <a:srgbClr val="162B39"/>
              </a:solidFill>
              <a:latin typeface="Calibri"/>
              <a:ea typeface="Calibri"/>
              <a:cs typeface="Calibri"/>
              <a:sym typeface="Calibri"/>
            </a:endParaRPr>
          </a:p>
        </p:txBody>
      </p:sp>
      <p:sp>
        <p:nvSpPr>
          <p:cNvPr id="547" name="Google Shape;547;p60"/>
          <p:cNvSpPr/>
          <p:nvPr/>
        </p:nvSpPr>
        <p:spPr>
          <a:xfrm>
            <a:off x="5919058" y="1959508"/>
            <a:ext cx="2743200" cy="329100"/>
          </a:xfrm>
          <a:prstGeom prst="rect">
            <a:avLst/>
          </a:prstGeom>
          <a:solidFill>
            <a:srgbClr val="FFFFFF"/>
          </a:solidFill>
          <a:ln cap="flat" cmpd="sng" w="9525">
            <a:solidFill>
              <a:srgbClr val="D7DDE0"/>
            </a:solidFill>
            <a:prstDash val="solid"/>
            <a:round/>
            <a:headEnd len="sm" w="sm" type="none"/>
            <a:tailEnd len="sm" w="sm" type="none"/>
          </a:ln>
        </p:spPr>
        <p:txBody>
          <a:bodyPr anchorCtr="0" anchor="ctr" bIns="34275" lIns="68575" spcFirstLastPara="1" rIns="45700" wrap="square" tIns="34275">
            <a:noAutofit/>
          </a:bodyPr>
          <a:lstStyle/>
          <a:p>
            <a:pPr indent="0" lvl="0" marL="0" marR="0" rtl="0" algn="l">
              <a:lnSpc>
                <a:spcPct val="100000"/>
              </a:lnSpc>
              <a:spcBef>
                <a:spcPts val="0"/>
              </a:spcBef>
              <a:spcAft>
                <a:spcPts val="0"/>
              </a:spcAft>
              <a:buClr>
                <a:srgbClr val="000000"/>
              </a:buClr>
              <a:buSzPts val="820"/>
              <a:buFont typeface="Arial"/>
              <a:buNone/>
            </a:pPr>
            <a:r>
              <a:rPr lang="en" sz="800">
                <a:solidFill>
                  <a:srgbClr val="162B39"/>
                </a:solidFill>
                <a:latin typeface="Calibri"/>
                <a:ea typeface="Calibri"/>
                <a:cs typeface="Calibri"/>
                <a:sym typeface="Calibri"/>
              </a:rPr>
              <a:t>Improved settings saw an increase of 146.1K tokens (+61.7%) due to using more model context and output overall.</a:t>
            </a:r>
            <a:endParaRPr i="0" sz="800" u="none" cap="none" strike="noStrike">
              <a:solidFill>
                <a:srgbClr val="162B39"/>
              </a:solidFill>
              <a:latin typeface="Calibri"/>
              <a:ea typeface="Calibri"/>
              <a:cs typeface="Calibri"/>
              <a:sym typeface="Calibri"/>
            </a:endParaRPr>
          </a:p>
        </p:txBody>
      </p:sp>
      <p:sp>
        <p:nvSpPr>
          <p:cNvPr id="548" name="Google Shape;548;p60"/>
          <p:cNvSpPr/>
          <p:nvPr/>
        </p:nvSpPr>
        <p:spPr>
          <a:xfrm>
            <a:off x="363930" y="2288692"/>
            <a:ext cx="2057400" cy="329100"/>
          </a:xfrm>
          <a:prstGeom prst="rect">
            <a:avLst/>
          </a:prstGeom>
          <a:solidFill>
            <a:srgbClr val="F3F6F1"/>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62B39"/>
                </a:solidFill>
                <a:latin typeface="Calibri"/>
                <a:ea typeface="Calibri"/>
                <a:cs typeface="Calibri"/>
                <a:sym typeface="Calibri"/>
              </a:rPr>
              <a:t>LLM cost</a:t>
            </a:r>
            <a:endParaRPr b="1" i="0" sz="800" u="none" cap="none" strike="noStrike">
              <a:solidFill>
                <a:srgbClr val="162B39"/>
              </a:solidFill>
              <a:latin typeface="Calibri"/>
              <a:ea typeface="Calibri"/>
              <a:cs typeface="Calibri"/>
              <a:sym typeface="Calibri"/>
            </a:endParaRPr>
          </a:p>
        </p:txBody>
      </p:sp>
      <p:sp>
        <p:nvSpPr>
          <p:cNvPr id="549" name="Google Shape;549;p60"/>
          <p:cNvSpPr/>
          <p:nvPr/>
        </p:nvSpPr>
        <p:spPr>
          <a:xfrm>
            <a:off x="2421385" y="2288692"/>
            <a:ext cx="1748700" cy="329100"/>
          </a:xfrm>
          <a:prstGeom prst="rect">
            <a:avLst/>
          </a:prstGeom>
          <a:solidFill>
            <a:srgbClr val="F3F6F1"/>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162B39"/>
                </a:solidFill>
                <a:latin typeface="Calibri"/>
                <a:ea typeface="Calibri"/>
                <a:cs typeface="Calibri"/>
                <a:sym typeface="Calibri"/>
              </a:rPr>
              <a:t>$0.0426</a:t>
            </a:r>
            <a:endParaRPr b="0" i="0" sz="800" u="none" cap="none" strike="noStrike">
              <a:solidFill>
                <a:srgbClr val="162B39"/>
              </a:solidFill>
              <a:latin typeface="Calibri"/>
              <a:ea typeface="Calibri"/>
              <a:cs typeface="Calibri"/>
              <a:sym typeface="Calibri"/>
            </a:endParaRPr>
          </a:p>
        </p:txBody>
      </p:sp>
      <p:sp>
        <p:nvSpPr>
          <p:cNvPr id="550" name="Google Shape;550;p60"/>
          <p:cNvSpPr/>
          <p:nvPr/>
        </p:nvSpPr>
        <p:spPr>
          <a:xfrm>
            <a:off x="4170221" y="2288692"/>
            <a:ext cx="1748700" cy="329100"/>
          </a:xfrm>
          <a:prstGeom prst="rect">
            <a:avLst/>
          </a:prstGeom>
          <a:solidFill>
            <a:srgbClr val="F3F6F1"/>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162B39"/>
                </a:solidFill>
                <a:latin typeface="Calibri"/>
                <a:ea typeface="Calibri"/>
                <a:cs typeface="Calibri"/>
                <a:sym typeface="Calibri"/>
              </a:rPr>
              <a:t>$0.1641</a:t>
            </a:r>
            <a:endParaRPr b="0" i="0" sz="800" u="none" cap="none" strike="noStrike">
              <a:solidFill>
                <a:srgbClr val="162B39"/>
              </a:solidFill>
              <a:latin typeface="Calibri"/>
              <a:ea typeface="Calibri"/>
              <a:cs typeface="Calibri"/>
              <a:sym typeface="Calibri"/>
            </a:endParaRPr>
          </a:p>
        </p:txBody>
      </p:sp>
      <p:sp>
        <p:nvSpPr>
          <p:cNvPr id="551" name="Google Shape;551;p60"/>
          <p:cNvSpPr/>
          <p:nvPr/>
        </p:nvSpPr>
        <p:spPr>
          <a:xfrm>
            <a:off x="5919058" y="2288692"/>
            <a:ext cx="2743200" cy="329100"/>
          </a:xfrm>
          <a:prstGeom prst="rect">
            <a:avLst/>
          </a:prstGeom>
          <a:solidFill>
            <a:srgbClr val="F3F6F1"/>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lang="en" sz="800">
                <a:solidFill>
                  <a:srgbClr val="162B39"/>
                </a:solidFill>
                <a:latin typeface="Calibri"/>
                <a:ea typeface="Calibri"/>
                <a:cs typeface="Calibri"/>
                <a:sym typeface="Calibri"/>
              </a:rPr>
              <a:t>Improved settings increased costs by 285% compared with the baseline, which means they are 3.85× more expensive to use.</a:t>
            </a:r>
            <a:endParaRPr i="0" sz="800" u="none" cap="none" strike="noStrike">
              <a:solidFill>
                <a:srgbClr val="162B39"/>
              </a:solidFill>
              <a:latin typeface="Calibri"/>
              <a:ea typeface="Calibri"/>
              <a:cs typeface="Calibri"/>
              <a:sym typeface="Calibri"/>
            </a:endParaRPr>
          </a:p>
        </p:txBody>
      </p:sp>
      <p:sp>
        <p:nvSpPr>
          <p:cNvPr id="552" name="Google Shape;552;p60"/>
          <p:cNvSpPr/>
          <p:nvPr/>
        </p:nvSpPr>
        <p:spPr>
          <a:xfrm>
            <a:off x="363930" y="2618508"/>
            <a:ext cx="2057400" cy="329100"/>
          </a:xfrm>
          <a:prstGeom prst="rect">
            <a:avLst/>
          </a:prstGeom>
          <a:solidFill>
            <a:srgbClr val="FFFFFF"/>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62B39"/>
                </a:solidFill>
                <a:latin typeface="Calibri"/>
                <a:ea typeface="Calibri"/>
                <a:cs typeface="Calibri"/>
                <a:sym typeface="Calibri"/>
              </a:rPr>
              <a:t>Error rate</a:t>
            </a:r>
            <a:endParaRPr b="0" i="0" sz="1100" u="none" cap="none" strike="noStrike">
              <a:solidFill>
                <a:srgbClr val="000000"/>
              </a:solidFill>
              <a:latin typeface="Arial"/>
              <a:ea typeface="Arial"/>
              <a:cs typeface="Arial"/>
              <a:sym typeface="Arial"/>
            </a:endParaRPr>
          </a:p>
        </p:txBody>
      </p:sp>
      <p:sp>
        <p:nvSpPr>
          <p:cNvPr id="553" name="Google Shape;553;p60"/>
          <p:cNvSpPr/>
          <p:nvPr/>
        </p:nvSpPr>
        <p:spPr>
          <a:xfrm>
            <a:off x="2421385" y="2618508"/>
            <a:ext cx="1748700" cy="329100"/>
          </a:xfrm>
          <a:prstGeom prst="rect">
            <a:avLst/>
          </a:prstGeom>
          <a:solidFill>
            <a:srgbClr val="FFFFFF"/>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162B39"/>
                </a:solidFill>
                <a:latin typeface="Calibri"/>
                <a:ea typeface="Calibri"/>
                <a:cs typeface="Calibri"/>
                <a:sym typeface="Calibri"/>
              </a:rPr>
              <a:t>0%</a:t>
            </a:r>
            <a:endParaRPr b="0" i="0" sz="1100" u="none" cap="none" strike="noStrike">
              <a:solidFill>
                <a:srgbClr val="000000"/>
              </a:solidFill>
              <a:latin typeface="Arial"/>
              <a:ea typeface="Arial"/>
              <a:cs typeface="Arial"/>
              <a:sym typeface="Arial"/>
            </a:endParaRPr>
          </a:p>
        </p:txBody>
      </p:sp>
      <p:sp>
        <p:nvSpPr>
          <p:cNvPr id="554" name="Google Shape;554;p60"/>
          <p:cNvSpPr/>
          <p:nvPr/>
        </p:nvSpPr>
        <p:spPr>
          <a:xfrm>
            <a:off x="4170221" y="2618508"/>
            <a:ext cx="1748700" cy="329100"/>
          </a:xfrm>
          <a:prstGeom prst="rect">
            <a:avLst/>
          </a:prstGeom>
          <a:solidFill>
            <a:srgbClr val="FFFFFF"/>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162B39"/>
                </a:solidFill>
                <a:latin typeface="Calibri"/>
                <a:ea typeface="Calibri"/>
                <a:cs typeface="Calibri"/>
                <a:sym typeface="Calibri"/>
              </a:rPr>
              <a:t>0</a:t>
            </a:r>
            <a:r>
              <a:rPr b="0" i="0" lang="en" sz="800" u="none" cap="none" strike="noStrike">
                <a:solidFill>
                  <a:srgbClr val="162B39"/>
                </a:solidFill>
                <a:latin typeface="Calibri"/>
                <a:ea typeface="Calibri"/>
                <a:cs typeface="Calibri"/>
                <a:sym typeface="Calibri"/>
              </a:rPr>
              <a:t>%</a:t>
            </a:r>
            <a:endParaRPr b="0" i="0" sz="1100" u="none" cap="none" strike="noStrike">
              <a:solidFill>
                <a:srgbClr val="000000"/>
              </a:solidFill>
              <a:latin typeface="Arial"/>
              <a:ea typeface="Arial"/>
              <a:cs typeface="Arial"/>
              <a:sym typeface="Arial"/>
            </a:endParaRPr>
          </a:p>
        </p:txBody>
      </p:sp>
      <p:sp>
        <p:nvSpPr>
          <p:cNvPr id="555" name="Google Shape;555;p60"/>
          <p:cNvSpPr/>
          <p:nvPr/>
        </p:nvSpPr>
        <p:spPr>
          <a:xfrm>
            <a:off x="5919058" y="2618508"/>
            <a:ext cx="2743200" cy="329100"/>
          </a:xfrm>
          <a:prstGeom prst="rect">
            <a:avLst/>
          </a:prstGeom>
          <a:solidFill>
            <a:srgbClr val="FFFFFF"/>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lang="en" sz="800">
                <a:solidFill>
                  <a:srgbClr val="162B39"/>
                </a:solidFill>
                <a:latin typeface="Calibri"/>
                <a:ea typeface="Calibri"/>
                <a:cs typeface="Calibri"/>
                <a:sym typeface="Calibri"/>
              </a:rPr>
              <a:t>Both configs ran error-free.</a:t>
            </a:r>
            <a:endParaRPr i="0" sz="800" u="none" cap="none" strike="noStrike">
              <a:solidFill>
                <a:srgbClr val="162B39"/>
              </a:solidFill>
              <a:latin typeface="Calibri"/>
              <a:ea typeface="Calibri"/>
              <a:cs typeface="Calibri"/>
              <a:sym typeface="Calibri"/>
            </a:endParaRPr>
          </a:p>
        </p:txBody>
      </p:sp>
      <p:sp>
        <p:nvSpPr>
          <p:cNvPr id="556" name="Google Shape;556;p60"/>
          <p:cNvSpPr txBox="1"/>
          <p:nvPr/>
        </p:nvSpPr>
        <p:spPr>
          <a:xfrm>
            <a:off x="365750" y="722375"/>
            <a:ext cx="8332500" cy="834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FFFFFF"/>
              </a:buClr>
              <a:buSzPts val="1100"/>
              <a:buFont typeface="Arial"/>
              <a:buNone/>
            </a:pPr>
            <a:r>
              <a:rPr lang="en" sz="900">
                <a:solidFill>
                  <a:srgbClr val="17351F"/>
                </a:solidFill>
                <a:latin typeface="Calibri"/>
                <a:ea typeface="Calibri"/>
                <a:cs typeface="Calibri"/>
                <a:sym typeface="Calibri"/>
              </a:rPr>
              <a:t>The LangSmith results reveal a clear trade-off, with the improved settings maintaining the same reliability as the baseline while introducing significantly higher latency, token usage, and cost.</a:t>
            </a:r>
            <a:endParaRPr sz="900">
              <a:solidFill>
                <a:srgbClr val="17351F"/>
              </a:solidFill>
              <a:latin typeface="Calibri"/>
              <a:ea typeface="Calibri"/>
              <a:cs typeface="Calibri"/>
              <a:sym typeface="Calibri"/>
            </a:endParaRPr>
          </a:p>
          <a:p>
            <a:pPr indent="0" lvl="0" marL="0" rtl="0" algn="l">
              <a:lnSpc>
                <a:spcPct val="115000"/>
              </a:lnSpc>
              <a:spcBef>
                <a:spcPts val="0"/>
              </a:spcBef>
              <a:spcAft>
                <a:spcPts val="0"/>
              </a:spcAft>
              <a:buClr>
                <a:srgbClr val="FFFFFF"/>
              </a:buClr>
              <a:buSzPts val="1100"/>
              <a:buFont typeface="Arial"/>
              <a:buNone/>
            </a:pPr>
            <a:r>
              <a:rPr lang="en" sz="900">
                <a:solidFill>
                  <a:srgbClr val="17351F"/>
                </a:solidFill>
                <a:latin typeface="Calibri"/>
                <a:ea typeface="Calibri"/>
                <a:cs typeface="Calibri"/>
                <a:sym typeface="Calibri"/>
              </a:rPr>
              <a:t>The corrected baseline re-run changes the earlier conclusion, with both configurations now at 0% error while the improved bundle is slower and more expensive across every remaining metric, with no measurable accuracy gain.</a:t>
            </a:r>
            <a:endParaRPr sz="900">
              <a:solidFill>
                <a:srgbClr val="17351F"/>
              </a:solidFill>
              <a:latin typeface="Calibri"/>
              <a:ea typeface="Calibri"/>
              <a:cs typeface="Calibri"/>
              <a:sym typeface="Calibri"/>
            </a:endParaRPr>
          </a:p>
          <a:p>
            <a:pPr indent="0" lvl="0" marL="0" rtl="0" algn="l">
              <a:lnSpc>
                <a:spcPct val="115000"/>
              </a:lnSpc>
              <a:spcBef>
                <a:spcPts val="0"/>
              </a:spcBef>
              <a:spcAft>
                <a:spcPts val="0"/>
              </a:spcAft>
              <a:buClr>
                <a:srgbClr val="FFFFFF"/>
              </a:buClr>
              <a:buSzPts val="1100"/>
              <a:buFont typeface="Arial"/>
              <a:buNone/>
            </a:pPr>
            <a:r>
              <a:rPr lang="en" sz="900">
                <a:solidFill>
                  <a:srgbClr val="17351F"/>
                </a:solidFill>
                <a:latin typeface="Calibri"/>
                <a:ea typeface="Calibri"/>
                <a:cs typeface="Calibri"/>
                <a:sym typeface="Calibri"/>
              </a:rPr>
              <a:t>The results suggest that the next step is to test each setting in isolation to determine whether any individual improvement is worth the additional performance and cost overhead.</a:t>
            </a:r>
            <a:endParaRPr sz="900">
              <a:solidFill>
                <a:srgbClr val="17351F"/>
              </a:solidFill>
              <a:latin typeface="Calibri"/>
              <a:ea typeface="Calibri"/>
              <a:cs typeface="Calibri"/>
              <a:sym typeface="Calibri"/>
            </a:endParaRPr>
          </a:p>
          <a:p>
            <a:pPr indent="0" lvl="0" marL="0" marR="0" rtl="0" algn="l">
              <a:lnSpc>
                <a:spcPct val="114000"/>
              </a:lnSpc>
              <a:spcBef>
                <a:spcPts val="0"/>
              </a:spcBef>
              <a:spcAft>
                <a:spcPts val="0"/>
              </a:spcAft>
              <a:buClr>
                <a:schemeClr val="dk1"/>
              </a:buClr>
              <a:buSzPts val="930"/>
              <a:buFont typeface="Arial"/>
              <a:buNone/>
            </a:pPr>
            <a:r>
              <a:t/>
            </a:r>
            <a:endParaRPr sz="900">
              <a:solidFill>
                <a:srgbClr val="17351F"/>
              </a:solidFill>
              <a:latin typeface="Calibri"/>
              <a:ea typeface="Calibri"/>
              <a:cs typeface="Calibri"/>
              <a:sym typeface="Calibri"/>
            </a:endParaRPr>
          </a:p>
        </p:txBody>
      </p:sp>
      <p:sp>
        <p:nvSpPr>
          <p:cNvPr id="557" name="Google Shape;557;p60"/>
          <p:cNvSpPr/>
          <p:nvPr/>
        </p:nvSpPr>
        <p:spPr>
          <a:xfrm>
            <a:off x="362903" y="2947674"/>
            <a:ext cx="2057400" cy="329100"/>
          </a:xfrm>
          <a:prstGeom prst="rect">
            <a:avLst/>
          </a:prstGeom>
          <a:solidFill>
            <a:srgbClr val="F3F6F1"/>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62B39"/>
                </a:solidFill>
                <a:latin typeface="Calibri"/>
                <a:ea typeface="Calibri"/>
                <a:cs typeface="Calibri"/>
                <a:sym typeface="Calibri"/>
              </a:rPr>
              <a:t>P50 Latency</a:t>
            </a:r>
            <a:endParaRPr b="0" i="0" sz="1100" u="none" cap="none" strike="noStrike">
              <a:solidFill>
                <a:srgbClr val="000000"/>
              </a:solidFill>
              <a:latin typeface="Arial"/>
              <a:ea typeface="Arial"/>
              <a:cs typeface="Arial"/>
              <a:sym typeface="Arial"/>
            </a:endParaRPr>
          </a:p>
        </p:txBody>
      </p:sp>
      <p:sp>
        <p:nvSpPr>
          <p:cNvPr id="558" name="Google Shape;558;p60"/>
          <p:cNvSpPr/>
          <p:nvPr/>
        </p:nvSpPr>
        <p:spPr>
          <a:xfrm>
            <a:off x="2420358" y="2947674"/>
            <a:ext cx="1748700" cy="329100"/>
          </a:xfrm>
          <a:prstGeom prst="rect">
            <a:avLst/>
          </a:prstGeom>
          <a:solidFill>
            <a:srgbClr val="F3F6F1"/>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162B39"/>
                </a:solidFill>
                <a:latin typeface="Calibri"/>
                <a:ea typeface="Calibri"/>
                <a:cs typeface="Calibri"/>
                <a:sym typeface="Calibri"/>
              </a:rPr>
              <a:t>2.60s</a:t>
            </a:r>
            <a:endParaRPr b="0" i="0" sz="1100" u="none" cap="none" strike="noStrike">
              <a:solidFill>
                <a:srgbClr val="000000"/>
              </a:solidFill>
              <a:latin typeface="Arial"/>
              <a:ea typeface="Arial"/>
              <a:cs typeface="Arial"/>
              <a:sym typeface="Arial"/>
            </a:endParaRPr>
          </a:p>
        </p:txBody>
      </p:sp>
      <p:sp>
        <p:nvSpPr>
          <p:cNvPr id="559" name="Google Shape;559;p60"/>
          <p:cNvSpPr/>
          <p:nvPr/>
        </p:nvSpPr>
        <p:spPr>
          <a:xfrm>
            <a:off x="4169194" y="2947674"/>
            <a:ext cx="1748700" cy="329100"/>
          </a:xfrm>
          <a:prstGeom prst="rect">
            <a:avLst/>
          </a:prstGeom>
          <a:solidFill>
            <a:srgbClr val="F3F6F1"/>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162B39"/>
                </a:solidFill>
                <a:latin typeface="Calibri"/>
                <a:ea typeface="Calibri"/>
                <a:cs typeface="Calibri"/>
                <a:sym typeface="Calibri"/>
              </a:rPr>
              <a:t>7.06s</a:t>
            </a:r>
            <a:endParaRPr b="0" i="0" sz="1100" u="none" cap="none" strike="noStrike">
              <a:solidFill>
                <a:srgbClr val="000000"/>
              </a:solidFill>
              <a:latin typeface="Arial"/>
              <a:ea typeface="Arial"/>
              <a:cs typeface="Arial"/>
              <a:sym typeface="Arial"/>
            </a:endParaRPr>
          </a:p>
        </p:txBody>
      </p:sp>
      <p:sp>
        <p:nvSpPr>
          <p:cNvPr id="560" name="Google Shape;560;p60"/>
          <p:cNvSpPr/>
          <p:nvPr/>
        </p:nvSpPr>
        <p:spPr>
          <a:xfrm>
            <a:off x="5918031" y="2947674"/>
            <a:ext cx="2743200" cy="329100"/>
          </a:xfrm>
          <a:prstGeom prst="rect">
            <a:avLst/>
          </a:prstGeom>
          <a:solidFill>
            <a:srgbClr val="F3F6F1"/>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lang="en" sz="800">
                <a:solidFill>
                  <a:srgbClr val="162B39"/>
                </a:solidFill>
                <a:latin typeface="Calibri"/>
                <a:ea typeface="Calibri"/>
                <a:cs typeface="Calibri"/>
                <a:sym typeface="Calibri"/>
              </a:rPr>
              <a:t>The median latency is 2.7× slower with the improved settings than with the baseline.</a:t>
            </a:r>
            <a:endParaRPr i="0" sz="800" u="none" cap="none" strike="noStrike">
              <a:solidFill>
                <a:srgbClr val="162B39"/>
              </a:solidFill>
              <a:latin typeface="Calibri"/>
              <a:ea typeface="Calibri"/>
              <a:cs typeface="Calibri"/>
              <a:sym typeface="Calibri"/>
            </a:endParaRPr>
          </a:p>
        </p:txBody>
      </p:sp>
      <p:sp>
        <p:nvSpPr>
          <p:cNvPr id="561" name="Google Shape;561;p60"/>
          <p:cNvSpPr/>
          <p:nvPr/>
        </p:nvSpPr>
        <p:spPr>
          <a:xfrm>
            <a:off x="5918023" y="3276857"/>
            <a:ext cx="2743200" cy="329100"/>
          </a:xfrm>
          <a:prstGeom prst="rect">
            <a:avLst/>
          </a:prstGeom>
          <a:solidFill>
            <a:srgbClr val="FFFFFF"/>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800"/>
              <a:buFont typeface="Arial"/>
              <a:buNone/>
            </a:pPr>
            <a:r>
              <a:rPr lang="en" sz="800">
                <a:solidFill>
                  <a:srgbClr val="162B39"/>
                </a:solidFill>
                <a:latin typeface="Calibri"/>
                <a:ea typeface="Calibri"/>
                <a:cs typeface="Calibri"/>
                <a:sym typeface="Calibri"/>
              </a:rPr>
              <a:t>The P99 latency is 4.7× slower with the improved settings, indicating a substantial tail-latency regression.</a:t>
            </a:r>
            <a:endParaRPr i="0" sz="800" u="none" cap="none" strike="noStrike">
              <a:solidFill>
                <a:srgbClr val="162B39"/>
              </a:solidFill>
              <a:latin typeface="Calibri"/>
              <a:ea typeface="Calibri"/>
              <a:cs typeface="Calibri"/>
              <a:sym typeface="Calibri"/>
            </a:endParaRPr>
          </a:p>
        </p:txBody>
      </p:sp>
      <p:sp>
        <p:nvSpPr>
          <p:cNvPr id="562" name="Google Shape;562;p60"/>
          <p:cNvSpPr/>
          <p:nvPr/>
        </p:nvSpPr>
        <p:spPr>
          <a:xfrm>
            <a:off x="362903" y="3276858"/>
            <a:ext cx="2057400" cy="329100"/>
          </a:xfrm>
          <a:prstGeom prst="rect">
            <a:avLst/>
          </a:prstGeom>
          <a:solidFill>
            <a:srgbClr val="FFFFFF"/>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62B39"/>
                </a:solidFill>
                <a:latin typeface="Calibri"/>
                <a:ea typeface="Calibri"/>
                <a:cs typeface="Calibri"/>
                <a:sym typeface="Calibri"/>
              </a:rPr>
              <a:t>P99 Latency</a:t>
            </a:r>
            <a:endParaRPr b="1" i="0" sz="800" u="none" cap="none" strike="noStrike">
              <a:solidFill>
                <a:srgbClr val="162B39"/>
              </a:solidFill>
              <a:latin typeface="Calibri"/>
              <a:ea typeface="Calibri"/>
              <a:cs typeface="Calibri"/>
              <a:sym typeface="Calibri"/>
            </a:endParaRPr>
          </a:p>
        </p:txBody>
      </p:sp>
      <p:sp>
        <p:nvSpPr>
          <p:cNvPr id="563" name="Google Shape;563;p60"/>
          <p:cNvSpPr/>
          <p:nvPr/>
        </p:nvSpPr>
        <p:spPr>
          <a:xfrm>
            <a:off x="2420358" y="3276858"/>
            <a:ext cx="1748700" cy="329100"/>
          </a:xfrm>
          <a:prstGeom prst="rect">
            <a:avLst/>
          </a:prstGeom>
          <a:solidFill>
            <a:srgbClr val="FFFFFF"/>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162B39"/>
                </a:solidFill>
                <a:latin typeface="Calibri"/>
                <a:ea typeface="Calibri"/>
                <a:cs typeface="Calibri"/>
                <a:sym typeface="Calibri"/>
              </a:rPr>
              <a:t>13.67s</a:t>
            </a:r>
            <a:endParaRPr b="0" i="0" sz="1100" u="none" cap="none" strike="noStrike">
              <a:solidFill>
                <a:srgbClr val="000000"/>
              </a:solidFill>
              <a:latin typeface="Arial"/>
              <a:ea typeface="Arial"/>
              <a:cs typeface="Arial"/>
              <a:sym typeface="Arial"/>
            </a:endParaRPr>
          </a:p>
        </p:txBody>
      </p:sp>
      <p:sp>
        <p:nvSpPr>
          <p:cNvPr id="564" name="Google Shape;564;p60"/>
          <p:cNvSpPr/>
          <p:nvPr/>
        </p:nvSpPr>
        <p:spPr>
          <a:xfrm>
            <a:off x="4169198" y="3276852"/>
            <a:ext cx="1748700" cy="329100"/>
          </a:xfrm>
          <a:prstGeom prst="rect">
            <a:avLst/>
          </a:prstGeom>
          <a:solidFill>
            <a:srgbClr val="FFFFFF"/>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162B39"/>
                </a:solidFill>
                <a:latin typeface="Calibri"/>
                <a:ea typeface="Calibri"/>
                <a:cs typeface="Calibri"/>
                <a:sym typeface="Calibri"/>
              </a:rPr>
              <a:t>63.75s</a:t>
            </a:r>
            <a:endParaRPr b="0" i="0" sz="1100" u="none" cap="none" strike="noStrike">
              <a:solidFill>
                <a:srgbClr val="000000"/>
              </a:solidFill>
              <a:latin typeface="Arial"/>
              <a:ea typeface="Arial"/>
              <a:cs typeface="Arial"/>
              <a:sym typeface="Arial"/>
            </a:endParaRPr>
          </a:p>
        </p:txBody>
      </p:sp>
      <p:sp>
        <p:nvSpPr>
          <p:cNvPr id="565" name="Google Shape;565;p60"/>
          <p:cNvSpPr txBox="1"/>
          <p:nvPr/>
        </p:nvSpPr>
        <p:spPr>
          <a:xfrm>
            <a:off x="6309360" y="4864608"/>
            <a:ext cx="2469000" cy="219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50"/>
              <a:buFont typeface="Arial"/>
              <a:buNone/>
            </a:pPr>
            <a:r>
              <a:rPr b="0" i="0" lang="en" sz="750" u="none" cap="none" strike="noStrike">
                <a:solidFill>
                  <a:srgbClr val="5B6B5E"/>
                </a:solidFill>
                <a:latin typeface="Calibri"/>
                <a:ea typeface="Calibri"/>
                <a:cs typeface="Calibri"/>
                <a:sym typeface="Calibri"/>
              </a:rPr>
              <a:t>The UK Field Guide — AI Engineering Bootcamp</a:t>
            </a:r>
            <a:endParaRPr b="0" i="0" sz="750" u="none" cap="none" strike="noStrike">
              <a:solidFill>
                <a:srgbClr val="000000"/>
              </a:solidFill>
              <a:latin typeface="Arial"/>
              <a:ea typeface="Arial"/>
              <a:cs typeface="Arial"/>
              <a:sym typeface="Arial"/>
            </a:endParaRPr>
          </a:p>
        </p:txBody>
      </p:sp>
      <p:sp>
        <p:nvSpPr>
          <p:cNvPr id="566" name="Google Shape;566;p60"/>
          <p:cNvSpPr/>
          <p:nvPr/>
        </p:nvSpPr>
        <p:spPr>
          <a:xfrm>
            <a:off x="361029" y="3607955"/>
            <a:ext cx="2057400" cy="329100"/>
          </a:xfrm>
          <a:prstGeom prst="rect">
            <a:avLst/>
          </a:prstGeom>
          <a:solidFill>
            <a:srgbClr val="F3F6F1"/>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rgbClr val="162B39"/>
                </a:solidFill>
                <a:latin typeface="Calibri"/>
                <a:ea typeface="Calibri"/>
                <a:cs typeface="Calibri"/>
                <a:sym typeface="Calibri"/>
              </a:rPr>
              <a:t>Trace count</a:t>
            </a:r>
            <a:endParaRPr b="1" i="0" sz="800" u="none" cap="none" strike="noStrike">
              <a:solidFill>
                <a:srgbClr val="162B39"/>
              </a:solidFill>
              <a:latin typeface="Calibri"/>
              <a:ea typeface="Calibri"/>
              <a:cs typeface="Calibri"/>
              <a:sym typeface="Calibri"/>
            </a:endParaRPr>
          </a:p>
        </p:txBody>
      </p:sp>
      <p:sp>
        <p:nvSpPr>
          <p:cNvPr id="567" name="Google Shape;567;p60"/>
          <p:cNvSpPr/>
          <p:nvPr/>
        </p:nvSpPr>
        <p:spPr>
          <a:xfrm>
            <a:off x="2418484" y="3607955"/>
            <a:ext cx="1748700" cy="329100"/>
          </a:xfrm>
          <a:prstGeom prst="rect">
            <a:avLst/>
          </a:prstGeom>
          <a:solidFill>
            <a:srgbClr val="F3F6F1"/>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lang="en" sz="800">
                <a:solidFill>
                  <a:srgbClr val="162B39"/>
                </a:solidFill>
                <a:latin typeface="Calibri"/>
                <a:ea typeface="Calibri"/>
                <a:cs typeface="Calibri"/>
                <a:sym typeface="Calibri"/>
              </a:rPr>
              <a:t>119</a:t>
            </a:r>
            <a:endParaRPr b="0" i="0" sz="800" u="none" cap="none" strike="noStrike">
              <a:solidFill>
                <a:srgbClr val="162B39"/>
              </a:solidFill>
              <a:latin typeface="Calibri"/>
              <a:ea typeface="Calibri"/>
              <a:cs typeface="Calibri"/>
              <a:sym typeface="Calibri"/>
            </a:endParaRPr>
          </a:p>
        </p:txBody>
      </p:sp>
      <p:sp>
        <p:nvSpPr>
          <p:cNvPr id="568" name="Google Shape;568;p60"/>
          <p:cNvSpPr/>
          <p:nvPr/>
        </p:nvSpPr>
        <p:spPr>
          <a:xfrm>
            <a:off x="4167320" y="3607955"/>
            <a:ext cx="1748700" cy="329100"/>
          </a:xfrm>
          <a:prstGeom prst="rect">
            <a:avLst/>
          </a:prstGeom>
          <a:solidFill>
            <a:srgbClr val="F3F6F1"/>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lang="en" sz="800">
                <a:solidFill>
                  <a:srgbClr val="162B39"/>
                </a:solidFill>
                <a:latin typeface="Calibri"/>
                <a:ea typeface="Calibri"/>
                <a:cs typeface="Calibri"/>
                <a:sym typeface="Calibri"/>
              </a:rPr>
              <a:t>121</a:t>
            </a:r>
            <a:endParaRPr b="0" i="0" sz="800" u="none" cap="none" strike="noStrike">
              <a:solidFill>
                <a:srgbClr val="162B39"/>
              </a:solidFill>
              <a:latin typeface="Calibri"/>
              <a:ea typeface="Calibri"/>
              <a:cs typeface="Calibri"/>
              <a:sym typeface="Calibri"/>
            </a:endParaRPr>
          </a:p>
        </p:txBody>
      </p:sp>
      <p:sp>
        <p:nvSpPr>
          <p:cNvPr id="569" name="Google Shape;569;p60"/>
          <p:cNvSpPr/>
          <p:nvPr/>
        </p:nvSpPr>
        <p:spPr>
          <a:xfrm>
            <a:off x="5916157" y="3607955"/>
            <a:ext cx="2743200" cy="329100"/>
          </a:xfrm>
          <a:prstGeom prst="rect">
            <a:avLst/>
          </a:prstGeom>
          <a:solidFill>
            <a:srgbClr val="F3F6F1"/>
          </a:solidFill>
          <a:ln cap="flat" cmpd="sng" w="9525">
            <a:solidFill>
              <a:srgbClr val="D7DDE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lang="en" sz="800">
                <a:solidFill>
                  <a:srgbClr val="162B39"/>
                </a:solidFill>
                <a:latin typeface="Calibri"/>
                <a:ea typeface="Calibri"/>
                <a:cs typeface="Calibri"/>
                <a:sym typeface="Calibri"/>
              </a:rPr>
              <a:t>There is a difference of only 2 traces, making the comparison broadly equivalent in volume.</a:t>
            </a:r>
            <a:endParaRPr i="0" sz="800" u="none" cap="none" strike="noStrike">
              <a:solidFill>
                <a:srgbClr val="162B39"/>
              </a:solidFill>
              <a:latin typeface="Calibri"/>
              <a:ea typeface="Calibri"/>
              <a:cs typeface="Calibri"/>
              <a:sym typeface="Calibri"/>
            </a:endParaRPr>
          </a:p>
        </p:txBody>
      </p:sp>
      <p:sp>
        <p:nvSpPr>
          <p:cNvPr id="570" name="Google Shape;570;p60"/>
          <p:cNvSpPr txBox="1"/>
          <p:nvPr>
            <p:ph idx="12" type="sldNum"/>
          </p:nvPr>
        </p:nvSpPr>
        <p:spPr>
          <a:xfrm>
            <a:off x="7424928" y="4837176"/>
            <a:ext cx="16002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sz="800">
                <a:solidFill>
                  <a:srgbClr val="5B6B5E"/>
                </a:solidFill>
              </a:rPr>
              <a:t>‹#›</a:t>
            </a:fld>
            <a:endParaRPr sz="800">
              <a:solidFill>
                <a:srgbClr val="5B6B5E"/>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4" name="Shape 574"/>
        <p:cNvGrpSpPr/>
        <p:nvPr/>
      </p:nvGrpSpPr>
      <p:grpSpPr>
        <a:xfrm>
          <a:off x="0" y="0"/>
          <a:ext cx="0" cy="0"/>
          <a:chOff x="0" y="0"/>
          <a:chExt cx="0" cy="0"/>
        </a:xfrm>
      </p:grpSpPr>
      <p:sp>
        <p:nvSpPr>
          <p:cNvPr id="575" name="Google Shape;575;p61"/>
          <p:cNvSpPr txBox="1"/>
          <p:nvPr/>
        </p:nvSpPr>
        <p:spPr>
          <a:xfrm>
            <a:off x="365760" y="198493"/>
            <a:ext cx="8412600" cy="3108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00000"/>
              </a:buClr>
              <a:buSzPts val="1900"/>
              <a:buFont typeface="Arial"/>
              <a:buNone/>
            </a:pPr>
            <a:r>
              <a:rPr b="1" i="0" lang="en" sz="1900" u="none" cap="none" strike="noStrike">
                <a:solidFill>
                  <a:srgbClr val="1E4B2B"/>
                </a:solidFill>
                <a:latin typeface="Cambria"/>
                <a:ea typeface="Cambria"/>
                <a:cs typeface="Cambria"/>
                <a:sym typeface="Cambria"/>
              </a:rPr>
              <a:t>Limitations and future improvements</a:t>
            </a:r>
            <a:endParaRPr b="0" i="0" sz="1900" u="none" cap="none" strike="noStrike">
              <a:solidFill>
                <a:srgbClr val="000000"/>
              </a:solidFill>
              <a:latin typeface="Arial"/>
              <a:ea typeface="Arial"/>
              <a:cs typeface="Arial"/>
              <a:sym typeface="Arial"/>
            </a:endParaRPr>
          </a:p>
        </p:txBody>
      </p:sp>
      <p:sp>
        <p:nvSpPr>
          <p:cNvPr id="576" name="Google Shape;576;p61"/>
          <p:cNvSpPr txBox="1"/>
          <p:nvPr/>
        </p:nvSpPr>
        <p:spPr>
          <a:xfrm>
            <a:off x="365760" y="509389"/>
            <a:ext cx="8229600" cy="14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1" lang="en" sz="950" u="none" cap="none" strike="noStrike">
                <a:solidFill>
                  <a:srgbClr val="5B6B5E"/>
                </a:solidFill>
                <a:latin typeface="Calibri"/>
                <a:ea typeface="Calibri"/>
                <a:cs typeface="Calibri"/>
                <a:sym typeface="Calibri"/>
              </a:rPr>
              <a:t>Honest gaps in the current build, and where the roadmap goes next.</a:t>
            </a:r>
            <a:endParaRPr b="0" i="0" sz="950" u="none" cap="none" strike="noStrike">
              <a:solidFill>
                <a:srgbClr val="000000"/>
              </a:solidFill>
              <a:latin typeface="Arial"/>
              <a:ea typeface="Arial"/>
              <a:cs typeface="Arial"/>
              <a:sym typeface="Arial"/>
            </a:endParaRPr>
          </a:p>
        </p:txBody>
      </p:sp>
      <p:sp>
        <p:nvSpPr>
          <p:cNvPr id="577" name="Google Shape;577;p61"/>
          <p:cNvSpPr/>
          <p:nvPr/>
        </p:nvSpPr>
        <p:spPr>
          <a:xfrm>
            <a:off x="365750" y="783701"/>
            <a:ext cx="4069200" cy="3291900"/>
          </a:xfrm>
          <a:prstGeom prst="roundRect">
            <a:avLst>
              <a:gd fmla="val 1478" name="adj"/>
            </a:avLst>
          </a:prstGeom>
          <a:solidFill>
            <a:srgbClr val="FBF1E6"/>
          </a:solidFill>
          <a:ln cap="flat" cmpd="sng" w="12700">
            <a:solidFill>
              <a:srgbClr val="D9E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61"/>
          <p:cNvSpPr/>
          <p:nvPr/>
        </p:nvSpPr>
        <p:spPr>
          <a:xfrm>
            <a:off x="365760" y="783709"/>
            <a:ext cx="4069200" cy="45600"/>
          </a:xfrm>
          <a:prstGeom prst="rect">
            <a:avLst/>
          </a:prstGeom>
          <a:solidFill>
            <a:srgbClr val="B872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61"/>
          <p:cNvSpPr txBox="1"/>
          <p:nvPr/>
        </p:nvSpPr>
        <p:spPr>
          <a:xfrm>
            <a:off x="548640" y="920869"/>
            <a:ext cx="37032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1E4B2B"/>
                </a:solidFill>
                <a:latin typeface="Cambria"/>
                <a:ea typeface="Cambria"/>
                <a:cs typeface="Cambria"/>
                <a:sym typeface="Cambria"/>
              </a:rPr>
              <a:t>Limitations today</a:t>
            </a:r>
            <a:endParaRPr b="0" i="0" sz="1300" u="none" cap="none" strike="noStrike">
              <a:solidFill>
                <a:srgbClr val="000000"/>
              </a:solidFill>
              <a:latin typeface="Arial"/>
              <a:ea typeface="Arial"/>
              <a:cs typeface="Arial"/>
              <a:sym typeface="Arial"/>
            </a:endParaRPr>
          </a:p>
        </p:txBody>
      </p:sp>
      <p:sp>
        <p:nvSpPr>
          <p:cNvPr id="580" name="Google Shape;580;p61"/>
          <p:cNvSpPr txBox="1"/>
          <p:nvPr/>
        </p:nvSpPr>
        <p:spPr>
          <a:xfrm>
            <a:off x="548640" y="1186045"/>
            <a:ext cx="37032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1" lang="en" sz="800" u="none" cap="none" strike="noStrike">
                <a:solidFill>
                  <a:srgbClr val="5B6B5E"/>
                </a:solidFill>
                <a:latin typeface="Calibri"/>
                <a:ea typeface="Calibri"/>
                <a:cs typeface="Calibri"/>
                <a:sym typeface="Calibri"/>
              </a:rPr>
              <a:t>What the current build doesn't yet do well</a:t>
            </a:r>
            <a:endParaRPr b="0" i="0" sz="800" u="none" cap="none" strike="noStrike">
              <a:solidFill>
                <a:srgbClr val="000000"/>
              </a:solidFill>
              <a:latin typeface="Arial"/>
              <a:ea typeface="Arial"/>
              <a:cs typeface="Arial"/>
              <a:sym typeface="Arial"/>
            </a:endParaRPr>
          </a:p>
        </p:txBody>
      </p:sp>
      <p:sp>
        <p:nvSpPr>
          <p:cNvPr id="581" name="Google Shape;581;p61"/>
          <p:cNvSpPr/>
          <p:nvPr/>
        </p:nvSpPr>
        <p:spPr>
          <a:xfrm>
            <a:off x="548640" y="1487797"/>
            <a:ext cx="45600" cy="381000"/>
          </a:xfrm>
          <a:prstGeom prst="rect">
            <a:avLst/>
          </a:prstGeom>
          <a:solidFill>
            <a:srgbClr val="B872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61"/>
          <p:cNvSpPr txBox="1"/>
          <p:nvPr/>
        </p:nvSpPr>
        <p:spPr>
          <a:xfrm>
            <a:off x="676656" y="1442077"/>
            <a:ext cx="3566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60"/>
              <a:buFont typeface="Arial"/>
              <a:buNone/>
            </a:pPr>
            <a:r>
              <a:rPr b="1" i="0" lang="en" sz="860" u="none" cap="none" strike="noStrike">
                <a:solidFill>
                  <a:srgbClr val="17351F"/>
                </a:solidFill>
                <a:latin typeface="Calibri"/>
                <a:ea typeface="Calibri"/>
                <a:cs typeface="Calibri"/>
                <a:sym typeface="Calibri"/>
              </a:rPr>
              <a:t>Chunking is naive</a:t>
            </a:r>
            <a:endParaRPr b="0" i="0" sz="860" u="none" cap="none" strike="noStrike">
              <a:solidFill>
                <a:srgbClr val="000000"/>
              </a:solidFill>
              <a:latin typeface="Arial"/>
              <a:ea typeface="Arial"/>
              <a:cs typeface="Arial"/>
              <a:sym typeface="Arial"/>
            </a:endParaRPr>
          </a:p>
        </p:txBody>
      </p:sp>
      <p:sp>
        <p:nvSpPr>
          <p:cNvPr id="583" name="Google Shape;583;p61"/>
          <p:cNvSpPr txBox="1"/>
          <p:nvPr/>
        </p:nvSpPr>
        <p:spPr>
          <a:xfrm>
            <a:off x="676656" y="1615813"/>
            <a:ext cx="3566100" cy="3078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730"/>
              <a:buFont typeface="Arial"/>
              <a:buNone/>
            </a:pPr>
            <a:r>
              <a:rPr lang="en" sz="700">
                <a:solidFill>
                  <a:srgbClr val="17351F"/>
                </a:solidFill>
                <a:latin typeface="Calibri"/>
                <a:ea typeface="Calibri"/>
                <a:cs typeface="Calibri"/>
                <a:sym typeface="Calibri"/>
              </a:rPr>
              <a:t>Fixed-character splitting is applied across the corpus. This is a simple approach that cuts text at a set length rather than following natural breaks like sentences or paragraphs.</a:t>
            </a:r>
            <a:endParaRPr i="0" sz="700" u="none" cap="none" strike="noStrike">
              <a:solidFill>
                <a:srgbClr val="17351F"/>
              </a:solidFill>
              <a:latin typeface="Calibri"/>
              <a:ea typeface="Calibri"/>
              <a:cs typeface="Calibri"/>
              <a:sym typeface="Calibri"/>
            </a:endParaRPr>
          </a:p>
        </p:txBody>
      </p:sp>
      <p:sp>
        <p:nvSpPr>
          <p:cNvPr id="584" name="Google Shape;584;p61"/>
          <p:cNvSpPr/>
          <p:nvPr/>
        </p:nvSpPr>
        <p:spPr>
          <a:xfrm>
            <a:off x="548640" y="1998768"/>
            <a:ext cx="45600" cy="381000"/>
          </a:xfrm>
          <a:prstGeom prst="rect">
            <a:avLst/>
          </a:prstGeom>
          <a:solidFill>
            <a:srgbClr val="B872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61"/>
          <p:cNvSpPr txBox="1"/>
          <p:nvPr/>
        </p:nvSpPr>
        <p:spPr>
          <a:xfrm>
            <a:off x="676656" y="1953048"/>
            <a:ext cx="3566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60"/>
              <a:buFont typeface="Arial"/>
              <a:buNone/>
            </a:pPr>
            <a:r>
              <a:rPr b="1" i="0" lang="en" sz="860" u="none" cap="none" strike="noStrike">
                <a:solidFill>
                  <a:srgbClr val="17351F"/>
                </a:solidFill>
                <a:latin typeface="Calibri"/>
                <a:ea typeface="Calibri"/>
                <a:cs typeface="Calibri"/>
                <a:sym typeface="Calibri"/>
              </a:rPr>
              <a:t>UK Government source gaps</a:t>
            </a:r>
            <a:endParaRPr b="0" i="0" sz="860" u="none" cap="none" strike="noStrike">
              <a:solidFill>
                <a:srgbClr val="000000"/>
              </a:solidFill>
              <a:latin typeface="Arial"/>
              <a:ea typeface="Arial"/>
              <a:cs typeface="Arial"/>
              <a:sym typeface="Arial"/>
            </a:endParaRPr>
          </a:p>
        </p:txBody>
      </p:sp>
      <p:sp>
        <p:nvSpPr>
          <p:cNvPr id="586" name="Google Shape;586;p61"/>
          <p:cNvSpPr txBox="1"/>
          <p:nvPr/>
        </p:nvSpPr>
        <p:spPr>
          <a:xfrm>
            <a:off x="676656" y="2126784"/>
            <a:ext cx="3566100" cy="3078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730"/>
              <a:buFont typeface="Arial"/>
              <a:buNone/>
            </a:pPr>
            <a:r>
              <a:rPr b="0" i="0" lang="en" sz="730" u="none" cap="none" strike="noStrike">
                <a:solidFill>
                  <a:srgbClr val="17351F"/>
                </a:solidFill>
                <a:latin typeface="Calibri"/>
                <a:ea typeface="Calibri"/>
                <a:cs typeface="Calibri"/>
                <a:sym typeface="Calibri"/>
              </a:rPr>
              <a:t>Gov.uk invasive and conservation</a:t>
            </a:r>
            <a:r>
              <a:rPr lang="en" sz="730">
                <a:solidFill>
                  <a:srgbClr val="17351F"/>
                </a:solidFill>
                <a:latin typeface="Calibri"/>
                <a:ea typeface="Calibri"/>
                <a:cs typeface="Calibri"/>
                <a:sym typeface="Calibri"/>
              </a:rPr>
              <a:t> </a:t>
            </a:r>
            <a:r>
              <a:rPr b="0" i="0" lang="en" sz="730" u="none" cap="none" strike="noStrike">
                <a:solidFill>
                  <a:srgbClr val="17351F"/>
                </a:solidFill>
                <a:latin typeface="Calibri"/>
                <a:ea typeface="Calibri"/>
                <a:cs typeface="Calibri"/>
                <a:sym typeface="Calibri"/>
              </a:rPr>
              <a:t>status documents</a:t>
            </a:r>
            <a:r>
              <a:rPr lang="en" sz="730">
                <a:solidFill>
                  <a:srgbClr val="17351F"/>
                </a:solidFill>
                <a:latin typeface="Calibri"/>
                <a:ea typeface="Calibri"/>
                <a:cs typeface="Calibri"/>
                <a:sym typeface="Calibri"/>
              </a:rPr>
              <a:t> that serve as source are very limited</a:t>
            </a:r>
            <a:r>
              <a:rPr b="0" i="0" lang="en" sz="730" u="none" cap="none" strike="noStrike">
                <a:solidFill>
                  <a:srgbClr val="17351F"/>
                </a:solidFill>
                <a:latin typeface="Calibri"/>
                <a:ea typeface="Calibri"/>
                <a:cs typeface="Calibri"/>
                <a:sym typeface="Calibri"/>
              </a:rPr>
              <a:t>.</a:t>
            </a:r>
            <a:endParaRPr b="0" i="0" sz="730" u="none" cap="none" strike="noStrike">
              <a:solidFill>
                <a:srgbClr val="17351F"/>
              </a:solidFill>
              <a:latin typeface="Arial"/>
              <a:ea typeface="Arial"/>
              <a:cs typeface="Arial"/>
              <a:sym typeface="Arial"/>
            </a:endParaRPr>
          </a:p>
        </p:txBody>
      </p:sp>
      <p:sp>
        <p:nvSpPr>
          <p:cNvPr id="587" name="Google Shape;587;p61"/>
          <p:cNvSpPr/>
          <p:nvPr/>
        </p:nvSpPr>
        <p:spPr>
          <a:xfrm>
            <a:off x="548640" y="2507784"/>
            <a:ext cx="45600" cy="381000"/>
          </a:xfrm>
          <a:prstGeom prst="rect">
            <a:avLst/>
          </a:prstGeom>
          <a:solidFill>
            <a:srgbClr val="B872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1"/>
          <p:cNvSpPr txBox="1"/>
          <p:nvPr/>
        </p:nvSpPr>
        <p:spPr>
          <a:xfrm>
            <a:off x="676656" y="2462064"/>
            <a:ext cx="3566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60"/>
              <a:buFont typeface="Arial"/>
              <a:buNone/>
            </a:pPr>
            <a:r>
              <a:rPr b="1" i="0" lang="en" sz="860" u="none" cap="none" strike="noStrike">
                <a:solidFill>
                  <a:srgbClr val="17351F"/>
                </a:solidFill>
                <a:latin typeface="Calibri"/>
                <a:ea typeface="Calibri"/>
                <a:cs typeface="Calibri"/>
                <a:sym typeface="Calibri"/>
              </a:rPr>
              <a:t>Retrieval quality unverified</a:t>
            </a:r>
            <a:endParaRPr b="0" i="0" sz="860" u="none" cap="none" strike="noStrike">
              <a:solidFill>
                <a:srgbClr val="000000"/>
              </a:solidFill>
              <a:latin typeface="Arial"/>
              <a:ea typeface="Arial"/>
              <a:cs typeface="Arial"/>
              <a:sym typeface="Arial"/>
            </a:endParaRPr>
          </a:p>
        </p:txBody>
      </p:sp>
      <p:sp>
        <p:nvSpPr>
          <p:cNvPr id="589" name="Google Shape;589;p61"/>
          <p:cNvSpPr txBox="1"/>
          <p:nvPr/>
        </p:nvSpPr>
        <p:spPr>
          <a:xfrm>
            <a:off x="676650" y="2635789"/>
            <a:ext cx="3703200" cy="3078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730"/>
              <a:buFont typeface="Arial"/>
              <a:buNone/>
            </a:pPr>
            <a:r>
              <a:rPr b="0" i="0" lang="en" sz="730" u="none" cap="none" strike="noStrike">
                <a:solidFill>
                  <a:srgbClr val="17351F"/>
                </a:solidFill>
                <a:latin typeface="Calibri"/>
                <a:ea typeface="Calibri"/>
                <a:cs typeface="Calibri"/>
                <a:sym typeface="Calibri"/>
              </a:rPr>
              <a:t>Semantic ranking of retrieved chunks and the FlashRank reranker's real precision on this corpus haven't been</a:t>
            </a:r>
            <a:r>
              <a:rPr lang="en" sz="730">
                <a:solidFill>
                  <a:srgbClr val="17351F"/>
                </a:solidFill>
                <a:latin typeface="Calibri"/>
                <a:ea typeface="Calibri"/>
                <a:cs typeface="Calibri"/>
                <a:sym typeface="Calibri"/>
              </a:rPr>
              <a:t> verified by a specialist</a:t>
            </a:r>
            <a:r>
              <a:rPr b="0" i="0" lang="en" sz="730" u="none" cap="none" strike="noStrike">
                <a:solidFill>
                  <a:srgbClr val="17351F"/>
                </a:solidFill>
                <a:latin typeface="Calibri"/>
                <a:ea typeface="Calibri"/>
                <a:cs typeface="Calibri"/>
                <a:sym typeface="Calibri"/>
              </a:rPr>
              <a:t>.</a:t>
            </a:r>
            <a:endParaRPr b="0" i="0" sz="730" u="none" cap="none" strike="noStrike">
              <a:solidFill>
                <a:srgbClr val="17351F"/>
              </a:solidFill>
              <a:latin typeface="Arial"/>
              <a:ea typeface="Arial"/>
              <a:cs typeface="Arial"/>
              <a:sym typeface="Arial"/>
            </a:endParaRPr>
          </a:p>
        </p:txBody>
      </p:sp>
      <p:sp>
        <p:nvSpPr>
          <p:cNvPr id="590" name="Google Shape;590;p61"/>
          <p:cNvSpPr/>
          <p:nvPr/>
        </p:nvSpPr>
        <p:spPr>
          <a:xfrm>
            <a:off x="548640" y="3016800"/>
            <a:ext cx="45600" cy="381000"/>
          </a:xfrm>
          <a:prstGeom prst="rect">
            <a:avLst/>
          </a:prstGeom>
          <a:solidFill>
            <a:srgbClr val="B872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61"/>
          <p:cNvSpPr txBox="1"/>
          <p:nvPr/>
        </p:nvSpPr>
        <p:spPr>
          <a:xfrm>
            <a:off x="676656" y="2971080"/>
            <a:ext cx="3566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60"/>
              <a:buFont typeface="Arial"/>
              <a:buNone/>
            </a:pPr>
            <a:r>
              <a:rPr b="1" lang="en" sz="860">
                <a:solidFill>
                  <a:srgbClr val="17351F"/>
                </a:solidFill>
                <a:latin typeface="Calibri"/>
                <a:ea typeface="Calibri"/>
                <a:cs typeface="Calibri"/>
                <a:sym typeface="Calibri"/>
              </a:rPr>
              <a:t>System settings tested simultaneous</a:t>
            </a:r>
            <a:endParaRPr b="0" i="0" sz="860" u="none" cap="none" strike="noStrike">
              <a:solidFill>
                <a:srgbClr val="000000"/>
              </a:solidFill>
              <a:latin typeface="Arial"/>
              <a:ea typeface="Arial"/>
              <a:cs typeface="Arial"/>
              <a:sym typeface="Arial"/>
            </a:endParaRPr>
          </a:p>
        </p:txBody>
      </p:sp>
      <p:sp>
        <p:nvSpPr>
          <p:cNvPr id="592" name="Google Shape;592;p61"/>
          <p:cNvSpPr txBox="1"/>
          <p:nvPr/>
        </p:nvSpPr>
        <p:spPr>
          <a:xfrm>
            <a:off x="676656" y="3144816"/>
            <a:ext cx="3566100" cy="307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 sz="700">
                <a:solidFill>
                  <a:srgbClr val="17351F"/>
                </a:solidFill>
                <a:latin typeface="Calibri"/>
                <a:ea typeface="Calibri"/>
                <a:cs typeface="Calibri"/>
                <a:sym typeface="Calibri"/>
              </a:rPr>
              <a:t>System settings were compared only once, and all changes were applied at the same time.</a:t>
            </a:r>
            <a:endParaRPr sz="700">
              <a:solidFill>
                <a:srgbClr val="17351F"/>
              </a:solidFill>
              <a:latin typeface="Calibri"/>
              <a:ea typeface="Calibri"/>
              <a:cs typeface="Calibri"/>
              <a:sym typeface="Calibri"/>
            </a:endParaRPr>
          </a:p>
          <a:p>
            <a:pPr indent="0" lvl="0" marL="0" marR="0" rtl="0" algn="l">
              <a:lnSpc>
                <a:spcPct val="106000"/>
              </a:lnSpc>
              <a:spcBef>
                <a:spcPts val="1200"/>
              </a:spcBef>
              <a:spcAft>
                <a:spcPts val="0"/>
              </a:spcAft>
              <a:buClr>
                <a:srgbClr val="000000"/>
              </a:buClr>
              <a:buSzPts val="730"/>
              <a:buFont typeface="Arial"/>
              <a:buNone/>
            </a:pPr>
            <a:r>
              <a:t/>
            </a:r>
            <a:endParaRPr sz="700">
              <a:solidFill>
                <a:srgbClr val="17351F"/>
              </a:solidFill>
              <a:latin typeface="Calibri"/>
              <a:ea typeface="Calibri"/>
              <a:cs typeface="Calibri"/>
              <a:sym typeface="Calibri"/>
            </a:endParaRPr>
          </a:p>
        </p:txBody>
      </p:sp>
      <p:sp>
        <p:nvSpPr>
          <p:cNvPr id="593" name="Google Shape;593;p61"/>
          <p:cNvSpPr/>
          <p:nvPr/>
        </p:nvSpPr>
        <p:spPr>
          <a:xfrm>
            <a:off x="548640" y="3525816"/>
            <a:ext cx="45600" cy="381000"/>
          </a:xfrm>
          <a:prstGeom prst="rect">
            <a:avLst/>
          </a:prstGeom>
          <a:solidFill>
            <a:srgbClr val="B872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61"/>
          <p:cNvSpPr txBox="1"/>
          <p:nvPr/>
        </p:nvSpPr>
        <p:spPr>
          <a:xfrm>
            <a:off x="676656" y="3480096"/>
            <a:ext cx="3566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60"/>
              <a:buFont typeface="Arial"/>
              <a:buNone/>
            </a:pPr>
            <a:r>
              <a:rPr b="1" i="0" lang="en" sz="860" u="none" cap="none" strike="noStrike">
                <a:solidFill>
                  <a:srgbClr val="17351F"/>
                </a:solidFill>
                <a:latin typeface="Calibri"/>
                <a:ea typeface="Calibri"/>
                <a:cs typeface="Calibri"/>
                <a:sym typeface="Calibri"/>
              </a:rPr>
              <a:t>Single region</a:t>
            </a:r>
            <a:endParaRPr b="0" i="0" sz="860" u="none" cap="none" strike="noStrike">
              <a:solidFill>
                <a:srgbClr val="000000"/>
              </a:solidFill>
              <a:latin typeface="Arial"/>
              <a:ea typeface="Arial"/>
              <a:cs typeface="Arial"/>
              <a:sym typeface="Arial"/>
            </a:endParaRPr>
          </a:p>
        </p:txBody>
      </p:sp>
      <p:sp>
        <p:nvSpPr>
          <p:cNvPr id="595" name="Google Shape;595;p61"/>
          <p:cNvSpPr txBox="1"/>
          <p:nvPr/>
        </p:nvSpPr>
        <p:spPr>
          <a:xfrm>
            <a:off x="676656" y="3653832"/>
            <a:ext cx="3566100" cy="3078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730"/>
              <a:buFont typeface="Arial"/>
              <a:buNone/>
            </a:pPr>
            <a:r>
              <a:rPr b="0" i="0" lang="en" sz="730" u="none" cap="none" strike="noStrike">
                <a:solidFill>
                  <a:srgbClr val="17351F"/>
                </a:solidFill>
                <a:latin typeface="Calibri"/>
                <a:ea typeface="Calibri"/>
                <a:cs typeface="Calibri"/>
                <a:sym typeface="Calibri"/>
              </a:rPr>
              <a:t>Scoped to the UK only</a:t>
            </a:r>
            <a:r>
              <a:rPr lang="en" sz="730">
                <a:solidFill>
                  <a:srgbClr val="17351F"/>
                </a:solidFill>
                <a:latin typeface="Calibri"/>
                <a:ea typeface="Calibri"/>
                <a:cs typeface="Calibri"/>
                <a:sym typeface="Calibri"/>
              </a:rPr>
              <a:t>, and </a:t>
            </a:r>
            <a:r>
              <a:rPr b="0" i="0" lang="en" sz="730" u="none" cap="none" strike="noStrike">
                <a:solidFill>
                  <a:srgbClr val="17351F"/>
                </a:solidFill>
                <a:latin typeface="Calibri"/>
                <a:ea typeface="Calibri"/>
                <a:cs typeface="Calibri"/>
                <a:sym typeface="Calibri"/>
              </a:rPr>
              <a:t> identification returns species suggestions with no seasonal or lookalike-species warning (e.g. “often confused with X”).</a:t>
            </a:r>
            <a:endParaRPr b="0" i="0" sz="730" u="none" cap="none" strike="noStrike">
              <a:solidFill>
                <a:srgbClr val="17351F"/>
              </a:solidFill>
              <a:latin typeface="Arial"/>
              <a:ea typeface="Arial"/>
              <a:cs typeface="Arial"/>
              <a:sym typeface="Arial"/>
            </a:endParaRPr>
          </a:p>
        </p:txBody>
      </p:sp>
      <p:sp>
        <p:nvSpPr>
          <p:cNvPr id="596" name="Google Shape;596;p61"/>
          <p:cNvSpPr/>
          <p:nvPr/>
        </p:nvSpPr>
        <p:spPr>
          <a:xfrm>
            <a:off x="4709150" y="783701"/>
            <a:ext cx="4069200" cy="3291900"/>
          </a:xfrm>
          <a:prstGeom prst="roundRect">
            <a:avLst>
              <a:gd fmla="val 1478" name="adj"/>
            </a:avLst>
          </a:prstGeom>
          <a:solidFill>
            <a:srgbClr val="F3F6F1"/>
          </a:solidFill>
          <a:ln cap="flat" cmpd="sng" w="12700">
            <a:solidFill>
              <a:srgbClr val="D9E3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61"/>
          <p:cNvSpPr/>
          <p:nvPr/>
        </p:nvSpPr>
        <p:spPr>
          <a:xfrm>
            <a:off x="4709160" y="783709"/>
            <a:ext cx="4069200" cy="45600"/>
          </a:xfrm>
          <a:prstGeom prst="rect">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61"/>
          <p:cNvSpPr txBox="1"/>
          <p:nvPr/>
        </p:nvSpPr>
        <p:spPr>
          <a:xfrm>
            <a:off x="4892040" y="920869"/>
            <a:ext cx="37032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1E4B2B"/>
                </a:solidFill>
                <a:latin typeface="Cambria"/>
                <a:ea typeface="Cambria"/>
                <a:cs typeface="Cambria"/>
                <a:sym typeface="Cambria"/>
              </a:rPr>
              <a:t>Future improvements</a:t>
            </a:r>
            <a:endParaRPr b="0" i="0" sz="1300" u="none" cap="none" strike="noStrike">
              <a:solidFill>
                <a:srgbClr val="000000"/>
              </a:solidFill>
              <a:latin typeface="Arial"/>
              <a:ea typeface="Arial"/>
              <a:cs typeface="Arial"/>
              <a:sym typeface="Arial"/>
            </a:endParaRPr>
          </a:p>
        </p:txBody>
      </p:sp>
      <p:sp>
        <p:nvSpPr>
          <p:cNvPr id="599" name="Google Shape;599;p61"/>
          <p:cNvSpPr txBox="1"/>
          <p:nvPr/>
        </p:nvSpPr>
        <p:spPr>
          <a:xfrm>
            <a:off x="4892040" y="1186045"/>
            <a:ext cx="37032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i="1" lang="en" sz="800">
                <a:solidFill>
                  <a:srgbClr val="5B6B5E"/>
                </a:solidFill>
                <a:latin typeface="Calibri"/>
                <a:ea typeface="Calibri"/>
                <a:cs typeface="Calibri"/>
                <a:sym typeface="Calibri"/>
              </a:rPr>
              <a:t>Possible future</a:t>
            </a:r>
            <a:r>
              <a:rPr b="0" i="1" lang="en" sz="800" u="none" cap="none" strike="noStrike">
                <a:solidFill>
                  <a:srgbClr val="5B6B5E"/>
                </a:solidFill>
                <a:latin typeface="Calibri"/>
                <a:ea typeface="Calibri"/>
                <a:cs typeface="Calibri"/>
                <a:sym typeface="Calibri"/>
              </a:rPr>
              <a:t> fixes and the stretch goals from the project brief</a:t>
            </a:r>
            <a:endParaRPr b="0" i="0" sz="800" u="none" cap="none" strike="noStrike">
              <a:solidFill>
                <a:srgbClr val="000000"/>
              </a:solidFill>
              <a:latin typeface="Arial"/>
              <a:ea typeface="Arial"/>
              <a:cs typeface="Arial"/>
              <a:sym typeface="Arial"/>
            </a:endParaRPr>
          </a:p>
        </p:txBody>
      </p:sp>
      <p:sp>
        <p:nvSpPr>
          <p:cNvPr id="600" name="Google Shape;600;p61"/>
          <p:cNvSpPr/>
          <p:nvPr/>
        </p:nvSpPr>
        <p:spPr>
          <a:xfrm>
            <a:off x="4892040" y="1487797"/>
            <a:ext cx="45600" cy="381000"/>
          </a:xfrm>
          <a:prstGeom prst="rect">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61"/>
          <p:cNvSpPr txBox="1"/>
          <p:nvPr/>
        </p:nvSpPr>
        <p:spPr>
          <a:xfrm>
            <a:off x="5020056" y="1442077"/>
            <a:ext cx="3566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60"/>
              <a:buFont typeface="Arial"/>
              <a:buNone/>
            </a:pPr>
            <a:r>
              <a:rPr b="1" i="0" lang="en" sz="860" u="none" cap="none" strike="noStrike">
                <a:solidFill>
                  <a:srgbClr val="17351F"/>
                </a:solidFill>
                <a:latin typeface="Calibri"/>
                <a:ea typeface="Calibri"/>
                <a:cs typeface="Calibri"/>
                <a:sym typeface="Calibri"/>
              </a:rPr>
              <a:t>Smarter chunking</a:t>
            </a:r>
            <a:endParaRPr b="0" i="0" sz="860" u="none" cap="none" strike="noStrike">
              <a:solidFill>
                <a:srgbClr val="000000"/>
              </a:solidFill>
              <a:latin typeface="Arial"/>
              <a:ea typeface="Arial"/>
              <a:cs typeface="Arial"/>
              <a:sym typeface="Arial"/>
            </a:endParaRPr>
          </a:p>
        </p:txBody>
      </p:sp>
      <p:sp>
        <p:nvSpPr>
          <p:cNvPr id="602" name="Google Shape;602;p61"/>
          <p:cNvSpPr txBox="1"/>
          <p:nvPr/>
        </p:nvSpPr>
        <p:spPr>
          <a:xfrm>
            <a:off x="5020056" y="1615813"/>
            <a:ext cx="3566100" cy="3078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730"/>
              <a:buFont typeface="Arial"/>
              <a:buNone/>
            </a:pPr>
            <a:r>
              <a:rPr b="0" i="0" lang="en" sz="730" u="none" cap="none" strike="noStrike">
                <a:solidFill>
                  <a:srgbClr val="17351F"/>
                </a:solidFill>
                <a:latin typeface="Calibri"/>
                <a:ea typeface="Calibri"/>
                <a:cs typeface="Calibri"/>
                <a:sym typeface="Calibri"/>
              </a:rPr>
              <a:t>Move from fixed-character splitting to a semantic or structure-aware splitter to keep species facts from being cut mid-sentence.</a:t>
            </a:r>
            <a:endParaRPr b="0" i="0" sz="730" u="none" cap="none" strike="noStrike">
              <a:solidFill>
                <a:srgbClr val="17351F"/>
              </a:solidFill>
              <a:latin typeface="Arial"/>
              <a:ea typeface="Arial"/>
              <a:cs typeface="Arial"/>
              <a:sym typeface="Arial"/>
            </a:endParaRPr>
          </a:p>
        </p:txBody>
      </p:sp>
      <p:sp>
        <p:nvSpPr>
          <p:cNvPr id="603" name="Google Shape;603;p61"/>
          <p:cNvSpPr/>
          <p:nvPr/>
        </p:nvSpPr>
        <p:spPr>
          <a:xfrm>
            <a:off x="4892040" y="1996813"/>
            <a:ext cx="45600" cy="381000"/>
          </a:xfrm>
          <a:prstGeom prst="rect">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61"/>
          <p:cNvSpPr txBox="1"/>
          <p:nvPr/>
        </p:nvSpPr>
        <p:spPr>
          <a:xfrm>
            <a:off x="5020056" y="1951093"/>
            <a:ext cx="3566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60"/>
              <a:buFont typeface="Arial"/>
              <a:buNone/>
            </a:pPr>
            <a:r>
              <a:rPr b="1" i="0" lang="en" sz="860" u="none" cap="none" strike="noStrike">
                <a:solidFill>
                  <a:srgbClr val="17351F"/>
                </a:solidFill>
                <a:latin typeface="Calibri"/>
                <a:ea typeface="Calibri"/>
                <a:cs typeface="Calibri"/>
                <a:sym typeface="Calibri"/>
              </a:rPr>
              <a:t>Complete the regional-status corpus</a:t>
            </a:r>
            <a:endParaRPr b="0" i="0" sz="860" u="none" cap="none" strike="noStrike">
              <a:solidFill>
                <a:srgbClr val="000000"/>
              </a:solidFill>
              <a:latin typeface="Arial"/>
              <a:ea typeface="Arial"/>
              <a:cs typeface="Arial"/>
              <a:sym typeface="Arial"/>
            </a:endParaRPr>
          </a:p>
        </p:txBody>
      </p:sp>
      <p:sp>
        <p:nvSpPr>
          <p:cNvPr id="605" name="Google Shape;605;p61"/>
          <p:cNvSpPr txBox="1"/>
          <p:nvPr/>
        </p:nvSpPr>
        <p:spPr>
          <a:xfrm>
            <a:off x="5020056" y="2124829"/>
            <a:ext cx="3566100" cy="3078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730"/>
              <a:buFont typeface="Arial"/>
              <a:buNone/>
            </a:pPr>
            <a:r>
              <a:rPr b="0" i="0" lang="en" sz="730" u="none" cap="none" strike="noStrike">
                <a:solidFill>
                  <a:srgbClr val="17351F"/>
                </a:solidFill>
                <a:latin typeface="Calibri"/>
                <a:ea typeface="Calibri"/>
                <a:cs typeface="Calibri"/>
                <a:sym typeface="Calibri"/>
              </a:rPr>
              <a:t>Finish ingesting the missing Gov.uk invasive and conservation-status documents, and grow the number o</a:t>
            </a:r>
            <a:r>
              <a:rPr lang="en" sz="730">
                <a:solidFill>
                  <a:srgbClr val="17351F"/>
                </a:solidFill>
                <a:latin typeface="Calibri"/>
                <a:ea typeface="Calibri"/>
                <a:cs typeface="Calibri"/>
                <a:sym typeface="Calibri"/>
              </a:rPr>
              <a:t>f documents.</a:t>
            </a:r>
            <a:endParaRPr b="1" i="0" sz="730" u="none" cap="none" strike="noStrike">
              <a:solidFill>
                <a:srgbClr val="FF0000"/>
              </a:solidFill>
            </a:endParaRPr>
          </a:p>
        </p:txBody>
      </p:sp>
      <p:sp>
        <p:nvSpPr>
          <p:cNvPr id="606" name="Google Shape;606;p61"/>
          <p:cNvSpPr/>
          <p:nvPr/>
        </p:nvSpPr>
        <p:spPr>
          <a:xfrm>
            <a:off x="4892040" y="2505829"/>
            <a:ext cx="45600" cy="381000"/>
          </a:xfrm>
          <a:prstGeom prst="rect">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61"/>
          <p:cNvSpPr txBox="1"/>
          <p:nvPr/>
        </p:nvSpPr>
        <p:spPr>
          <a:xfrm>
            <a:off x="5020056" y="2460109"/>
            <a:ext cx="3566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60"/>
              <a:buFont typeface="Arial"/>
              <a:buNone/>
            </a:pPr>
            <a:r>
              <a:rPr b="1" lang="en" sz="860">
                <a:solidFill>
                  <a:srgbClr val="17351F"/>
                </a:solidFill>
                <a:latin typeface="Calibri"/>
                <a:ea typeface="Calibri"/>
                <a:cs typeface="Calibri"/>
                <a:sym typeface="Calibri"/>
              </a:rPr>
              <a:t>Re-r</a:t>
            </a:r>
            <a:r>
              <a:rPr b="1" i="0" lang="en" sz="860" u="none" cap="none" strike="noStrike">
                <a:solidFill>
                  <a:srgbClr val="17351F"/>
                </a:solidFill>
                <a:latin typeface="Calibri"/>
                <a:ea typeface="Calibri"/>
                <a:cs typeface="Calibri"/>
                <a:sym typeface="Calibri"/>
              </a:rPr>
              <a:t>un and report the evaluation set</a:t>
            </a:r>
            <a:endParaRPr b="0" i="0" sz="860" u="none" cap="none" strike="noStrike">
              <a:solidFill>
                <a:srgbClr val="000000"/>
              </a:solidFill>
              <a:latin typeface="Arial"/>
              <a:ea typeface="Arial"/>
              <a:cs typeface="Arial"/>
              <a:sym typeface="Arial"/>
            </a:endParaRPr>
          </a:p>
        </p:txBody>
      </p:sp>
      <p:sp>
        <p:nvSpPr>
          <p:cNvPr id="608" name="Google Shape;608;p61"/>
          <p:cNvSpPr txBox="1"/>
          <p:nvPr/>
        </p:nvSpPr>
        <p:spPr>
          <a:xfrm>
            <a:off x="5020056" y="2633845"/>
            <a:ext cx="3566100" cy="3078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730"/>
              <a:buFont typeface="Arial"/>
              <a:buNone/>
            </a:pPr>
            <a:r>
              <a:rPr lang="en" sz="700">
                <a:solidFill>
                  <a:srgbClr val="17351F"/>
                </a:solidFill>
                <a:latin typeface="Calibri"/>
                <a:ea typeface="Calibri"/>
                <a:cs typeface="Calibri"/>
                <a:sym typeface="Calibri"/>
              </a:rPr>
              <a:t>Recommend re-running the evaluation with varied settings to validate consistency across multiple comparison passes.</a:t>
            </a:r>
            <a:endParaRPr i="0" sz="700" u="none" cap="none" strike="noStrike">
              <a:solidFill>
                <a:srgbClr val="17351F"/>
              </a:solidFill>
              <a:latin typeface="Calibri"/>
              <a:ea typeface="Calibri"/>
              <a:cs typeface="Calibri"/>
              <a:sym typeface="Calibri"/>
            </a:endParaRPr>
          </a:p>
        </p:txBody>
      </p:sp>
      <p:sp>
        <p:nvSpPr>
          <p:cNvPr id="609" name="Google Shape;609;p61"/>
          <p:cNvSpPr/>
          <p:nvPr/>
        </p:nvSpPr>
        <p:spPr>
          <a:xfrm>
            <a:off x="4892040" y="3007594"/>
            <a:ext cx="45600" cy="381000"/>
          </a:xfrm>
          <a:prstGeom prst="rect">
            <a:avLst/>
          </a:prstGeom>
          <a:solidFill>
            <a:srgbClr val="5C8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61"/>
          <p:cNvSpPr txBox="1"/>
          <p:nvPr/>
        </p:nvSpPr>
        <p:spPr>
          <a:xfrm>
            <a:off x="5020056" y="2961874"/>
            <a:ext cx="3566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60"/>
              <a:buFont typeface="Arial"/>
              <a:buNone/>
            </a:pPr>
            <a:r>
              <a:rPr b="1" i="0" lang="en" sz="860" u="none" cap="none" strike="noStrike">
                <a:solidFill>
                  <a:srgbClr val="17351F"/>
                </a:solidFill>
                <a:latin typeface="Calibri"/>
                <a:ea typeface="Calibri"/>
                <a:cs typeface="Calibri"/>
                <a:sym typeface="Calibri"/>
              </a:rPr>
              <a:t>Offline-friendly mode</a:t>
            </a:r>
            <a:endParaRPr b="0" i="0" sz="860" u="none" cap="none" strike="noStrike">
              <a:solidFill>
                <a:srgbClr val="000000"/>
              </a:solidFill>
              <a:latin typeface="Arial"/>
              <a:ea typeface="Arial"/>
              <a:cs typeface="Arial"/>
              <a:sym typeface="Arial"/>
            </a:endParaRPr>
          </a:p>
        </p:txBody>
      </p:sp>
      <p:sp>
        <p:nvSpPr>
          <p:cNvPr id="611" name="Google Shape;611;p61"/>
          <p:cNvSpPr txBox="1"/>
          <p:nvPr/>
        </p:nvSpPr>
        <p:spPr>
          <a:xfrm>
            <a:off x="5020056" y="3135610"/>
            <a:ext cx="3566100" cy="3078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730"/>
              <a:buFont typeface="Arial"/>
              <a:buNone/>
            </a:pPr>
            <a:r>
              <a:rPr b="0" i="0" lang="en" sz="730" u="none" cap="none" strike="noStrike">
                <a:solidFill>
                  <a:srgbClr val="17351F"/>
                </a:solidFill>
                <a:latin typeface="Calibri"/>
                <a:ea typeface="Calibri"/>
                <a:cs typeface="Calibri"/>
                <a:sym typeface="Calibri"/>
              </a:rPr>
              <a:t>Explore a locally run vision model for identification, reducing dependence on the iNaturalist API.</a:t>
            </a:r>
            <a:endParaRPr b="0" i="0" sz="730" u="none" cap="none" strike="noStrike">
              <a:solidFill>
                <a:srgbClr val="17351F"/>
              </a:solidFill>
              <a:latin typeface="Arial"/>
              <a:ea typeface="Arial"/>
              <a:cs typeface="Arial"/>
              <a:sym typeface="Arial"/>
            </a:endParaRPr>
          </a:p>
        </p:txBody>
      </p:sp>
      <p:sp>
        <p:nvSpPr>
          <p:cNvPr id="612" name="Google Shape;612;p61"/>
          <p:cNvSpPr txBox="1"/>
          <p:nvPr/>
        </p:nvSpPr>
        <p:spPr>
          <a:xfrm>
            <a:off x="6309360" y="4864608"/>
            <a:ext cx="2469000" cy="219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50"/>
              <a:buFont typeface="Arial"/>
              <a:buNone/>
            </a:pPr>
            <a:r>
              <a:rPr b="0" i="0" lang="en" sz="750" u="none" cap="none" strike="noStrike">
                <a:solidFill>
                  <a:srgbClr val="5B6B5E"/>
                </a:solidFill>
                <a:latin typeface="Calibri"/>
                <a:ea typeface="Calibri"/>
                <a:cs typeface="Calibri"/>
                <a:sym typeface="Calibri"/>
              </a:rPr>
              <a:t>The UK Field Guide — AI Engineering Bootcamp</a:t>
            </a:r>
            <a:endParaRPr b="0" i="0" sz="750" u="none" cap="none" strike="noStrike">
              <a:solidFill>
                <a:srgbClr val="000000"/>
              </a:solidFill>
              <a:latin typeface="Arial"/>
              <a:ea typeface="Arial"/>
              <a:cs typeface="Arial"/>
              <a:sym typeface="Arial"/>
            </a:endParaRPr>
          </a:p>
        </p:txBody>
      </p:sp>
      <p:sp>
        <p:nvSpPr>
          <p:cNvPr id="613" name="Google Shape;613;p61"/>
          <p:cNvSpPr txBox="1"/>
          <p:nvPr>
            <p:ph idx="12" type="sldNum"/>
          </p:nvPr>
        </p:nvSpPr>
        <p:spPr>
          <a:xfrm>
            <a:off x="7424928" y="4837176"/>
            <a:ext cx="16002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sz="800">
                <a:solidFill>
                  <a:srgbClr val="5B6B5E"/>
                </a:solidFill>
              </a:rPr>
              <a:t>‹#›</a:t>
            </a:fld>
            <a:endParaRPr sz="800">
              <a:solidFill>
                <a:srgbClr val="5B6B5E"/>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2"/>
          <p:cNvSpPr txBox="1"/>
          <p:nvPr/>
        </p:nvSpPr>
        <p:spPr>
          <a:xfrm>
            <a:off x="365760" y="201168"/>
            <a:ext cx="8412600" cy="310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900">
                <a:solidFill>
                  <a:srgbClr val="1E4B2B"/>
                </a:solidFill>
                <a:latin typeface="Cambria"/>
                <a:ea typeface="Cambria"/>
                <a:cs typeface="Cambria"/>
                <a:sym typeface="Cambria"/>
              </a:rPr>
              <a:t>Appendix - 30 question-answer set (1/4)</a:t>
            </a:r>
            <a:endParaRPr b="1" sz="1900">
              <a:solidFill>
                <a:srgbClr val="1E4B2B"/>
              </a:solidFill>
              <a:latin typeface="Cambria"/>
              <a:ea typeface="Cambria"/>
              <a:cs typeface="Cambria"/>
              <a:sym typeface="Cambria"/>
            </a:endParaRPr>
          </a:p>
        </p:txBody>
      </p:sp>
      <p:sp>
        <p:nvSpPr>
          <p:cNvPr id="619" name="Google Shape;619;p62"/>
          <p:cNvSpPr txBox="1"/>
          <p:nvPr/>
        </p:nvSpPr>
        <p:spPr>
          <a:xfrm>
            <a:off x="365760" y="512064"/>
            <a:ext cx="8229900" cy="146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i="1" lang="en" sz="950">
                <a:solidFill>
                  <a:srgbClr val="5B6B5E"/>
                </a:solidFill>
                <a:latin typeface="Calibri"/>
                <a:ea typeface="Calibri"/>
                <a:cs typeface="Calibri"/>
                <a:sym typeface="Calibri"/>
              </a:rPr>
              <a:t>Four real conversations, used to benchmark answer </a:t>
            </a:r>
            <a:r>
              <a:rPr i="1" lang="en" sz="950">
                <a:solidFill>
                  <a:srgbClr val="5B6B5E"/>
                </a:solidFill>
                <a:latin typeface="Calibri"/>
                <a:ea typeface="Calibri"/>
                <a:cs typeface="Calibri"/>
                <a:sym typeface="Calibri"/>
              </a:rPr>
              <a:t>quality</a:t>
            </a:r>
            <a:endParaRPr i="1" sz="950">
              <a:solidFill>
                <a:srgbClr val="5B6B5E"/>
              </a:solidFill>
              <a:latin typeface="Calibri"/>
              <a:ea typeface="Calibri"/>
              <a:cs typeface="Calibri"/>
              <a:sym typeface="Calibri"/>
            </a:endParaRPr>
          </a:p>
        </p:txBody>
      </p:sp>
      <p:sp>
        <p:nvSpPr>
          <p:cNvPr id="620" name="Google Shape;620;p62"/>
          <p:cNvSpPr txBox="1"/>
          <p:nvPr/>
        </p:nvSpPr>
        <p:spPr>
          <a:xfrm>
            <a:off x="365750" y="722376"/>
            <a:ext cx="8598300" cy="2132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Calibri"/>
                <a:ea typeface="Calibri"/>
                <a:cs typeface="Calibri"/>
                <a:sym typeface="Calibri"/>
              </a:rPr>
              <a:t>Conversation 1: American Bullfrog (Lithobates catesbeianus) — Questions 1–8</a:t>
            </a:r>
            <a:endParaRPr b="1"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1:</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is the scientific name of the American bullfrog and where is it native to?</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Lithobates catesbeianus (sometimes Rana catesbeiana). It is native to eastern North America.</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2:</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Why is it called a "bullfrog"?</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The male's call during breeding season sounds like a bull bellowing.</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3:</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types of habitats does the American bullfrog typically inhabit?</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Large permanent water bodies like swamps, ponds, and lakes, as well as manmade habitats like pools, canals, ditches, and culverts.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4:</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Is the American bullfrog considered an invasive species? If so, where?</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Yes. It has been introduced into the Western US, South America, Western Europe, China, Japan, and Southeast Asia.</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5:</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Why are bullfrogs considered invasive and harmful to local ecosystems?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Due to their voracious appetite and high egg production, they negatively affect native amphibians, insects, and other fauna.</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6:</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does the American bullfrog look like in terms of coloration?</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The dorsal surface is olive‑green (plain or mottled with grayish‑brown), and the ventral surface is off‑white blotched with yellow.</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7:</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For what purposes are bullfrogs used by humans?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They are eaten (especially in the southern US), used for dissection, kept as pets (albino variants), and their tadpoles are sold for ponds.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8:</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Who is the species named after?</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English naturalist Mark Catesby (catesbeianus / catesbeiana).</a:t>
            </a:r>
            <a:endParaRPr sz="900">
              <a:solidFill>
                <a:schemeClr val="dk1"/>
              </a:solidFill>
              <a:latin typeface="Calibri"/>
              <a:ea typeface="Calibri"/>
              <a:cs typeface="Calibri"/>
              <a:sym typeface="Calibri"/>
            </a:endParaRPr>
          </a:p>
        </p:txBody>
      </p:sp>
      <p:sp>
        <p:nvSpPr>
          <p:cNvPr id="621" name="Google Shape;621;p62"/>
          <p:cNvSpPr txBox="1"/>
          <p:nvPr/>
        </p:nvSpPr>
        <p:spPr>
          <a:xfrm>
            <a:off x="6309360" y="4864608"/>
            <a:ext cx="2469000" cy="219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50"/>
              <a:buFont typeface="Arial"/>
              <a:buNone/>
            </a:pPr>
            <a:r>
              <a:rPr b="0" i="0" lang="en" sz="750" u="none" cap="none" strike="noStrike">
                <a:solidFill>
                  <a:srgbClr val="5B6B5E"/>
                </a:solidFill>
                <a:latin typeface="Calibri"/>
                <a:ea typeface="Calibri"/>
                <a:cs typeface="Calibri"/>
                <a:sym typeface="Calibri"/>
              </a:rPr>
              <a:t>The UK Field Guide — AI Engineering Bootcamp</a:t>
            </a:r>
            <a:endParaRPr b="0" i="0" sz="750" u="none" cap="none" strike="noStrike">
              <a:solidFill>
                <a:srgbClr val="000000"/>
              </a:solidFill>
              <a:latin typeface="Arial"/>
              <a:ea typeface="Arial"/>
              <a:cs typeface="Arial"/>
              <a:sym typeface="Arial"/>
            </a:endParaRPr>
          </a:p>
        </p:txBody>
      </p:sp>
      <p:sp>
        <p:nvSpPr>
          <p:cNvPr id="622" name="Google Shape;622;p62"/>
          <p:cNvSpPr txBox="1"/>
          <p:nvPr>
            <p:ph idx="12" type="sldNum"/>
          </p:nvPr>
        </p:nvSpPr>
        <p:spPr>
          <a:xfrm>
            <a:off x="7424928" y="4837176"/>
            <a:ext cx="16002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sz="800">
                <a:solidFill>
                  <a:srgbClr val="5B6B5E"/>
                </a:solidFill>
              </a:rPr>
              <a:t>‹#›</a:t>
            </a:fld>
            <a:endParaRPr sz="800">
              <a:solidFill>
                <a:srgbClr val="5B6B5E"/>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3"/>
          <p:cNvSpPr txBox="1"/>
          <p:nvPr/>
        </p:nvSpPr>
        <p:spPr>
          <a:xfrm>
            <a:off x="365760" y="722376"/>
            <a:ext cx="8229900" cy="2132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Calibri"/>
                <a:ea typeface="Calibri"/>
                <a:cs typeface="Calibri"/>
                <a:sym typeface="Calibri"/>
              </a:rPr>
              <a:t>Conversation 2: Small Emperor Moth (Saturnia pavonia) — Questions 9–15</a:t>
            </a:r>
            <a:endParaRPr b="1"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9:</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is the scientific name of the small emperor moth and who first described it?</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Saturnia pavonia, first described by Carl Linnaeus in 1758.</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10:</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family does it belong to and where can it be found?</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Family Saturniidae. It occurs throughout the Palearctic region and is the only member of its family found in the British Isles.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11:</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are the main differences in appearance between males and females?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Males are smaller (~60 mm wingspan) with brown/white forewings and bold eyespots. Females are larger (~80 mm), less brightly coloured (grey/white), but have similar eyespots.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12:</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When do males fly and what do they look for?</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Males fly rapidly during the day from mid‑April to late June, looking for sluggish females that usually fly only at night.</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13:</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habitats does this moth prefer?</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Heathland and moorland.</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14:</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does the caterpillar look like and what does it eat?</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Initially black and orange, later green with black rings and yellow/red spots. Its commonest food plant is heather (Calluna), but it feeds on many other plants.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15:</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is a common incorrect genus name sometimes used for this species?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Pavonia.</a:t>
            </a:r>
            <a:endParaRPr sz="900">
              <a:solidFill>
                <a:schemeClr val="dk1"/>
              </a:solidFill>
              <a:latin typeface="Calibri"/>
              <a:ea typeface="Calibri"/>
              <a:cs typeface="Calibri"/>
              <a:sym typeface="Calibri"/>
            </a:endParaRPr>
          </a:p>
        </p:txBody>
      </p:sp>
      <p:sp>
        <p:nvSpPr>
          <p:cNvPr id="628" name="Google Shape;628;p63"/>
          <p:cNvSpPr txBox="1"/>
          <p:nvPr/>
        </p:nvSpPr>
        <p:spPr>
          <a:xfrm>
            <a:off x="365760" y="201168"/>
            <a:ext cx="8412600" cy="310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900">
                <a:solidFill>
                  <a:srgbClr val="1E4B2B"/>
                </a:solidFill>
                <a:latin typeface="Cambria"/>
                <a:ea typeface="Cambria"/>
                <a:cs typeface="Cambria"/>
                <a:sym typeface="Cambria"/>
              </a:rPr>
              <a:t>Appendix - 30 question-answer set</a:t>
            </a:r>
            <a:r>
              <a:rPr b="1" lang="en" sz="1900">
                <a:solidFill>
                  <a:srgbClr val="1E4B2B"/>
                </a:solidFill>
                <a:latin typeface="Cambria"/>
                <a:ea typeface="Cambria"/>
                <a:cs typeface="Cambria"/>
                <a:sym typeface="Cambria"/>
              </a:rPr>
              <a:t> (2/4)</a:t>
            </a:r>
            <a:endParaRPr b="1" sz="1900">
              <a:solidFill>
                <a:srgbClr val="1E4B2B"/>
              </a:solidFill>
              <a:latin typeface="Cambria"/>
              <a:ea typeface="Cambria"/>
              <a:cs typeface="Cambria"/>
              <a:sym typeface="Cambria"/>
            </a:endParaRPr>
          </a:p>
        </p:txBody>
      </p:sp>
      <p:sp>
        <p:nvSpPr>
          <p:cNvPr id="629" name="Google Shape;629;p63"/>
          <p:cNvSpPr txBox="1"/>
          <p:nvPr/>
        </p:nvSpPr>
        <p:spPr>
          <a:xfrm>
            <a:off x="365760" y="512064"/>
            <a:ext cx="8229900" cy="146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SzPts val="950"/>
              <a:buNone/>
            </a:pPr>
            <a:r>
              <a:rPr i="1" lang="en" sz="950">
                <a:solidFill>
                  <a:srgbClr val="5B6B5E"/>
                </a:solidFill>
                <a:latin typeface="Calibri"/>
                <a:ea typeface="Calibri"/>
                <a:cs typeface="Calibri"/>
                <a:sym typeface="Calibri"/>
              </a:rPr>
              <a:t>Four real conversations, used to benchmark answer quality</a:t>
            </a:r>
            <a:endParaRPr i="1" sz="950">
              <a:solidFill>
                <a:srgbClr val="5B6B5E"/>
              </a:solidFill>
              <a:latin typeface="Calibri"/>
              <a:ea typeface="Calibri"/>
              <a:cs typeface="Calibri"/>
              <a:sym typeface="Calibri"/>
            </a:endParaRPr>
          </a:p>
        </p:txBody>
      </p:sp>
      <p:sp>
        <p:nvSpPr>
          <p:cNvPr id="630" name="Google Shape;630;p63"/>
          <p:cNvSpPr txBox="1"/>
          <p:nvPr/>
        </p:nvSpPr>
        <p:spPr>
          <a:xfrm>
            <a:off x="6309360" y="4864608"/>
            <a:ext cx="2469000" cy="219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50"/>
              <a:buFont typeface="Arial"/>
              <a:buNone/>
            </a:pPr>
            <a:r>
              <a:rPr b="0" i="0" lang="en" sz="750" u="none" cap="none" strike="noStrike">
                <a:solidFill>
                  <a:srgbClr val="5B6B5E"/>
                </a:solidFill>
                <a:latin typeface="Calibri"/>
                <a:ea typeface="Calibri"/>
                <a:cs typeface="Calibri"/>
                <a:sym typeface="Calibri"/>
              </a:rPr>
              <a:t>The UK Field Guide — AI Engineering Bootcamp</a:t>
            </a:r>
            <a:endParaRPr b="0" i="0" sz="750" u="none" cap="none" strike="noStrike">
              <a:solidFill>
                <a:srgbClr val="000000"/>
              </a:solidFill>
              <a:latin typeface="Arial"/>
              <a:ea typeface="Arial"/>
              <a:cs typeface="Arial"/>
              <a:sym typeface="Arial"/>
            </a:endParaRPr>
          </a:p>
        </p:txBody>
      </p:sp>
      <p:sp>
        <p:nvSpPr>
          <p:cNvPr id="631" name="Google Shape;631;p63"/>
          <p:cNvSpPr txBox="1"/>
          <p:nvPr>
            <p:ph idx="12" type="sldNum"/>
          </p:nvPr>
        </p:nvSpPr>
        <p:spPr>
          <a:xfrm>
            <a:off x="7424928" y="4837176"/>
            <a:ext cx="16002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sz="800">
                <a:solidFill>
                  <a:srgbClr val="5B6B5E"/>
                </a:solidFill>
              </a:rPr>
              <a:t>‹#›</a:t>
            </a:fld>
            <a:endParaRPr sz="800">
              <a:solidFill>
                <a:srgbClr val="5B6B5E"/>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64"/>
          <p:cNvSpPr txBox="1"/>
          <p:nvPr/>
        </p:nvSpPr>
        <p:spPr>
          <a:xfrm>
            <a:off x="365760" y="722376"/>
            <a:ext cx="8229900" cy="2132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Calibri"/>
                <a:ea typeface="Calibri"/>
                <a:cs typeface="Calibri"/>
                <a:sym typeface="Calibri"/>
              </a:rPr>
              <a:t>Conversation 3: Swedish Whitebeam (Scandosorbus intermedia) — Questions 16–22</a:t>
            </a:r>
            <a:endParaRPr b="1"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16:</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is the scientific name of the Swedish whitebeam and where is it found?</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Scandosorbus intermedia (formerly Sorbus intermedia). Found in southern Sweden, with scattered occurrences in Estonia, Latvia, Bornholm, SW Finland, and northern Poland.</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17:</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family does it belong to?</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Family Rosaceae.</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18:</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How tall does it grow and what does its trunk look like?</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10–20 m tall, with a stout trunk up to 60 cm in diameter (sometimes 2–3 m) and grey bark.</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19:</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shape is the crown?</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Dome‑shaped, with stout horizontal branches.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20:</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do the leaves look like?</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Green above, densely hairy with pale grey‑white hairs beneath, 7–12 cm long, with 4–7 oval lobes per side, rounded at the apex, and finely serrated margins.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300">
                <a:solidFill>
                  <a:schemeClr val="dk1"/>
                </a:solidFill>
                <a:latin typeface="Calibri"/>
                <a:ea typeface="Calibri"/>
                <a:cs typeface="Calibri"/>
                <a:sym typeface="Calibri"/>
              </a:rPr>
              <a:t>\</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21:</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color do the leaves turn in autumn?</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Dull yellowish to grey‑brown.</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22:</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do the flowers look like?</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15–20 mm in diameter, with five white petals and 20 yellowish‑white stamens, produced in corymbs 8–12 cm across.</a:t>
            </a:r>
            <a:endParaRPr sz="900">
              <a:solidFill>
                <a:schemeClr val="dk1"/>
              </a:solidFill>
              <a:latin typeface="Calibri"/>
              <a:ea typeface="Calibri"/>
              <a:cs typeface="Calibri"/>
              <a:sym typeface="Calibri"/>
            </a:endParaRPr>
          </a:p>
        </p:txBody>
      </p:sp>
      <p:sp>
        <p:nvSpPr>
          <p:cNvPr id="637" name="Google Shape;637;p64"/>
          <p:cNvSpPr txBox="1"/>
          <p:nvPr/>
        </p:nvSpPr>
        <p:spPr>
          <a:xfrm>
            <a:off x="365760" y="201168"/>
            <a:ext cx="8412600" cy="310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900">
                <a:solidFill>
                  <a:srgbClr val="1E4B2B"/>
                </a:solidFill>
                <a:latin typeface="Cambria"/>
                <a:ea typeface="Cambria"/>
                <a:cs typeface="Cambria"/>
                <a:sym typeface="Cambria"/>
              </a:rPr>
              <a:t>Appendix - 30 question-answer set</a:t>
            </a:r>
            <a:r>
              <a:rPr b="1" lang="en" sz="1900">
                <a:solidFill>
                  <a:srgbClr val="1E4B2B"/>
                </a:solidFill>
                <a:latin typeface="Cambria"/>
                <a:ea typeface="Cambria"/>
                <a:cs typeface="Cambria"/>
                <a:sym typeface="Cambria"/>
              </a:rPr>
              <a:t> (3/4)</a:t>
            </a:r>
            <a:endParaRPr b="1" sz="1900">
              <a:solidFill>
                <a:srgbClr val="1E4B2B"/>
              </a:solidFill>
              <a:latin typeface="Cambria"/>
              <a:ea typeface="Cambria"/>
              <a:cs typeface="Cambria"/>
              <a:sym typeface="Cambria"/>
            </a:endParaRPr>
          </a:p>
        </p:txBody>
      </p:sp>
      <p:sp>
        <p:nvSpPr>
          <p:cNvPr id="638" name="Google Shape;638;p64"/>
          <p:cNvSpPr txBox="1"/>
          <p:nvPr/>
        </p:nvSpPr>
        <p:spPr>
          <a:xfrm>
            <a:off x="365760" y="512064"/>
            <a:ext cx="8229900" cy="146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SzPts val="950"/>
              <a:buNone/>
            </a:pPr>
            <a:r>
              <a:rPr i="1" lang="en" sz="950">
                <a:solidFill>
                  <a:srgbClr val="5B6B5E"/>
                </a:solidFill>
                <a:latin typeface="Calibri"/>
                <a:ea typeface="Calibri"/>
                <a:cs typeface="Calibri"/>
                <a:sym typeface="Calibri"/>
              </a:rPr>
              <a:t>Four real conversations, used to benchmark answer quality</a:t>
            </a:r>
            <a:endParaRPr i="1" sz="950">
              <a:solidFill>
                <a:srgbClr val="5B6B5E"/>
              </a:solidFill>
              <a:latin typeface="Calibri"/>
              <a:ea typeface="Calibri"/>
              <a:cs typeface="Calibri"/>
              <a:sym typeface="Calibri"/>
            </a:endParaRPr>
          </a:p>
        </p:txBody>
      </p:sp>
      <p:sp>
        <p:nvSpPr>
          <p:cNvPr id="639" name="Google Shape;639;p64"/>
          <p:cNvSpPr txBox="1"/>
          <p:nvPr/>
        </p:nvSpPr>
        <p:spPr>
          <a:xfrm>
            <a:off x="6309360" y="4864608"/>
            <a:ext cx="2469000" cy="219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50"/>
              <a:buFont typeface="Arial"/>
              <a:buNone/>
            </a:pPr>
            <a:r>
              <a:rPr b="0" i="0" lang="en" sz="750" u="none" cap="none" strike="noStrike">
                <a:solidFill>
                  <a:srgbClr val="5B6B5E"/>
                </a:solidFill>
                <a:latin typeface="Calibri"/>
                <a:ea typeface="Calibri"/>
                <a:cs typeface="Calibri"/>
                <a:sym typeface="Calibri"/>
              </a:rPr>
              <a:t>The UK Field Guide — AI Engineering Bootcamp</a:t>
            </a:r>
            <a:endParaRPr b="0" i="0" sz="750" u="none" cap="none" strike="noStrike">
              <a:solidFill>
                <a:srgbClr val="000000"/>
              </a:solidFill>
              <a:latin typeface="Arial"/>
              <a:ea typeface="Arial"/>
              <a:cs typeface="Arial"/>
              <a:sym typeface="Arial"/>
            </a:endParaRPr>
          </a:p>
        </p:txBody>
      </p:sp>
      <p:sp>
        <p:nvSpPr>
          <p:cNvPr id="640" name="Google Shape;640;p64"/>
          <p:cNvSpPr txBox="1"/>
          <p:nvPr>
            <p:ph idx="12" type="sldNum"/>
          </p:nvPr>
        </p:nvSpPr>
        <p:spPr>
          <a:xfrm>
            <a:off x="7424928" y="4837176"/>
            <a:ext cx="16002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sz="800">
                <a:solidFill>
                  <a:srgbClr val="5B6B5E"/>
                </a:solidFill>
              </a:rPr>
              <a:t>‹#›</a:t>
            </a:fld>
            <a:endParaRPr sz="800">
              <a:solidFill>
                <a:srgbClr val="5B6B5E"/>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65"/>
          <p:cNvSpPr txBox="1"/>
          <p:nvPr/>
        </p:nvSpPr>
        <p:spPr>
          <a:xfrm>
            <a:off x="365760" y="725369"/>
            <a:ext cx="8229900" cy="2132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Calibri"/>
                <a:ea typeface="Calibri"/>
                <a:cs typeface="Calibri"/>
                <a:sym typeface="Calibri"/>
              </a:rPr>
              <a:t>Conversation 4: Dogs vs Cats (general comparison) — Questions 23–30</a:t>
            </a:r>
            <a:endParaRPr b="1"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23:</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are the wild relatives of dogs and cats?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Dogs' relatives include wolves, coyotes, and jackals; cats' relatives include lions, tigers, and leopards.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24:</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How do dogs and cats differ in social structure and relationship with humans?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Dogs are obedient followers adapted to pack structures where humans can be pack leaders. For cats, humans must adopt a more modest position.</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25:</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are the main categories of comparison typically covered in books about cats vs. dogs?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Senses, diet, communication, and behaviour.</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26:</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is the evolutionary and behavioural approach to keeping them together?</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Some books examine biological and behavioural differences to devise strategies enabling both species to live in harmony in the same household.</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27:</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is a well‑known children's book that contrasts their behaviours?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Cats Do, Dogs Don't.</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28:</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How do they differ in sensory abilities?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Dogs have a far superior sense of smell, while cats have better night vision and hearing.</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29:</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How do they differ in communication styles?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Dogs are more overt and expressive (barking, tail wagging, body postures); cats use more subtle signals (purring, tail positioning, ear movements).</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30:</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Question: What is the key behavioural difference in training?</a:t>
            </a:r>
            <a:endParaRPr sz="9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Answer: Dogs are generally more trainable and cats are more independent and less responsive to traditional training.</a:t>
            </a:r>
            <a:endParaRPr sz="900">
              <a:solidFill>
                <a:schemeClr val="dk1"/>
              </a:solidFill>
              <a:latin typeface="Calibri"/>
              <a:ea typeface="Calibri"/>
              <a:cs typeface="Calibri"/>
              <a:sym typeface="Calibri"/>
            </a:endParaRPr>
          </a:p>
        </p:txBody>
      </p:sp>
      <p:sp>
        <p:nvSpPr>
          <p:cNvPr id="646" name="Google Shape;646;p65"/>
          <p:cNvSpPr txBox="1"/>
          <p:nvPr/>
        </p:nvSpPr>
        <p:spPr>
          <a:xfrm>
            <a:off x="365760" y="201168"/>
            <a:ext cx="8412600" cy="310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900">
                <a:solidFill>
                  <a:srgbClr val="1E4B2B"/>
                </a:solidFill>
                <a:latin typeface="Cambria"/>
                <a:ea typeface="Cambria"/>
                <a:cs typeface="Cambria"/>
                <a:sym typeface="Cambria"/>
              </a:rPr>
              <a:t>Appendix - 30 question-answer set (4/4)</a:t>
            </a:r>
            <a:endParaRPr b="1" sz="1900">
              <a:solidFill>
                <a:srgbClr val="1E4B2B"/>
              </a:solidFill>
              <a:latin typeface="Cambria"/>
              <a:ea typeface="Cambria"/>
              <a:cs typeface="Cambria"/>
              <a:sym typeface="Cambria"/>
            </a:endParaRPr>
          </a:p>
        </p:txBody>
      </p:sp>
      <p:sp>
        <p:nvSpPr>
          <p:cNvPr id="647" name="Google Shape;647;p65"/>
          <p:cNvSpPr txBox="1"/>
          <p:nvPr/>
        </p:nvSpPr>
        <p:spPr>
          <a:xfrm>
            <a:off x="365760" y="512064"/>
            <a:ext cx="8229900" cy="146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SzPts val="950"/>
              <a:buNone/>
            </a:pPr>
            <a:r>
              <a:rPr i="1" lang="en" sz="950">
                <a:solidFill>
                  <a:srgbClr val="5B6B5E"/>
                </a:solidFill>
                <a:latin typeface="Calibri"/>
                <a:ea typeface="Calibri"/>
                <a:cs typeface="Calibri"/>
                <a:sym typeface="Calibri"/>
              </a:rPr>
              <a:t>Four real conversations, used to benchmark answer quality</a:t>
            </a:r>
            <a:endParaRPr i="1" sz="950">
              <a:solidFill>
                <a:srgbClr val="5B6B5E"/>
              </a:solidFill>
              <a:latin typeface="Calibri"/>
              <a:ea typeface="Calibri"/>
              <a:cs typeface="Calibri"/>
              <a:sym typeface="Calibri"/>
            </a:endParaRPr>
          </a:p>
        </p:txBody>
      </p:sp>
      <p:sp>
        <p:nvSpPr>
          <p:cNvPr id="648" name="Google Shape;648;p65"/>
          <p:cNvSpPr txBox="1"/>
          <p:nvPr/>
        </p:nvSpPr>
        <p:spPr>
          <a:xfrm>
            <a:off x="6309360" y="4864608"/>
            <a:ext cx="2469000" cy="219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50"/>
              <a:buFont typeface="Arial"/>
              <a:buNone/>
            </a:pPr>
            <a:r>
              <a:rPr b="0" i="0" lang="en" sz="750" u="none" cap="none" strike="noStrike">
                <a:solidFill>
                  <a:srgbClr val="5B6B5E"/>
                </a:solidFill>
                <a:latin typeface="Calibri"/>
                <a:ea typeface="Calibri"/>
                <a:cs typeface="Calibri"/>
                <a:sym typeface="Calibri"/>
              </a:rPr>
              <a:t>The UK Field Guide — AI Engineering Bootcamp</a:t>
            </a:r>
            <a:endParaRPr b="0" i="0" sz="750" u="none" cap="none" strike="noStrike">
              <a:solidFill>
                <a:srgbClr val="000000"/>
              </a:solidFill>
              <a:latin typeface="Arial"/>
              <a:ea typeface="Arial"/>
              <a:cs typeface="Arial"/>
              <a:sym typeface="Arial"/>
            </a:endParaRPr>
          </a:p>
        </p:txBody>
      </p:sp>
      <p:sp>
        <p:nvSpPr>
          <p:cNvPr id="649" name="Google Shape;649;p65"/>
          <p:cNvSpPr txBox="1"/>
          <p:nvPr>
            <p:ph idx="12" type="sldNum"/>
          </p:nvPr>
        </p:nvSpPr>
        <p:spPr>
          <a:xfrm>
            <a:off x="7422031" y="4837438"/>
            <a:ext cx="16002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sz="800">
                <a:solidFill>
                  <a:srgbClr val="5B6B5E"/>
                </a:solidFill>
              </a:rPr>
              <a:t>‹#›</a:t>
            </a:fld>
            <a:endParaRPr sz="800">
              <a:solidFill>
                <a:srgbClr val="5B6B5E"/>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